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74320" y="1097280"/>
            <a:ext cx="7772400" cy="47548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1371600" cy="1371600"/>
          </a:xfrm>
          <a:prstGeom prst="rect">
            <a:avLst/>
          </a:prstGeom>
          <a:noFill/>
        </p:spPr>
        <p:txBody>
          <a:bodyPr wrap="square">
            <a:spAutoFit/>
          </a:bodyPr>
          <a:lstStyle/>
          <a:p>
            <a:pPr algn="l"/>
            <a:r>
              <a:rPr sz="6400" b="0" i="0">
                <a:solidFill>
                  <a:srgbClr val="F0F4F8"/>
                </a:solidFill>
                <a:latin typeface="Calibri"/>
              </a:rPr>
              <a:t>🌿</a:t>
            </a:r>
          </a:p>
        </p:txBody>
      </p:sp>
      <p:sp>
        <p:nvSpPr>
          <p:cNvPr id="5" name="TextBox 4"/>
          <p:cNvSpPr txBox="1"/>
          <p:nvPr/>
        </p:nvSpPr>
        <p:spPr>
          <a:xfrm>
            <a:off x="1645920" y="1371600"/>
            <a:ext cx="6400800" cy="1005840"/>
          </a:xfrm>
          <a:prstGeom prst="rect">
            <a:avLst/>
          </a:prstGeom>
          <a:noFill/>
        </p:spPr>
        <p:txBody>
          <a:bodyPr wrap="square">
            <a:spAutoFit/>
          </a:bodyPr>
          <a:lstStyle/>
          <a:p>
            <a:pPr algn="l"/>
            <a:r>
              <a:rPr sz="4800" b="1" i="0">
                <a:solidFill>
                  <a:srgbClr val="00E67A"/>
                </a:solidFill>
                <a:latin typeface="Calibri"/>
              </a:rPr>
              <a:t>PhytoShield AI</a:t>
            </a:r>
          </a:p>
        </p:txBody>
      </p:sp>
      <p:sp>
        <p:nvSpPr>
          <p:cNvPr id="6" name="TextBox 5"/>
          <p:cNvSpPr txBox="1"/>
          <p:nvPr/>
        </p:nvSpPr>
        <p:spPr>
          <a:xfrm>
            <a:off x="1645920" y="2331720"/>
            <a:ext cx="6400800" cy="548640"/>
          </a:xfrm>
          <a:prstGeom prst="rect">
            <a:avLst/>
          </a:prstGeom>
          <a:noFill/>
        </p:spPr>
        <p:txBody>
          <a:bodyPr wrap="square">
            <a:spAutoFit/>
          </a:bodyPr>
          <a:lstStyle/>
          <a:p>
            <a:pPr algn="l"/>
            <a:r>
              <a:rPr sz="2200" b="0" i="0">
                <a:solidFill>
                  <a:srgbClr val="F0F4F8"/>
                </a:solidFill>
                <a:latin typeface="Calibri"/>
              </a:rPr>
              <a:t>Explainable AI Plant Disease Detection System</a:t>
            </a:r>
          </a:p>
        </p:txBody>
      </p:sp>
      <p:sp>
        <p:nvSpPr>
          <p:cNvPr id="7" name="Rectangle 6"/>
          <p:cNvSpPr/>
          <p:nvPr/>
        </p:nvSpPr>
        <p:spPr>
          <a:xfrm>
            <a:off x="1645920" y="2971800"/>
            <a:ext cx="594360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3154680"/>
            <a:ext cx="6400800" cy="457200"/>
          </a:xfrm>
          <a:prstGeom prst="rect">
            <a:avLst/>
          </a:prstGeom>
          <a:noFill/>
        </p:spPr>
        <p:txBody>
          <a:bodyPr wrap="square">
            <a:spAutoFit/>
          </a:bodyPr>
          <a:lstStyle/>
          <a:p>
            <a:pPr algn="l"/>
            <a:r>
              <a:rPr sz="1400" b="0" i="1">
                <a:solidFill>
                  <a:srgbClr val="8B95A7"/>
                </a:solidFill>
                <a:latin typeface="Calibri"/>
              </a:rPr>
              <a:t>Final Year Engineering Project  |  Zeroth Review</a:t>
            </a:r>
          </a:p>
        </p:txBody>
      </p:sp>
      <p:sp>
        <p:nvSpPr>
          <p:cNvPr id="9" name="Rectangle 8"/>
          <p:cNvSpPr/>
          <p:nvPr/>
        </p:nvSpPr>
        <p:spPr>
          <a:xfrm>
            <a:off x="1645920" y="3657600"/>
            <a:ext cx="1417320" cy="347472"/>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3657600"/>
            <a:ext cx="1417320" cy="347472"/>
          </a:xfrm>
          <a:prstGeom prst="rect">
            <a:avLst/>
          </a:prstGeom>
          <a:noFill/>
        </p:spPr>
        <p:txBody>
          <a:bodyPr wrap="square">
            <a:spAutoFit/>
          </a:bodyPr>
          <a:lstStyle/>
          <a:p>
            <a:pPr algn="ctr"/>
            <a:r>
              <a:rPr sz="1000" b="1" i="0">
                <a:solidFill>
                  <a:srgbClr val="FFFFFF"/>
                </a:solidFill>
                <a:latin typeface="Calibri"/>
              </a:rPr>
              <a:t>EfficientNet-B0</a:t>
            </a:r>
          </a:p>
        </p:txBody>
      </p:sp>
      <p:sp>
        <p:nvSpPr>
          <p:cNvPr id="11" name="Rectangle 10"/>
          <p:cNvSpPr/>
          <p:nvPr/>
        </p:nvSpPr>
        <p:spPr>
          <a:xfrm>
            <a:off x="3154680" y="3657600"/>
            <a:ext cx="1417320" cy="347472"/>
          </a:xfrm>
          <a:prstGeom prst="rect">
            <a:avLst/>
          </a:prstGeom>
          <a:solidFill>
            <a:srgbClr val="EE4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54680" y="3657600"/>
            <a:ext cx="1417320" cy="347472"/>
          </a:xfrm>
          <a:prstGeom prst="rect">
            <a:avLst/>
          </a:prstGeom>
          <a:noFill/>
        </p:spPr>
        <p:txBody>
          <a:bodyPr wrap="square">
            <a:spAutoFit/>
          </a:bodyPr>
          <a:lstStyle/>
          <a:p>
            <a:pPr algn="ctr"/>
            <a:r>
              <a:rPr sz="1000" b="1" i="0">
                <a:solidFill>
                  <a:srgbClr val="FFFFFF"/>
                </a:solidFill>
                <a:latin typeface="Calibri"/>
              </a:rPr>
              <a:t>PyTorch</a:t>
            </a:r>
          </a:p>
        </p:txBody>
      </p:sp>
      <p:sp>
        <p:nvSpPr>
          <p:cNvPr id="13" name="Rectangle 12"/>
          <p:cNvSpPr/>
          <p:nvPr/>
        </p:nvSpPr>
        <p:spPr>
          <a:xfrm>
            <a:off x="4663440" y="3657600"/>
            <a:ext cx="1417320" cy="34747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3657600"/>
            <a:ext cx="1417320" cy="347472"/>
          </a:xfrm>
          <a:prstGeom prst="rect">
            <a:avLst/>
          </a:prstGeom>
          <a:noFill/>
        </p:spPr>
        <p:txBody>
          <a:bodyPr wrap="square">
            <a:spAutoFit/>
          </a:bodyPr>
          <a:lstStyle/>
          <a:p>
            <a:pPr algn="ctr"/>
            <a:r>
              <a:rPr sz="1000" b="1" i="0">
                <a:solidFill>
                  <a:srgbClr val="FFFFFF"/>
                </a:solidFill>
                <a:latin typeface="Calibri"/>
              </a:rPr>
              <a:t>FastAPI</a:t>
            </a:r>
          </a:p>
        </p:txBody>
      </p:sp>
      <p:sp>
        <p:nvSpPr>
          <p:cNvPr id="15" name="Rectangle 14"/>
          <p:cNvSpPr/>
          <p:nvPr/>
        </p:nvSpPr>
        <p:spPr>
          <a:xfrm>
            <a:off x="6172200" y="3657600"/>
            <a:ext cx="1417320" cy="347472"/>
          </a:xfrm>
          <a:prstGeom prst="rect">
            <a:avLst/>
          </a:prstGeom>
          <a:solidFill>
            <a:srgbClr val="61D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3657600"/>
            <a:ext cx="1417320" cy="347472"/>
          </a:xfrm>
          <a:prstGeom prst="rect">
            <a:avLst/>
          </a:prstGeom>
          <a:noFill/>
        </p:spPr>
        <p:txBody>
          <a:bodyPr wrap="square">
            <a:spAutoFit/>
          </a:bodyPr>
          <a:lstStyle/>
          <a:p>
            <a:pPr algn="ctr"/>
            <a:r>
              <a:rPr sz="1000" b="1" i="0">
                <a:solidFill>
                  <a:srgbClr val="FFFFFF"/>
                </a:solidFill>
                <a:latin typeface="Calibri"/>
              </a:rPr>
              <a:t>React + Vite</a:t>
            </a:r>
          </a:p>
        </p:txBody>
      </p:sp>
      <p:sp>
        <p:nvSpPr>
          <p:cNvPr id="17" name="Rectangle 16"/>
          <p:cNvSpPr/>
          <p:nvPr/>
        </p:nvSpPr>
        <p:spPr>
          <a:xfrm>
            <a:off x="7680960" y="3657600"/>
            <a:ext cx="1417320" cy="34747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0" y="3657600"/>
            <a:ext cx="1417320" cy="347472"/>
          </a:xfrm>
          <a:prstGeom prst="rect">
            <a:avLst/>
          </a:prstGeom>
          <a:noFill/>
        </p:spPr>
        <p:txBody>
          <a:bodyPr wrap="square">
            <a:spAutoFit/>
          </a:bodyPr>
          <a:lstStyle/>
          <a:p>
            <a:pPr algn="ctr"/>
            <a:r>
              <a:rPr sz="1000" b="1" i="0">
                <a:solidFill>
                  <a:srgbClr val="FFFFFF"/>
                </a:solidFill>
                <a:latin typeface="Calibri"/>
              </a:rPr>
              <a:t>Groq LLM</a:t>
            </a:r>
          </a:p>
        </p:txBody>
      </p:sp>
      <p:sp>
        <p:nvSpPr>
          <p:cNvPr id="19" name="Rectangle 18"/>
          <p:cNvSpPr/>
          <p:nvPr/>
        </p:nvSpPr>
        <p:spPr>
          <a:xfrm>
            <a:off x="8412480" y="1280160"/>
            <a:ext cx="3383280" cy="10058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412480" y="1280160"/>
            <a:ext cx="338328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0" y="1389888"/>
            <a:ext cx="3383280" cy="548640"/>
          </a:xfrm>
          <a:prstGeom prst="rect">
            <a:avLst/>
          </a:prstGeom>
          <a:noFill/>
        </p:spPr>
        <p:txBody>
          <a:bodyPr wrap="square">
            <a:spAutoFit/>
          </a:bodyPr>
          <a:lstStyle/>
          <a:p>
            <a:pPr algn="ctr"/>
            <a:r>
              <a:rPr sz="3200" b="1" i="0">
                <a:solidFill>
                  <a:srgbClr val="00E67A"/>
                </a:solidFill>
                <a:latin typeface="Calibri"/>
              </a:rPr>
              <a:t>99.48%</a:t>
            </a:r>
          </a:p>
        </p:txBody>
      </p:sp>
      <p:sp>
        <p:nvSpPr>
          <p:cNvPr id="22" name="TextBox 21"/>
          <p:cNvSpPr txBox="1"/>
          <p:nvPr/>
        </p:nvSpPr>
        <p:spPr>
          <a:xfrm>
            <a:off x="8412480" y="1901952"/>
            <a:ext cx="3383280" cy="320040"/>
          </a:xfrm>
          <a:prstGeom prst="rect">
            <a:avLst/>
          </a:prstGeom>
          <a:noFill/>
        </p:spPr>
        <p:txBody>
          <a:bodyPr wrap="square">
            <a:spAutoFit/>
          </a:bodyPr>
          <a:lstStyle/>
          <a:p>
            <a:pPr algn="ctr"/>
            <a:r>
              <a:rPr sz="1200" b="0" i="0">
                <a:solidFill>
                  <a:srgbClr val="8B95A7"/>
                </a:solidFill>
                <a:latin typeface="Calibri"/>
              </a:rPr>
              <a:t>Test Accuracy</a:t>
            </a:r>
          </a:p>
        </p:txBody>
      </p:sp>
      <p:sp>
        <p:nvSpPr>
          <p:cNvPr id="23" name="Rectangle 22"/>
          <p:cNvSpPr/>
          <p:nvPr/>
        </p:nvSpPr>
        <p:spPr>
          <a:xfrm>
            <a:off x="8412480" y="2395728"/>
            <a:ext cx="3383280" cy="10058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412480" y="2395728"/>
            <a:ext cx="338328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2505456"/>
            <a:ext cx="3383280" cy="548640"/>
          </a:xfrm>
          <a:prstGeom prst="rect">
            <a:avLst/>
          </a:prstGeom>
          <a:noFill/>
        </p:spPr>
        <p:txBody>
          <a:bodyPr wrap="square">
            <a:spAutoFit/>
          </a:bodyPr>
          <a:lstStyle/>
          <a:p>
            <a:pPr algn="ctr"/>
            <a:r>
              <a:rPr sz="3200" b="1" i="0">
                <a:solidFill>
                  <a:srgbClr val="00C4CC"/>
                </a:solidFill>
                <a:latin typeface="Calibri"/>
              </a:rPr>
              <a:t>5.3M</a:t>
            </a:r>
          </a:p>
        </p:txBody>
      </p:sp>
      <p:sp>
        <p:nvSpPr>
          <p:cNvPr id="26" name="TextBox 25"/>
          <p:cNvSpPr txBox="1"/>
          <p:nvPr/>
        </p:nvSpPr>
        <p:spPr>
          <a:xfrm>
            <a:off x="8412480" y="3017520"/>
            <a:ext cx="3383280" cy="320040"/>
          </a:xfrm>
          <a:prstGeom prst="rect">
            <a:avLst/>
          </a:prstGeom>
          <a:noFill/>
        </p:spPr>
        <p:txBody>
          <a:bodyPr wrap="square">
            <a:spAutoFit/>
          </a:bodyPr>
          <a:lstStyle/>
          <a:p>
            <a:pPr algn="ctr"/>
            <a:r>
              <a:rPr sz="1200" b="0" i="0">
                <a:solidFill>
                  <a:srgbClr val="8B95A7"/>
                </a:solidFill>
                <a:latin typeface="Calibri"/>
              </a:rPr>
              <a:t>Parameters</a:t>
            </a:r>
          </a:p>
        </p:txBody>
      </p:sp>
      <p:sp>
        <p:nvSpPr>
          <p:cNvPr id="27" name="Rectangle 26"/>
          <p:cNvSpPr/>
          <p:nvPr/>
        </p:nvSpPr>
        <p:spPr>
          <a:xfrm>
            <a:off x="8412480" y="3511296"/>
            <a:ext cx="3383280" cy="10058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412480" y="3511296"/>
            <a:ext cx="338328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80" y="3621024"/>
            <a:ext cx="3383280" cy="548640"/>
          </a:xfrm>
          <a:prstGeom prst="rect">
            <a:avLst/>
          </a:prstGeom>
          <a:noFill/>
        </p:spPr>
        <p:txBody>
          <a:bodyPr wrap="square">
            <a:spAutoFit/>
          </a:bodyPr>
          <a:lstStyle/>
          <a:p>
            <a:pPr algn="ctr"/>
            <a:r>
              <a:rPr sz="3200" b="1" i="0">
                <a:solidFill>
                  <a:srgbClr val="F59E0B"/>
                </a:solidFill>
                <a:latin typeface="Calibri"/>
              </a:rPr>
              <a:t>&lt;45ms</a:t>
            </a:r>
          </a:p>
        </p:txBody>
      </p:sp>
      <p:sp>
        <p:nvSpPr>
          <p:cNvPr id="30" name="TextBox 29"/>
          <p:cNvSpPr txBox="1"/>
          <p:nvPr/>
        </p:nvSpPr>
        <p:spPr>
          <a:xfrm>
            <a:off x="8412480" y="4133088"/>
            <a:ext cx="3383280" cy="320040"/>
          </a:xfrm>
          <a:prstGeom prst="rect">
            <a:avLst/>
          </a:prstGeom>
          <a:noFill/>
        </p:spPr>
        <p:txBody>
          <a:bodyPr wrap="square">
            <a:spAutoFit/>
          </a:bodyPr>
          <a:lstStyle/>
          <a:p>
            <a:pPr algn="ctr"/>
            <a:r>
              <a:rPr sz="1200" b="0" i="0">
                <a:solidFill>
                  <a:srgbClr val="8B95A7"/>
                </a:solidFill>
                <a:latin typeface="Calibri"/>
              </a:rPr>
              <a:t>Inference</a:t>
            </a:r>
          </a:p>
        </p:txBody>
      </p:sp>
      <p:sp>
        <p:nvSpPr>
          <p:cNvPr id="31" name="Rectangle 30"/>
          <p:cNvSpPr/>
          <p:nvPr/>
        </p:nvSpPr>
        <p:spPr>
          <a:xfrm>
            <a:off x="8412480" y="4626864"/>
            <a:ext cx="3383280" cy="10058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412480" y="4626864"/>
            <a:ext cx="338328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4736592"/>
            <a:ext cx="3383280" cy="548640"/>
          </a:xfrm>
          <a:prstGeom prst="rect">
            <a:avLst/>
          </a:prstGeom>
          <a:noFill/>
        </p:spPr>
        <p:txBody>
          <a:bodyPr wrap="square">
            <a:spAutoFit/>
          </a:bodyPr>
          <a:lstStyle/>
          <a:p>
            <a:pPr algn="ctr"/>
            <a:r>
              <a:rPr sz="3200" b="1" i="0">
                <a:solidFill>
                  <a:srgbClr val="8B5CF6"/>
                </a:solidFill>
                <a:latin typeface="Calibri"/>
              </a:rPr>
              <a:t>15</a:t>
            </a:r>
          </a:p>
        </p:txBody>
      </p:sp>
      <p:sp>
        <p:nvSpPr>
          <p:cNvPr id="34" name="TextBox 33"/>
          <p:cNvSpPr txBox="1"/>
          <p:nvPr/>
        </p:nvSpPr>
        <p:spPr>
          <a:xfrm>
            <a:off x="8412480" y="5248656"/>
            <a:ext cx="3383280" cy="320040"/>
          </a:xfrm>
          <a:prstGeom prst="rect">
            <a:avLst/>
          </a:prstGeom>
          <a:noFill/>
        </p:spPr>
        <p:txBody>
          <a:bodyPr wrap="square">
            <a:spAutoFit/>
          </a:bodyPr>
          <a:lstStyle/>
          <a:p>
            <a:pPr algn="ctr"/>
            <a:r>
              <a:rPr sz="1200" b="0" i="0">
                <a:solidFill>
                  <a:srgbClr val="8B95A7"/>
                </a:solidFill>
                <a:latin typeface="Calibri"/>
              </a:rPr>
              <a:t>Disease Classes</a:t>
            </a:r>
          </a:p>
        </p:txBody>
      </p:sp>
      <p:sp>
        <p:nvSpPr>
          <p:cNvPr id="35" name="TextBox 34"/>
          <p:cNvSpPr txBox="1"/>
          <p:nvPr/>
        </p:nvSpPr>
        <p:spPr>
          <a:xfrm>
            <a:off x="274320" y="6492240"/>
            <a:ext cx="5486400" cy="274320"/>
          </a:xfrm>
          <a:prstGeom prst="rect">
            <a:avLst/>
          </a:prstGeom>
          <a:noFill/>
        </p:spPr>
        <p:txBody>
          <a:bodyPr wrap="square">
            <a:spAutoFit/>
          </a:bodyPr>
          <a:lstStyle/>
          <a:p>
            <a:pPr algn="l"/>
            <a:r>
              <a:rPr sz="1000" b="0" i="0">
                <a:solidFill>
                  <a:srgbClr val="8B95A7"/>
                </a:solidFill>
                <a:latin typeface="Calibri"/>
              </a:rPr>
              <a:t>Parth Sharma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00E67A"/>
                </a:solidFill>
                <a:latin typeface="Calibri"/>
              </a:rPr>
              <a:t>02</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Problem Statement</a:t>
            </a:r>
          </a:p>
        </p:txBody>
      </p:sp>
      <p:sp>
        <p:nvSpPr>
          <p:cNvPr id="5" name="Rectangle 4"/>
          <p:cNvSpPr/>
          <p:nvPr/>
        </p:nvSpPr>
        <p:spPr>
          <a:xfrm>
            <a:off x="274320" y="1161288"/>
            <a:ext cx="438912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508760"/>
            <a:ext cx="5669280" cy="22402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508760"/>
            <a:ext cx="566928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618488"/>
            <a:ext cx="5394960" cy="384048"/>
          </a:xfrm>
          <a:prstGeom prst="rect">
            <a:avLst/>
          </a:prstGeom>
          <a:noFill/>
        </p:spPr>
        <p:txBody>
          <a:bodyPr wrap="square">
            <a:spAutoFit/>
          </a:bodyPr>
          <a:lstStyle/>
          <a:p>
            <a:pPr algn="l"/>
            <a:r>
              <a:rPr sz="1400" b="1" i="0">
                <a:solidFill>
                  <a:srgbClr val="00E67A"/>
                </a:solidFill>
                <a:latin typeface="Calibri"/>
              </a:rPr>
              <a:t>🌍  Global Food Security Crisis</a:t>
            </a:r>
          </a:p>
        </p:txBody>
      </p:sp>
      <p:sp>
        <p:nvSpPr>
          <p:cNvPr id="9" name="TextBox 8"/>
          <p:cNvSpPr txBox="1"/>
          <p:nvPr/>
        </p:nvSpPr>
        <p:spPr>
          <a:xfrm>
            <a:off x="411480" y="2057400"/>
            <a:ext cx="5394960" cy="1554480"/>
          </a:xfrm>
          <a:prstGeom prst="rect">
            <a:avLst/>
          </a:prstGeom>
          <a:noFill/>
        </p:spPr>
        <p:txBody>
          <a:bodyPr wrap="square">
            <a:spAutoFit/>
          </a:bodyPr>
          <a:lstStyle/>
          <a:p>
            <a:pPr algn="l"/>
            <a:r>
              <a:rPr sz="1200" b="0" i="0">
                <a:solidFill>
                  <a:srgbClr val="8B95A7"/>
                </a:solidFill>
                <a:latin typeface="Calibri"/>
              </a:rPr>
              <a:t>Plant diseases destroy 20–40% of global crops annually, threatening food security for billions of people and costing &gt;$220 billion/year worldwide.</a:t>
            </a:r>
          </a:p>
        </p:txBody>
      </p:sp>
      <p:sp>
        <p:nvSpPr>
          <p:cNvPr id="10" name="Rectangle 9"/>
          <p:cNvSpPr/>
          <p:nvPr/>
        </p:nvSpPr>
        <p:spPr>
          <a:xfrm>
            <a:off x="6172200" y="1508760"/>
            <a:ext cx="5669280" cy="22402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508760"/>
            <a:ext cx="566928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618488"/>
            <a:ext cx="5394960" cy="384048"/>
          </a:xfrm>
          <a:prstGeom prst="rect">
            <a:avLst/>
          </a:prstGeom>
          <a:noFill/>
        </p:spPr>
        <p:txBody>
          <a:bodyPr wrap="square">
            <a:spAutoFit/>
          </a:bodyPr>
          <a:lstStyle/>
          <a:p>
            <a:pPr algn="l"/>
            <a:r>
              <a:rPr sz="1400" b="1" i="0">
                <a:solidFill>
                  <a:srgbClr val="F59E0B"/>
                </a:solidFill>
                <a:latin typeface="Calibri"/>
              </a:rPr>
              <a:t>🔍  Late &amp; Inaccurate Detection</a:t>
            </a:r>
          </a:p>
        </p:txBody>
      </p:sp>
      <p:sp>
        <p:nvSpPr>
          <p:cNvPr id="13" name="TextBox 12"/>
          <p:cNvSpPr txBox="1"/>
          <p:nvPr/>
        </p:nvSpPr>
        <p:spPr>
          <a:xfrm>
            <a:off x="6309360" y="2057400"/>
            <a:ext cx="5394960" cy="1554480"/>
          </a:xfrm>
          <a:prstGeom prst="rect">
            <a:avLst/>
          </a:prstGeom>
          <a:noFill/>
        </p:spPr>
        <p:txBody>
          <a:bodyPr wrap="square">
            <a:spAutoFit/>
          </a:bodyPr>
          <a:lstStyle/>
          <a:p>
            <a:pPr algn="l"/>
            <a:r>
              <a:rPr sz="1200" b="0" i="0">
                <a:solidFill>
                  <a:srgbClr val="8B95A7"/>
                </a:solidFill>
                <a:latin typeface="Calibri"/>
              </a:rPr>
              <a:t>Traditional visual inspection is slow, subjective, and error-prone. Farmers often misidentify diseases, leading to wrong treatments and crop loss.</a:t>
            </a:r>
          </a:p>
        </p:txBody>
      </p:sp>
      <p:sp>
        <p:nvSpPr>
          <p:cNvPr id="14" name="Rectangle 13"/>
          <p:cNvSpPr/>
          <p:nvPr/>
        </p:nvSpPr>
        <p:spPr>
          <a:xfrm>
            <a:off x="274320" y="3931920"/>
            <a:ext cx="5669280" cy="22402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3931920"/>
            <a:ext cx="566928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4041648"/>
            <a:ext cx="5394960" cy="384048"/>
          </a:xfrm>
          <a:prstGeom prst="rect">
            <a:avLst/>
          </a:prstGeom>
          <a:noFill/>
        </p:spPr>
        <p:txBody>
          <a:bodyPr wrap="square">
            <a:spAutoFit/>
          </a:bodyPr>
          <a:lstStyle/>
          <a:p>
            <a:pPr algn="l"/>
            <a:r>
              <a:rPr sz="1400" b="1" i="0">
                <a:solidFill>
                  <a:srgbClr val="8B5CF6"/>
                </a:solidFill>
                <a:latin typeface="Calibri"/>
              </a:rPr>
              <a:t>🤖  Black-Box AI Problem</a:t>
            </a:r>
          </a:p>
        </p:txBody>
      </p:sp>
      <p:sp>
        <p:nvSpPr>
          <p:cNvPr id="17" name="TextBox 16"/>
          <p:cNvSpPr txBox="1"/>
          <p:nvPr/>
        </p:nvSpPr>
        <p:spPr>
          <a:xfrm>
            <a:off x="411480" y="4480560"/>
            <a:ext cx="5394960" cy="1554480"/>
          </a:xfrm>
          <a:prstGeom prst="rect">
            <a:avLst/>
          </a:prstGeom>
          <a:noFill/>
        </p:spPr>
        <p:txBody>
          <a:bodyPr wrap="square">
            <a:spAutoFit/>
          </a:bodyPr>
          <a:lstStyle/>
          <a:p>
            <a:pPr algn="l"/>
            <a:r>
              <a:rPr sz="1200" b="0" i="0">
                <a:solidFill>
                  <a:srgbClr val="8B95A7"/>
                </a:solidFill>
                <a:latin typeface="Calibri"/>
              </a:rPr>
              <a:t>Existing deep learning solutions provide no explanation for their predictions — farmers and agronomists cannot trust or act on them responsibly.</a:t>
            </a:r>
          </a:p>
        </p:txBody>
      </p:sp>
      <p:sp>
        <p:nvSpPr>
          <p:cNvPr id="18" name="Rectangle 17"/>
          <p:cNvSpPr/>
          <p:nvPr/>
        </p:nvSpPr>
        <p:spPr>
          <a:xfrm>
            <a:off x="6172200" y="3931920"/>
            <a:ext cx="5669280" cy="22402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72200" y="3931920"/>
            <a:ext cx="566928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041648"/>
            <a:ext cx="5394960" cy="384048"/>
          </a:xfrm>
          <a:prstGeom prst="rect">
            <a:avLst/>
          </a:prstGeom>
          <a:noFill/>
        </p:spPr>
        <p:txBody>
          <a:bodyPr wrap="square">
            <a:spAutoFit/>
          </a:bodyPr>
          <a:lstStyle/>
          <a:p>
            <a:pPr algn="l"/>
            <a:r>
              <a:rPr sz="1400" b="1" i="0">
                <a:solidFill>
                  <a:srgbClr val="00C4CC"/>
                </a:solidFill>
                <a:latin typeface="Calibri"/>
              </a:rPr>
              <a:t>📡  No Actionable Intelligence</a:t>
            </a:r>
          </a:p>
        </p:txBody>
      </p:sp>
      <p:sp>
        <p:nvSpPr>
          <p:cNvPr id="21" name="TextBox 20"/>
          <p:cNvSpPr txBox="1"/>
          <p:nvPr/>
        </p:nvSpPr>
        <p:spPr>
          <a:xfrm>
            <a:off x="6309360" y="4480560"/>
            <a:ext cx="5394960" cy="1554480"/>
          </a:xfrm>
          <a:prstGeom prst="rect">
            <a:avLst/>
          </a:prstGeom>
          <a:noFill/>
        </p:spPr>
        <p:txBody>
          <a:bodyPr wrap="square">
            <a:spAutoFit/>
          </a:bodyPr>
          <a:lstStyle/>
          <a:p>
            <a:pPr algn="l"/>
            <a:r>
              <a:rPr sz="1200" b="0" i="0">
                <a:solidFill>
                  <a:srgbClr val="8B95A7"/>
                </a:solidFill>
                <a:latin typeface="Calibri"/>
              </a:rPr>
              <a:t>Current tools don't translate predictions into treatment plans or natural-language explanations that are usable in the field by non-experts.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00C4CC"/>
                </a:solidFill>
                <a:latin typeface="Calibri"/>
              </a:rPr>
              <a:t>03</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Project Objectives</a:t>
            </a:r>
          </a:p>
        </p:txBody>
      </p:sp>
      <p:sp>
        <p:nvSpPr>
          <p:cNvPr id="5" name="Rectangle 4"/>
          <p:cNvSpPr/>
          <p:nvPr/>
        </p:nvSpPr>
        <p:spPr>
          <a:xfrm>
            <a:off x="274320" y="1161288"/>
            <a:ext cx="438912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5669280" cy="1600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664208"/>
            <a:ext cx="502920" cy="502920"/>
          </a:xfrm>
          <a:prstGeom prst="rect">
            <a:avLst/>
          </a:prstGeom>
          <a:noFill/>
        </p:spPr>
        <p:txBody>
          <a:bodyPr wrap="square">
            <a:spAutoFit/>
          </a:bodyPr>
          <a:lstStyle/>
          <a:p>
            <a:pPr algn="l"/>
            <a:r>
              <a:rPr sz="2200" b="0" i="0">
                <a:solidFill>
                  <a:srgbClr val="F0F4F8"/>
                </a:solidFill>
                <a:latin typeface="Calibri"/>
              </a:rPr>
              <a:t>🎯</a:t>
            </a:r>
          </a:p>
        </p:txBody>
      </p:sp>
      <p:sp>
        <p:nvSpPr>
          <p:cNvPr id="8" name="TextBox 7"/>
          <p:cNvSpPr txBox="1"/>
          <p:nvPr/>
        </p:nvSpPr>
        <p:spPr>
          <a:xfrm>
            <a:off x="932688" y="1572768"/>
            <a:ext cx="4846320" cy="384048"/>
          </a:xfrm>
          <a:prstGeom prst="rect">
            <a:avLst/>
          </a:prstGeom>
          <a:noFill/>
        </p:spPr>
        <p:txBody>
          <a:bodyPr wrap="square">
            <a:spAutoFit/>
          </a:bodyPr>
          <a:lstStyle/>
          <a:p>
            <a:pPr algn="l"/>
            <a:r>
              <a:rPr sz="1300" b="1" i="0">
                <a:solidFill>
                  <a:srgbClr val="00C4CC"/>
                </a:solidFill>
                <a:latin typeface="Calibri"/>
              </a:rPr>
              <a:t>High-Precision Detection</a:t>
            </a:r>
          </a:p>
        </p:txBody>
      </p:sp>
      <p:sp>
        <p:nvSpPr>
          <p:cNvPr id="9" name="TextBox 8"/>
          <p:cNvSpPr txBox="1"/>
          <p:nvPr/>
        </p:nvSpPr>
        <p:spPr>
          <a:xfrm>
            <a:off x="932688" y="1965960"/>
            <a:ext cx="4846320" cy="1005840"/>
          </a:xfrm>
          <a:prstGeom prst="rect">
            <a:avLst/>
          </a:prstGeom>
          <a:noFill/>
        </p:spPr>
        <p:txBody>
          <a:bodyPr wrap="square">
            <a:spAutoFit/>
          </a:bodyPr>
          <a:lstStyle/>
          <a:p>
            <a:pPr algn="l"/>
            <a:r>
              <a:rPr sz="1100" b="0" i="0">
                <a:solidFill>
                  <a:srgbClr val="8B95A7"/>
                </a:solidFill>
                <a:latin typeface="Calibri"/>
              </a:rPr>
              <a:t>Achieve &gt;99% accuracy across 15 classes using EfficientNet-B0 trained on 54,303 curated leaf images.</a:t>
            </a:r>
          </a:p>
        </p:txBody>
      </p:sp>
      <p:sp>
        <p:nvSpPr>
          <p:cNvPr id="10" name="Rectangle 9"/>
          <p:cNvSpPr/>
          <p:nvPr/>
        </p:nvSpPr>
        <p:spPr>
          <a:xfrm>
            <a:off x="6172200" y="1463040"/>
            <a:ext cx="5669280" cy="1600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81928" y="1664208"/>
            <a:ext cx="502920" cy="502920"/>
          </a:xfrm>
          <a:prstGeom prst="rect">
            <a:avLst/>
          </a:prstGeom>
          <a:noFill/>
        </p:spPr>
        <p:txBody>
          <a:bodyPr wrap="square">
            <a:spAutoFit/>
          </a:bodyPr>
          <a:lstStyle/>
          <a:p>
            <a:pPr algn="l"/>
            <a:r>
              <a:rPr sz="2200" b="0" i="0">
                <a:solidFill>
                  <a:srgbClr val="F0F4F8"/>
                </a:solidFill>
                <a:latin typeface="Calibri"/>
              </a:rPr>
              <a:t>🔬</a:t>
            </a:r>
          </a:p>
        </p:txBody>
      </p:sp>
      <p:sp>
        <p:nvSpPr>
          <p:cNvPr id="12" name="TextBox 11"/>
          <p:cNvSpPr txBox="1"/>
          <p:nvPr/>
        </p:nvSpPr>
        <p:spPr>
          <a:xfrm>
            <a:off x="6830568" y="1572768"/>
            <a:ext cx="4846320" cy="384048"/>
          </a:xfrm>
          <a:prstGeom prst="rect">
            <a:avLst/>
          </a:prstGeom>
          <a:noFill/>
        </p:spPr>
        <p:txBody>
          <a:bodyPr wrap="square">
            <a:spAutoFit/>
          </a:bodyPr>
          <a:lstStyle/>
          <a:p>
            <a:pPr algn="l"/>
            <a:r>
              <a:rPr sz="1300" b="1" i="0">
                <a:solidFill>
                  <a:srgbClr val="00C4CC"/>
                </a:solidFill>
                <a:latin typeface="Calibri"/>
              </a:rPr>
              <a:t>Triple XAI Engine</a:t>
            </a:r>
          </a:p>
        </p:txBody>
      </p:sp>
      <p:sp>
        <p:nvSpPr>
          <p:cNvPr id="13" name="TextBox 12"/>
          <p:cNvSpPr txBox="1"/>
          <p:nvPr/>
        </p:nvSpPr>
        <p:spPr>
          <a:xfrm>
            <a:off x="6830568" y="1965960"/>
            <a:ext cx="4846320" cy="1005840"/>
          </a:xfrm>
          <a:prstGeom prst="rect">
            <a:avLst/>
          </a:prstGeom>
          <a:noFill/>
        </p:spPr>
        <p:txBody>
          <a:bodyPr wrap="square">
            <a:spAutoFit/>
          </a:bodyPr>
          <a:lstStyle/>
          <a:p>
            <a:pPr algn="l"/>
            <a:r>
              <a:rPr sz="1100" b="0" i="0">
                <a:solidFill>
                  <a:srgbClr val="8B95A7"/>
                </a:solidFill>
                <a:latin typeface="Calibri"/>
              </a:rPr>
              <a:t>Implement Grad-CAM, Integrated Gradients &amp; SHAP for multi-modal visual explanations on every prediction.</a:t>
            </a:r>
          </a:p>
        </p:txBody>
      </p:sp>
      <p:sp>
        <p:nvSpPr>
          <p:cNvPr id="14" name="Rectangle 13"/>
          <p:cNvSpPr/>
          <p:nvPr/>
        </p:nvSpPr>
        <p:spPr>
          <a:xfrm>
            <a:off x="274320" y="3200400"/>
            <a:ext cx="5669280" cy="1600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3401568"/>
            <a:ext cx="502920" cy="502920"/>
          </a:xfrm>
          <a:prstGeom prst="rect">
            <a:avLst/>
          </a:prstGeom>
          <a:noFill/>
        </p:spPr>
        <p:txBody>
          <a:bodyPr wrap="square">
            <a:spAutoFit/>
          </a:bodyPr>
          <a:lstStyle/>
          <a:p>
            <a:pPr algn="l"/>
            <a:r>
              <a:rPr sz="2200" b="0" i="0">
                <a:solidFill>
                  <a:srgbClr val="F0F4F8"/>
                </a:solidFill>
                <a:latin typeface="Calibri"/>
              </a:rPr>
              <a:t>🧠</a:t>
            </a:r>
          </a:p>
        </p:txBody>
      </p:sp>
      <p:sp>
        <p:nvSpPr>
          <p:cNvPr id="16" name="TextBox 15"/>
          <p:cNvSpPr txBox="1"/>
          <p:nvPr/>
        </p:nvSpPr>
        <p:spPr>
          <a:xfrm>
            <a:off x="932688" y="3310128"/>
            <a:ext cx="4846320" cy="384048"/>
          </a:xfrm>
          <a:prstGeom prst="rect">
            <a:avLst/>
          </a:prstGeom>
          <a:noFill/>
        </p:spPr>
        <p:txBody>
          <a:bodyPr wrap="square">
            <a:spAutoFit/>
          </a:bodyPr>
          <a:lstStyle/>
          <a:p>
            <a:pPr algn="l"/>
            <a:r>
              <a:rPr sz="1300" b="1" i="0">
                <a:solidFill>
                  <a:srgbClr val="00C4CC"/>
                </a:solidFill>
                <a:latin typeface="Calibri"/>
              </a:rPr>
              <a:t>LLM Pathology Intelligence</a:t>
            </a:r>
          </a:p>
        </p:txBody>
      </p:sp>
      <p:sp>
        <p:nvSpPr>
          <p:cNvPr id="17" name="TextBox 16"/>
          <p:cNvSpPr txBox="1"/>
          <p:nvPr/>
        </p:nvSpPr>
        <p:spPr>
          <a:xfrm>
            <a:off x="932688" y="3703320"/>
            <a:ext cx="4846320" cy="1005840"/>
          </a:xfrm>
          <a:prstGeom prst="rect">
            <a:avLst/>
          </a:prstGeom>
          <a:noFill/>
        </p:spPr>
        <p:txBody>
          <a:bodyPr wrap="square">
            <a:spAutoFit/>
          </a:bodyPr>
          <a:lstStyle/>
          <a:p>
            <a:pPr algn="l"/>
            <a:r>
              <a:rPr sz="1100" b="0" i="0">
                <a:solidFill>
                  <a:srgbClr val="8B95A7"/>
                </a:solidFill>
                <a:latin typeface="Calibri"/>
              </a:rPr>
              <a:t>Integrate Groq llama-3.3-70b to convert heatmap signals into actionable natural-language pathology reports.</a:t>
            </a:r>
          </a:p>
        </p:txBody>
      </p:sp>
      <p:sp>
        <p:nvSpPr>
          <p:cNvPr id="18" name="Rectangle 17"/>
          <p:cNvSpPr/>
          <p:nvPr/>
        </p:nvSpPr>
        <p:spPr>
          <a:xfrm>
            <a:off x="6172200" y="3200400"/>
            <a:ext cx="5669280" cy="1600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81928" y="3401568"/>
            <a:ext cx="502920" cy="502920"/>
          </a:xfrm>
          <a:prstGeom prst="rect">
            <a:avLst/>
          </a:prstGeom>
          <a:noFill/>
        </p:spPr>
        <p:txBody>
          <a:bodyPr wrap="square">
            <a:spAutoFit/>
          </a:bodyPr>
          <a:lstStyle/>
          <a:p>
            <a:pPr algn="l"/>
            <a:r>
              <a:rPr sz="2200" b="0" i="0">
                <a:solidFill>
                  <a:srgbClr val="F0F4F8"/>
                </a:solidFill>
                <a:latin typeface="Calibri"/>
              </a:rPr>
              <a:t>🚀</a:t>
            </a:r>
          </a:p>
        </p:txBody>
      </p:sp>
      <p:sp>
        <p:nvSpPr>
          <p:cNvPr id="20" name="TextBox 19"/>
          <p:cNvSpPr txBox="1"/>
          <p:nvPr/>
        </p:nvSpPr>
        <p:spPr>
          <a:xfrm>
            <a:off x="6830568" y="3310128"/>
            <a:ext cx="4846320" cy="384048"/>
          </a:xfrm>
          <a:prstGeom prst="rect">
            <a:avLst/>
          </a:prstGeom>
          <a:noFill/>
        </p:spPr>
        <p:txBody>
          <a:bodyPr wrap="square">
            <a:spAutoFit/>
          </a:bodyPr>
          <a:lstStyle/>
          <a:p>
            <a:pPr algn="l"/>
            <a:r>
              <a:rPr sz="1300" b="1" i="0">
                <a:solidFill>
                  <a:srgbClr val="00C4CC"/>
                </a:solidFill>
                <a:latin typeface="Calibri"/>
              </a:rPr>
              <a:t>Production REST API</a:t>
            </a:r>
          </a:p>
        </p:txBody>
      </p:sp>
      <p:sp>
        <p:nvSpPr>
          <p:cNvPr id="21" name="TextBox 20"/>
          <p:cNvSpPr txBox="1"/>
          <p:nvPr/>
        </p:nvSpPr>
        <p:spPr>
          <a:xfrm>
            <a:off x="6830568" y="3703320"/>
            <a:ext cx="4846320" cy="1005840"/>
          </a:xfrm>
          <a:prstGeom prst="rect">
            <a:avLst/>
          </a:prstGeom>
          <a:noFill/>
        </p:spPr>
        <p:txBody>
          <a:bodyPr wrap="square">
            <a:spAutoFit/>
          </a:bodyPr>
          <a:lstStyle/>
          <a:p>
            <a:pPr algn="l"/>
            <a:r>
              <a:rPr sz="1100" b="0" i="0">
                <a:solidFill>
                  <a:srgbClr val="8B95A7"/>
                </a:solidFill>
                <a:latin typeface="Calibri"/>
              </a:rPr>
              <a:t>Deploy FastAPI backend with Pydantic schemas, ONNX export, OpenAPI docs, and &lt;45ms inference latency.</a:t>
            </a:r>
          </a:p>
        </p:txBody>
      </p:sp>
      <p:sp>
        <p:nvSpPr>
          <p:cNvPr id="22" name="Rectangle 21"/>
          <p:cNvSpPr/>
          <p:nvPr/>
        </p:nvSpPr>
        <p:spPr>
          <a:xfrm>
            <a:off x="274320" y="4937760"/>
            <a:ext cx="5669280" cy="1600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5138928"/>
            <a:ext cx="502920" cy="502920"/>
          </a:xfrm>
          <a:prstGeom prst="rect">
            <a:avLst/>
          </a:prstGeom>
          <a:noFill/>
        </p:spPr>
        <p:txBody>
          <a:bodyPr wrap="square">
            <a:spAutoFit/>
          </a:bodyPr>
          <a:lstStyle/>
          <a:p>
            <a:pPr algn="l"/>
            <a:r>
              <a:rPr sz="2200" b="0" i="0">
                <a:solidFill>
                  <a:srgbClr val="F0F4F8"/>
                </a:solidFill>
                <a:latin typeface="Calibri"/>
              </a:rPr>
              <a:t>💻</a:t>
            </a:r>
          </a:p>
        </p:txBody>
      </p:sp>
      <p:sp>
        <p:nvSpPr>
          <p:cNvPr id="24" name="TextBox 23"/>
          <p:cNvSpPr txBox="1"/>
          <p:nvPr/>
        </p:nvSpPr>
        <p:spPr>
          <a:xfrm>
            <a:off x="932688" y="5047488"/>
            <a:ext cx="4846320" cy="384048"/>
          </a:xfrm>
          <a:prstGeom prst="rect">
            <a:avLst/>
          </a:prstGeom>
          <a:noFill/>
        </p:spPr>
        <p:txBody>
          <a:bodyPr wrap="square">
            <a:spAutoFit/>
          </a:bodyPr>
          <a:lstStyle/>
          <a:p>
            <a:pPr algn="l"/>
            <a:r>
              <a:rPr sz="1300" b="1" i="0">
                <a:solidFill>
                  <a:srgbClr val="00C4CC"/>
                </a:solidFill>
                <a:latin typeface="Calibri"/>
              </a:rPr>
              <a:t>Modern SaaS Frontend</a:t>
            </a:r>
          </a:p>
        </p:txBody>
      </p:sp>
      <p:sp>
        <p:nvSpPr>
          <p:cNvPr id="25" name="TextBox 24"/>
          <p:cNvSpPr txBox="1"/>
          <p:nvPr/>
        </p:nvSpPr>
        <p:spPr>
          <a:xfrm>
            <a:off x="932688" y="5440680"/>
            <a:ext cx="4846320" cy="1005840"/>
          </a:xfrm>
          <a:prstGeom prst="rect">
            <a:avLst/>
          </a:prstGeom>
          <a:noFill/>
        </p:spPr>
        <p:txBody>
          <a:bodyPr wrap="square">
            <a:spAutoFit/>
          </a:bodyPr>
          <a:lstStyle/>
          <a:p>
            <a:pPr algn="l"/>
            <a:r>
              <a:rPr sz="1100" b="0" i="0">
                <a:solidFill>
                  <a:srgbClr val="8B95A7"/>
                </a:solidFill>
                <a:latin typeface="Calibri"/>
              </a:rPr>
              <a:t>Build React + Vite UI with light/dark mode, interactive XAI layer switching, and real-time opacity slider.</a:t>
            </a:r>
          </a:p>
        </p:txBody>
      </p:sp>
      <p:sp>
        <p:nvSpPr>
          <p:cNvPr id="26" name="Rectangle 25"/>
          <p:cNvSpPr/>
          <p:nvPr/>
        </p:nvSpPr>
        <p:spPr>
          <a:xfrm>
            <a:off x="6172200" y="4937760"/>
            <a:ext cx="5669280" cy="16002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1928" y="5138928"/>
            <a:ext cx="502920" cy="502920"/>
          </a:xfrm>
          <a:prstGeom prst="rect">
            <a:avLst/>
          </a:prstGeom>
          <a:noFill/>
        </p:spPr>
        <p:txBody>
          <a:bodyPr wrap="square">
            <a:spAutoFit/>
          </a:bodyPr>
          <a:lstStyle/>
          <a:p>
            <a:pPr algn="l"/>
            <a:r>
              <a:rPr sz="2200" b="0" i="0">
                <a:solidFill>
                  <a:srgbClr val="F0F4F8"/>
                </a:solidFill>
                <a:latin typeface="Calibri"/>
              </a:rPr>
              <a:t>📊</a:t>
            </a:r>
          </a:p>
        </p:txBody>
      </p:sp>
      <p:sp>
        <p:nvSpPr>
          <p:cNvPr id="28" name="TextBox 27"/>
          <p:cNvSpPr txBox="1"/>
          <p:nvPr/>
        </p:nvSpPr>
        <p:spPr>
          <a:xfrm>
            <a:off x="6830568" y="5047488"/>
            <a:ext cx="4846320" cy="384048"/>
          </a:xfrm>
          <a:prstGeom prst="rect">
            <a:avLst/>
          </a:prstGeom>
          <a:noFill/>
        </p:spPr>
        <p:txBody>
          <a:bodyPr wrap="square">
            <a:spAutoFit/>
          </a:bodyPr>
          <a:lstStyle/>
          <a:p>
            <a:pPr algn="l"/>
            <a:r>
              <a:rPr sz="1300" b="1" i="0">
                <a:solidFill>
                  <a:srgbClr val="00C4CC"/>
                </a:solidFill>
                <a:latin typeface="Calibri"/>
              </a:rPr>
              <a:t>Reproducible ML Pipeline</a:t>
            </a:r>
          </a:p>
        </p:txBody>
      </p:sp>
      <p:sp>
        <p:nvSpPr>
          <p:cNvPr id="29" name="TextBox 28"/>
          <p:cNvSpPr txBox="1"/>
          <p:nvPr/>
        </p:nvSpPr>
        <p:spPr>
          <a:xfrm>
            <a:off x="6830568" y="5440680"/>
            <a:ext cx="4846320" cy="1005840"/>
          </a:xfrm>
          <a:prstGeom prst="rect">
            <a:avLst/>
          </a:prstGeom>
          <a:noFill/>
        </p:spPr>
        <p:txBody>
          <a:bodyPr wrap="square">
            <a:spAutoFit/>
          </a:bodyPr>
          <a:lstStyle/>
          <a:p>
            <a:pPr algn="l"/>
            <a:r>
              <a:rPr sz="1100" b="0" i="0">
                <a:solidFill>
                  <a:srgbClr val="8B95A7"/>
                </a:solidFill>
                <a:latin typeface="Calibri"/>
              </a:rPr>
              <a:t>Maintain a fully-documented modular pipeline: dataset → preprocessing → training → evaluation → explainability.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8B5CF6"/>
                </a:solidFill>
                <a:latin typeface="Calibri"/>
              </a:rPr>
              <a:t>04</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System Architecture</a:t>
            </a:r>
          </a:p>
        </p:txBody>
      </p:sp>
      <p:sp>
        <p:nvSpPr>
          <p:cNvPr id="5" name="Rectangle 4"/>
          <p:cNvSpPr/>
          <p:nvPr/>
        </p:nvSpPr>
        <p:spPr>
          <a:xfrm>
            <a:off x="274320" y="1161288"/>
            <a:ext cx="438912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508760"/>
            <a:ext cx="1554480" cy="14173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508760"/>
            <a:ext cx="155448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600200"/>
            <a:ext cx="1463040" cy="457200"/>
          </a:xfrm>
          <a:prstGeom prst="rect">
            <a:avLst/>
          </a:prstGeom>
          <a:noFill/>
        </p:spPr>
        <p:txBody>
          <a:bodyPr wrap="square">
            <a:spAutoFit/>
          </a:bodyPr>
          <a:lstStyle/>
          <a:p>
            <a:pPr algn="ctr"/>
            <a:r>
              <a:rPr sz="1100" b="1" i="0">
                <a:solidFill>
                  <a:srgbClr val="00E67A"/>
                </a:solidFill>
                <a:latin typeface="Calibri"/>
              </a:rPr>
              <a:t>📷 Input</a:t>
            </a:r>
          </a:p>
        </p:txBody>
      </p:sp>
      <p:sp>
        <p:nvSpPr>
          <p:cNvPr id="9" name="TextBox 8"/>
          <p:cNvSpPr txBox="1"/>
          <p:nvPr/>
        </p:nvSpPr>
        <p:spPr>
          <a:xfrm>
            <a:off x="274320" y="2103120"/>
            <a:ext cx="1463040" cy="731520"/>
          </a:xfrm>
          <a:prstGeom prst="rect">
            <a:avLst/>
          </a:prstGeom>
          <a:noFill/>
        </p:spPr>
        <p:txBody>
          <a:bodyPr wrap="square">
            <a:spAutoFit/>
          </a:bodyPr>
          <a:lstStyle/>
          <a:p>
            <a:pPr algn="ctr"/>
            <a:r>
              <a:rPr sz="1000" b="0" i="0">
                <a:solidFill>
                  <a:srgbClr val="8B95A7"/>
                </a:solidFill>
                <a:latin typeface="Calibri"/>
              </a:rPr>
              <a:t>Leaf Image
224×224 RGB</a:t>
            </a:r>
          </a:p>
        </p:txBody>
      </p:sp>
      <p:sp>
        <p:nvSpPr>
          <p:cNvPr id="10" name="TextBox 9"/>
          <p:cNvSpPr txBox="1"/>
          <p:nvPr/>
        </p:nvSpPr>
        <p:spPr>
          <a:xfrm>
            <a:off x="1801368" y="2107692"/>
            <a:ext cx="164592" cy="274320"/>
          </a:xfrm>
          <a:prstGeom prst="rect">
            <a:avLst/>
          </a:prstGeom>
          <a:noFill/>
        </p:spPr>
        <p:txBody>
          <a:bodyPr wrap="square">
            <a:spAutoFit/>
          </a:bodyPr>
          <a:lstStyle/>
          <a:p>
            <a:pPr algn="ctr"/>
            <a:r>
              <a:rPr sz="1400" b="0" i="0">
                <a:solidFill>
                  <a:srgbClr val="00E67A"/>
                </a:solidFill>
                <a:latin typeface="Calibri"/>
              </a:rPr>
              <a:t>→</a:t>
            </a:r>
          </a:p>
        </p:txBody>
      </p:sp>
      <p:sp>
        <p:nvSpPr>
          <p:cNvPr id="11" name="Rectangle 10"/>
          <p:cNvSpPr/>
          <p:nvPr/>
        </p:nvSpPr>
        <p:spPr>
          <a:xfrm>
            <a:off x="1947672" y="1508760"/>
            <a:ext cx="1554480" cy="14173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47672" y="1508760"/>
            <a:ext cx="155448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93392" y="1600200"/>
            <a:ext cx="1463040" cy="457200"/>
          </a:xfrm>
          <a:prstGeom prst="rect">
            <a:avLst/>
          </a:prstGeom>
          <a:noFill/>
        </p:spPr>
        <p:txBody>
          <a:bodyPr wrap="square">
            <a:spAutoFit/>
          </a:bodyPr>
          <a:lstStyle/>
          <a:p>
            <a:pPr algn="ctr"/>
            <a:r>
              <a:rPr sz="1100" b="1" i="0">
                <a:solidFill>
                  <a:srgbClr val="00C4CC"/>
                </a:solidFill>
                <a:latin typeface="Calibri"/>
              </a:rPr>
              <a:t>⚙️ Preprocess</a:t>
            </a:r>
          </a:p>
        </p:txBody>
      </p:sp>
      <p:sp>
        <p:nvSpPr>
          <p:cNvPr id="14" name="TextBox 13"/>
          <p:cNvSpPr txBox="1"/>
          <p:nvPr/>
        </p:nvSpPr>
        <p:spPr>
          <a:xfrm>
            <a:off x="1993392" y="2103120"/>
            <a:ext cx="1463040" cy="731520"/>
          </a:xfrm>
          <a:prstGeom prst="rect">
            <a:avLst/>
          </a:prstGeom>
          <a:noFill/>
        </p:spPr>
        <p:txBody>
          <a:bodyPr wrap="square">
            <a:spAutoFit/>
          </a:bodyPr>
          <a:lstStyle/>
          <a:p>
            <a:pPr algn="ctr"/>
            <a:r>
              <a:rPr sz="1000" b="0" i="0">
                <a:solidFill>
                  <a:srgbClr val="8B95A7"/>
                </a:solidFill>
                <a:latin typeface="Calibri"/>
              </a:rPr>
              <a:t>Resize·Norm
Augment</a:t>
            </a:r>
          </a:p>
        </p:txBody>
      </p:sp>
      <p:sp>
        <p:nvSpPr>
          <p:cNvPr id="15" name="TextBox 14"/>
          <p:cNvSpPr txBox="1"/>
          <p:nvPr/>
        </p:nvSpPr>
        <p:spPr>
          <a:xfrm>
            <a:off x="3520440" y="2107692"/>
            <a:ext cx="164592" cy="274320"/>
          </a:xfrm>
          <a:prstGeom prst="rect">
            <a:avLst/>
          </a:prstGeom>
          <a:noFill/>
        </p:spPr>
        <p:txBody>
          <a:bodyPr wrap="square">
            <a:spAutoFit/>
          </a:bodyPr>
          <a:lstStyle/>
          <a:p>
            <a:pPr algn="ctr"/>
            <a:r>
              <a:rPr sz="1400" b="0" i="0">
                <a:solidFill>
                  <a:srgbClr val="00E67A"/>
                </a:solidFill>
                <a:latin typeface="Calibri"/>
              </a:rPr>
              <a:t>→</a:t>
            </a:r>
          </a:p>
        </p:txBody>
      </p:sp>
      <p:sp>
        <p:nvSpPr>
          <p:cNvPr id="16" name="Rectangle 15"/>
          <p:cNvSpPr/>
          <p:nvPr/>
        </p:nvSpPr>
        <p:spPr>
          <a:xfrm>
            <a:off x="3666744" y="1508760"/>
            <a:ext cx="1554480" cy="14173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6744" y="1508760"/>
            <a:ext cx="155448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12464" y="1600200"/>
            <a:ext cx="1463040" cy="457200"/>
          </a:xfrm>
          <a:prstGeom prst="rect">
            <a:avLst/>
          </a:prstGeom>
          <a:noFill/>
        </p:spPr>
        <p:txBody>
          <a:bodyPr wrap="square">
            <a:spAutoFit/>
          </a:bodyPr>
          <a:lstStyle/>
          <a:p>
            <a:pPr algn="ctr"/>
            <a:r>
              <a:rPr sz="1100" b="1" i="0">
                <a:solidFill>
                  <a:srgbClr val="8B5CF6"/>
                </a:solidFill>
                <a:latin typeface="Calibri"/>
              </a:rPr>
              <a:t>🧠 EfficientNet</a:t>
            </a:r>
          </a:p>
        </p:txBody>
      </p:sp>
      <p:sp>
        <p:nvSpPr>
          <p:cNvPr id="19" name="TextBox 18"/>
          <p:cNvSpPr txBox="1"/>
          <p:nvPr/>
        </p:nvSpPr>
        <p:spPr>
          <a:xfrm>
            <a:off x="3712464" y="2103120"/>
            <a:ext cx="1463040" cy="731520"/>
          </a:xfrm>
          <a:prstGeom prst="rect">
            <a:avLst/>
          </a:prstGeom>
          <a:noFill/>
        </p:spPr>
        <p:txBody>
          <a:bodyPr wrap="square">
            <a:spAutoFit/>
          </a:bodyPr>
          <a:lstStyle/>
          <a:p>
            <a:pPr algn="ctr"/>
            <a:r>
              <a:rPr sz="1000" b="0" i="0">
                <a:solidFill>
                  <a:srgbClr val="8B95A7"/>
                </a:solidFill>
                <a:latin typeface="Calibri"/>
              </a:rPr>
              <a:t>5.3M Params
Transfer Learn</a:t>
            </a:r>
          </a:p>
        </p:txBody>
      </p:sp>
      <p:sp>
        <p:nvSpPr>
          <p:cNvPr id="20" name="TextBox 19"/>
          <p:cNvSpPr txBox="1"/>
          <p:nvPr/>
        </p:nvSpPr>
        <p:spPr>
          <a:xfrm>
            <a:off x="5239512" y="2107692"/>
            <a:ext cx="164592" cy="274320"/>
          </a:xfrm>
          <a:prstGeom prst="rect">
            <a:avLst/>
          </a:prstGeom>
          <a:noFill/>
        </p:spPr>
        <p:txBody>
          <a:bodyPr wrap="square">
            <a:spAutoFit/>
          </a:bodyPr>
          <a:lstStyle/>
          <a:p>
            <a:pPr algn="ctr"/>
            <a:r>
              <a:rPr sz="1400" b="0" i="0">
                <a:solidFill>
                  <a:srgbClr val="00E67A"/>
                </a:solidFill>
                <a:latin typeface="Calibri"/>
              </a:rPr>
              <a:t>→</a:t>
            </a:r>
          </a:p>
        </p:txBody>
      </p:sp>
      <p:sp>
        <p:nvSpPr>
          <p:cNvPr id="21" name="Rectangle 20"/>
          <p:cNvSpPr/>
          <p:nvPr/>
        </p:nvSpPr>
        <p:spPr>
          <a:xfrm>
            <a:off x="5385816" y="1508760"/>
            <a:ext cx="1554480" cy="14173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85816" y="1508760"/>
            <a:ext cx="155448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31536" y="1600200"/>
            <a:ext cx="1463040" cy="457200"/>
          </a:xfrm>
          <a:prstGeom prst="rect">
            <a:avLst/>
          </a:prstGeom>
          <a:noFill/>
        </p:spPr>
        <p:txBody>
          <a:bodyPr wrap="square">
            <a:spAutoFit/>
          </a:bodyPr>
          <a:lstStyle/>
          <a:p>
            <a:pPr algn="ctr"/>
            <a:r>
              <a:rPr sz="1100" b="1" i="0">
                <a:solidFill>
                  <a:srgbClr val="F59E0B"/>
                </a:solidFill>
                <a:latin typeface="Calibri"/>
              </a:rPr>
              <a:t>🔬 XAI Engine</a:t>
            </a:r>
          </a:p>
        </p:txBody>
      </p:sp>
      <p:sp>
        <p:nvSpPr>
          <p:cNvPr id="24" name="TextBox 23"/>
          <p:cNvSpPr txBox="1"/>
          <p:nvPr/>
        </p:nvSpPr>
        <p:spPr>
          <a:xfrm>
            <a:off x="5431536" y="2103120"/>
            <a:ext cx="1463040" cy="731520"/>
          </a:xfrm>
          <a:prstGeom prst="rect">
            <a:avLst/>
          </a:prstGeom>
          <a:noFill/>
        </p:spPr>
        <p:txBody>
          <a:bodyPr wrap="square">
            <a:spAutoFit/>
          </a:bodyPr>
          <a:lstStyle/>
          <a:p>
            <a:pPr algn="ctr"/>
            <a:r>
              <a:rPr sz="1000" b="0" i="0">
                <a:solidFill>
                  <a:srgbClr val="8B95A7"/>
                </a:solidFill>
                <a:latin typeface="Calibri"/>
              </a:rPr>
              <a:t>Grad-CAM
IG · SHAP</a:t>
            </a:r>
          </a:p>
        </p:txBody>
      </p:sp>
      <p:sp>
        <p:nvSpPr>
          <p:cNvPr id="25" name="TextBox 24"/>
          <p:cNvSpPr txBox="1"/>
          <p:nvPr/>
        </p:nvSpPr>
        <p:spPr>
          <a:xfrm>
            <a:off x="6958584" y="2107692"/>
            <a:ext cx="164592" cy="274320"/>
          </a:xfrm>
          <a:prstGeom prst="rect">
            <a:avLst/>
          </a:prstGeom>
          <a:noFill/>
        </p:spPr>
        <p:txBody>
          <a:bodyPr wrap="square">
            <a:spAutoFit/>
          </a:bodyPr>
          <a:lstStyle/>
          <a:p>
            <a:pPr algn="ctr"/>
            <a:r>
              <a:rPr sz="1400" b="0" i="0">
                <a:solidFill>
                  <a:srgbClr val="00E67A"/>
                </a:solidFill>
                <a:latin typeface="Calibri"/>
              </a:rPr>
              <a:t>→</a:t>
            </a:r>
          </a:p>
        </p:txBody>
      </p:sp>
      <p:sp>
        <p:nvSpPr>
          <p:cNvPr id="26" name="Rectangle 25"/>
          <p:cNvSpPr/>
          <p:nvPr/>
        </p:nvSpPr>
        <p:spPr>
          <a:xfrm>
            <a:off x="7104888" y="1508760"/>
            <a:ext cx="1554480" cy="14173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104888" y="1508760"/>
            <a:ext cx="1554480" cy="3175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50608" y="1600200"/>
            <a:ext cx="1463040" cy="457200"/>
          </a:xfrm>
          <a:prstGeom prst="rect">
            <a:avLst/>
          </a:prstGeom>
          <a:noFill/>
        </p:spPr>
        <p:txBody>
          <a:bodyPr wrap="square">
            <a:spAutoFit/>
          </a:bodyPr>
          <a:lstStyle/>
          <a:p>
            <a:pPr algn="ctr"/>
            <a:r>
              <a:rPr sz="1100" b="1" i="0">
                <a:solidFill>
                  <a:srgbClr val="EC4899"/>
                </a:solidFill>
                <a:latin typeface="Calibri"/>
              </a:rPr>
              <a:t>🤖 Groq LLM</a:t>
            </a:r>
          </a:p>
        </p:txBody>
      </p:sp>
      <p:sp>
        <p:nvSpPr>
          <p:cNvPr id="29" name="TextBox 28"/>
          <p:cNvSpPr txBox="1"/>
          <p:nvPr/>
        </p:nvSpPr>
        <p:spPr>
          <a:xfrm>
            <a:off x="7150608" y="2103120"/>
            <a:ext cx="1463040" cy="731520"/>
          </a:xfrm>
          <a:prstGeom prst="rect">
            <a:avLst/>
          </a:prstGeom>
          <a:noFill/>
        </p:spPr>
        <p:txBody>
          <a:bodyPr wrap="square">
            <a:spAutoFit/>
          </a:bodyPr>
          <a:lstStyle/>
          <a:p>
            <a:pPr algn="ctr"/>
            <a:r>
              <a:rPr sz="1000" b="0" i="0">
                <a:solidFill>
                  <a:srgbClr val="8B95A7"/>
                </a:solidFill>
                <a:latin typeface="Calibri"/>
              </a:rPr>
              <a:t>NL Report
Treatment</a:t>
            </a:r>
          </a:p>
        </p:txBody>
      </p:sp>
      <p:sp>
        <p:nvSpPr>
          <p:cNvPr id="30" name="TextBox 29"/>
          <p:cNvSpPr txBox="1"/>
          <p:nvPr/>
        </p:nvSpPr>
        <p:spPr>
          <a:xfrm>
            <a:off x="8677656" y="2107692"/>
            <a:ext cx="164592" cy="274320"/>
          </a:xfrm>
          <a:prstGeom prst="rect">
            <a:avLst/>
          </a:prstGeom>
          <a:noFill/>
        </p:spPr>
        <p:txBody>
          <a:bodyPr wrap="square">
            <a:spAutoFit/>
          </a:bodyPr>
          <a:lstStyle/>
          <a:p>
            <a:pPr algn="ctr"/>
            <a:r>
              <a:rPr sz="1400" b="0" i="0">
                <a:solidFill>
                  <a:srgbClr val="00E67A"/>
                </a:solidFill>
                <a:latin typeface="Calibri"/>
              </a:rPr>
              <a:t>→</a:t>
            </a:r>
          </a:p>
        </p:txBody>
      </p:sp>
      <p:sp>
        <p:nvSpPr>
          <p:cNvPr id="31" name="Rectangle 30"/>
          <p:cNvSpPr/>
          <p:nvPr/>
        </p:nvSpPr>
        <p:spPr>
          <a:xfrm>
            <a:off x="8823960" y="1508760"/>
            <a:ext cx="1554480" cy="14173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23960" y="1508760"/>
            <a:ext cx="155448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69680" y="1600200"/>
            <a:ext cx="1463040" cy="457200"/>
          </a:xfrm>
          <a:prstGeom prst="rect">
            <a:avLst/>
          </a:prstGeom>
          <a:noFill/>
        </p:spPr>
        <p:txBody>
          <a:bodyPr wrap="square">
            <a:spAutoFit/>
          </a:bodyPr>
          <a:lstStyle/>
          <a:p>
            <a:pPr algn="ctr"/>
            <a:r>
              <a:rPr sz="1100" b="1" i="0">
                <a:solidFill>
                  <a:srgbClr val="00C4CC"/>
                </a:solidFill>
                <a:latin typeface="Calibri"/>
              </a:rPr>
              <a:t>🌐 FastAPI</a:t>
            </a:r>
          </a:p>
        </p:txBody>
      </p:sp>
      <p:sp>
        <p:nvSpPr>
          <p:cNvPr id="34" name="TextBox 33"/>
          <p:cNvSpPr txBox="1"/>
          <p:nvPr/>
        </p:nvSpPr>
        <p:spPr>
          <a:xfrm>
            <a:off x="8869680" y="2103120"/>
            <a:ext cx="1463040" cy="731520"/>
          </a:xfrm>
          <a:prstGeom prst="rect">
            <a:avLst/>
          </a:prstGeom>
          <a:noFill/>
        </p:spPr>
        <p:txBody>
          <a:bodyPr wrap="square">
            <a:spAutoFit/>
          </a:bodyPr>
          <a:lstStyle/>
          <a:p>
            <a:pPr algn="ctr"/>
            <a:r>
              <a:rPr sz="1000" b="0" i="0">
                <a:solidFill>
                  <a:srgbClr val="8B95A7"/>
                </a:solidFill>
                <a:latin typeface="Calibri"/>
              </a:rPr>
              <a:t>REST API
ONNX/Pydantic</a:t>
            </a:r>
          </a:p>
        </p:txBody>
      </p:sp>
      <p:sp>
        <p:nvSpPr>
          <p:cNvPr id="35" name="TextBox 34"/>
          <p:cNvSpPr txBox="1"/>
          <p:nvPr/>
        </p:nvSpPr>
        <p:spPr>
          <a:xfrm>
            <a:off x="10396728" y="2107692"/>
            <a:ext cx="164592" cy="274320"/>
          </a:xfrm>
          <a:prstGeom prst="rect">
            <a:avLst/>
          </a:prstGeom>
          <a:noFill/>
        </p:spPr>
        <p:txBody>
          <a:bodyPr wrap="square">
            <a:spAutoFit/>
          </a:bodyPr>
          <a:lstStyle/>
          <a:p>
            <a:pPr algn="ctr"/>
            <a:r>
              <a:rPr sz="1400" b="0" i="0">
                <a:solidFill>
                  <a:srgbClr val="00E67A"/>
                </a:solidFill>
                <a:latin typeface="Calibri"/>
              </a:rPr>
              <a:t>→</a:t>
            </a:r>
          </a:p>
        </p:txBody>
      </p:sp>
      <p:sp>
        <p:nvSpPr>
          <p:cNvPr id="36" name="Rectangle 35"/>
          <p:cNvSpPr/>
          <p:nvPr/>
        </p:nvSpPr>
        <p:spPr>
          <a:xfrm>
            <a:off x="10543032" y="1508760"/>
            <a:ext cx="1554480" cy="14173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543032" y="1508760"/>
            <a:ext cx="1554480" cy="31750"/>
          </a:xfrm>
          <a:prstGeom prst="rect">
            <a:avLst/>
          </a:prstGeom>
          <a:solidFill>
            <a:srgbClr val="61D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588752" y="1600200"/>
            <a:ext cx="1463040" cy="457200"/>
          </a:xfrm>
          <a:prstGeom prst="rect">
            <a:avLst/>
          </a:prstGeom>
          <a:noFill/>
        </p:spPr>
        <p:txBody>
          <a:bodyPr wrap="square">
            <a:spAutoFit/>
          </a:bodyPr>
          <a:lstStyle/>
          <a:p>
            <a:pPr algn="ctr"/>
            <a:r>
              <a:rPr sz="1100" b="1" i="0">
                <a:solidFill>
                  <a:srgbClr val="61DBFB"/>
                </a:solidFill>
                <a:latin typeface="Calibri"/>
              </a:rPr>
              <a:t>💻 Frontend</a:t>
            </a:r>
          </a:p>
        </p:txBody>
      </p:sp>
      <p:sp>
        <p:nvSpPr>
          <p:cNvPr id="39" name="TextBox 38"/>
          <p:cNvSpPr txBox="1"/>
          <p:nvPr/>
        </p:nvSpPr>
        <p:spPr>
          <a:xfrm>
            <a:off x="10588752" y="2103120"/>
            <a:ext cx="1463040" cy="731520"/>
          </a:xfrm>
          <a:prstGeom prst="rect">
            <a:avLst/>
          </a:prstGeom>
          <a:noFill/>
        </p:spPr>
        <p:txBody>
          <a:bodyPr wrap="square">
            <a:spAutoFit/>
          </a:bodyPr>
          <a:lstStyle/>
          <a:p>
            <a:pPr algn="ctr"/>
            <a:r>
              <a:rPr sz="1000" b="0" i="0">
                <a:solidFill>
                  <a:srgbClr val="8B95A7"/>
                </a:solidFill>
                <a:latin typeface="Calibri"/>
              </a:rPr>
              <a:t>React+Vite
SaaS UI</a:t>
            </a:r>
          </a:p>
        </p:txBody>
      </p:sp>
      <p:sp>
        <p:nvSpPr>
          <p:cNvPr id="40" name="TextBox 39"/>
          <p:cNvSpPr txBox="1"/>
          <p:nvPr/>
        </p:nvSpPr>
        <p:spPr>
          <a:xfrm>
            <a:off x="274320" y="3090672"/>
            <a:ext cx="5486400" cy="347472"/>
          </a:xfrm>
          <a:prstGeom prst="rect">
            <a:avLst/>
          </a:prstGeom>
          <a:noFill/>
        </p:spPr>
        <p:txBody>
          <a:bodyPr wrap="square">
            <a:spAutoFit/>
          </a:bodyPr>
          <a:lstStyle/>
          <a:p>
            <a:pPr algn="l"/>
            <a:r>
              <a:rPr sz="1500" b="1" i="0">
                <a:solidFill>
                  <a:srgbClr val="F0F4F8"/>
                </a:solidFill>
                <a:latin typeface="Calibri"/>
              </a:rPr>
              <a:t>Module Breakdown</a:t>
            </a:r>
          </a:p>
        </p:txBody>
      </p:sp>
      <p:sp>
        <p:nvSpPr>
          <p:cNvPr id="41" name="Rectangle 40"/>
          <p:cNvSpPr/>
          <p:nvPr/>
        </p:nvSpPr>
        <p:spPr>
          <a:xfrm>
            <a:off x="274320" y="3493008"/>
            <a:ext cx="11640312" cy="31750"/>
          </a:xfrm>
          <a:prstGeom prst="rect">
            <a:avLst/>
          </a:prstGeom>
          <a:solidFill>
            <a:srgbClr val="8B95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74320" y="3584448"/>
            <a:ext cx="3657600" cy="65836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47472" y="3621024"/>
            <a:ext cx="3474720" cy="274320"/>
          </a:xfrm>
          <a:prstGeom prst="rect">
            <a:avLst/>
          </a:prstGeom>
          <a:noFill/>
        </p:spPr>
        <p:txBody>
          <a:bodyPr wrap="square">
            <a:spAutoFit/>
          </a:bodyPr>
          <a:lstStyle/>
          <a:p>
            <a:pPr algn="l"/>
            <a:r>
              <a:rPr sz="1100" b="1" i="0">
                <a:solidFill>
                  <a:srgbClr val="00C4CC"/>
                </a:solidFill>
                <a:latin typeface="Calibri"/>
              </a:rPr>
              <a:t>data/</a:t>
            </a:r>
          </a:p>
        </p:txBody>
      </p:sp>
      <p:sp>
        <p:nvSpPr>
          <p:cNvPr id="44" name="TextBox 43"/>
          <p:cNvSpPr txBox="1"/>
          <p:nvPr/>
        </p:nvSpPr>
        <p:spPr>
          <a:xfrm>
            <a:off x="347472" y="3913632"/>
            <a:ext cx="3474720" cy="274320"/>
          </a:xfrm>
          <a:prstGeom prst="rect">
            <a:avLst/>
          </a:prstGeom>
          <a:noFill/>
        </p:spPr>
        <p:txBody>
          <a:bodyPr wrap="square">
            <a:spAutoFit/>
          </a:bodyPr>
          <a:lstStyle/>
          <a:p>
            <a:pPr algn="l"/>
            <a:r>
              <a:rPr sz="900" b="0" i="0">
                <a:solidFill>
                  <a:srgbClr val="8B95A7"/>
                </a:solidFill>
                <a:latin typeface="Calibri"/>
              </a:rPr>
              <a:t>Dataset loader, train/val/test splits, class mappings</a:t>
            </a:r>
          </a:p>
        </p:txBody>
      </p:sp>
      <p:sp>
        <p:nvSpPr>
          <p:cNvPr id="45" name="Rectangle 44"/>
          <p:cNvSpPr/>
          <p:nvPr/>
        </p:nvSpPr>
        <p:spPr>
          <a:xfrm>
            <a:off x="274320" y="4352544"/>
            <a:ext cx="3657600" cy="65836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7472" y="4389120"/>
            <a:ext cx="3474720" cy="274320"/>
          </a:xfrm>
          <a:prstGeom prst="rect">
            <a:avLst/>
          </a:prstGeom>
          <a:noFill/>
        </p:spPr>
        <p:txBody>
          <a:bodyPr wrap="square">
            <a:spAutoFit/>
          </a:bodyPr>
          <a:lstStyle/>
          <a:p>
            <a:pPr algn="l"/>
            <a:r>
              <a:rPr sz="1100" b="1" i="0">
                <a:solidFill>
                  <a:srgbClr val="00C4CC"/>
                </a:solidFill>
                <a:latin typeface="Calibri"/>
              </a:rPr>
              <a:t>preprocessing/</a:t>
            </a:r>
          </a:p>
        </p:txBody>
      </p:sp>
      <p:sp>
        <p:nvSpPr>
          <p:cNvPr id="47" name="TextBox 46"/>
          <p:cNvSpPr txBox="1"/>
          <p:nvPr/>
        </p:nvSpPr>
        <p:spPr>
          <a:xfrm>
            <a:off x="347472" y="4681728"/>
            <a:ext cx="3474720" cy="274320"/>
          </a:xfrm>
          <a:prstGeom prst="rect">
            <a:avLst/>
          </a:prstGeom>
          <a:noFill/>
        </p:spPr>
        <p:txBody>
          <a:bodyPr wrap="square">
            <a:spAutoFit/>
          </a:bodyPr>
          <a:lstStyle/>
          <a:p>
            <a:pPr algn="l"/>
            <a:r>
              <a:rPr sz="900" b="0" i="0">
                <a:solidFill>
                  <a:srgbClr val="8B95A7"/>
                </a:solidFill>
                <a:latin typeface="Calibri"/>
              </a:rPr>
              <a:t>Image transforms, normalization, augmentation pipeline</a:t>
            </a:r>
          </a:p>
        </p:txBody>
      </p:sp>
      <p:sp>
        <p:nvSpPr>
          <p:cNvPr id="48" name="Rectangle 47"/>
          <p:cNvSpPr/>
          <p:nvPr/>
        </p:nvSpPr>
        <p:spPr>
          <a:xfrm>
            <a:off x="274320" y="5120640"/>
            <a:ext cx="3657600" cy="65836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7472" y="5157216"/>
            <a:ext cx="3474720" cy="274320"/>
          </a:xfrm>
          <a:prstGeom prst="rect">
            <a:avLst/>
          </a:prstGeom>
          <a:noFill/>
        </p:spPr>
        <p:txBody>
          <a:bodyPr wrap="square">
            <a:spAutoFit/>
          </a:bodyPr>
          <a:lstStyle/>
          <a:p>
            <a:pPr algn="l"/>
            <a:r>
              <a:rPr sz="1100" b="1" i="0">
                <a:solidFill>
                  <a:srgbClr val="00C4CC"/>
                </a:solidFill>
                <a:latin typeface="Calibri"/>
              </a:rPr>
              <a:t>models/</a:t>
            </a:r>
          </a:p>
        </p:txBody>
      </p:sp>
      <p:sp>
        <p:nvSpPr>
          <p:cNvPr id="50" name="TextBox 49"/>
          <p:cNvSpPr txBox="1"/>
          <p:nvPr/>
        </p:nvSpPr>
        <p:spPr>
          <a:xfrm>
            <a:off x="347472" y="5449824"/>
            <a:ext cx="3474720" cy="274320"/>
          </a:xfrm>
          <a:prstGeom prst="rect">
            <a:avLst/>
          </a:prstGeom>
          <a:noFill/>
        </p:spPr>
        <p:txBody>
          <a:bodyPr wrap="square">
            <a:spAutoFit/>
          </a:bodyPr>
          <a:lstStyle/>
          <a:p>
            <a:pPr algn="l"/>
            <a:r>
              <a:rPr sz="900" b="0" i="0">
                <a:solidFill>
                  <a:srgbClr val="8B95A7"/>
                </a:solidFill>
                <a:latin typeface="Calibri"/>
              </a:rPr>
              <a:t>EfficientNet-B0 definition, ONNX export, class_names.json</a:t>
            </a:r>
          </a:p>
        </p:txBody>
      </p:sp>
      <p:sp>
        <p:nvSpPr>
          <p:cNvPr id="51" name="Rectangle 50"/>
          <p:cNvSpPr/>
          <p:nvPr/>
        </p:nvSpPr>
        <p:spPr>
          <a:xfrm>
            <a:off x="4160520" y="3584448"/>
            <a:ext cx="3657600" cy="65836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233672" y="3621024"/>
            <a:ext cx="3474720" cy="274320"/>
          </a:xfrm>
          <a:prstGeom prst="rect">
            <a:avLst/>
          </a:prstGeom>
          <a:noFill/>
        </p:spPr>
        <p:txBody>
          <a:bodyPr wrap="square">
            <a:spAutoFit/>
          </a:bodyPr>
          <a:lstStyle/>
          <a:p>
            <a:pPr algn="l"/>
            <a:r>
              <a:rPr sz="1100" b="1" i="0">
                <a:solidFill>
                  <a:srgbClr val="00C4CC"/>
                </a:solidFill>
                <a:latin typeface="Calibri"/>
              </a:rPr>
              <a:t>training/</a:t>
            </a:r>
          </a:p>
        </p:txBody>
      </p:sp>
      <p:sp>
        <p:nvSpPr>
          <p:cNvPr id="53" name="TextBox 52"/>
          <p:cNvSpPr txBox="1"/>
          <p:nvPr/>
        </p:nvSpPr>
        <p:spPr>
          <a:xfrm>
            <a:off x="4233672" y="3913632"/>
            <a:ext cx="3474720" cy="274320"/>
          </a:xfrm>
          <a:prstGeom prst="rect">
            <a:avLst/>
          </a:prstGeom>
          <a:noFill/>
        </p:spPr>
        <p:txBody>
          <a:bodyPr wrap="square">
            <a:spAutoFit/>
          </a:bodyPr>
          <a:lstStyle/>
          <a:p>
            <a:pPr algn="l"/>
            <a:r>
              <a:rPr sz="900" b="0" i="0">
                <a:solidFill>
                  <a:srgbClr val="8B95A7"/>
                </a:solidFill>
                <a:latin typeface="Calibri"/>
              </a:rPr>
              <a:t>Training loop, LR scheduler, checkpoint manager</a:t>
            </a:r>
          </a:p>
        </p:txBody>
      </p:sp>
      <p:sp>
        <p:nvSpPr>
          <p:cNvPr id="54" name="Rectangle 53"/>
          <p:cNvSpPr/>
          <p:nvPr/>
        </p:nvSpPr>
        <p:spPr>
          <a:xfrm>
            <a:off x="4160520" y="4352544"/>
            <a:ext cx="3657600" cy="65836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33672" y="4389120"/>
            <a:ext cx="3474720" cy="274320"/>
          </a:xfrm>
          <a:prstGeom prst="rect">
            <a:avLst/>
          </a:prstGeom>
          <a:noFill/>
        </p:spPr>
        <p:txBody>
          <a:bodyPr wrap="square">
            <a:spAutoFit/>
          </a:bodyPr>
          <a:lstStyle/>
          <a:p>
            <a:pPr algn="l"/>
            <a:r>
              <a:rPr sz="1100" b="1" i="0">
                <a:solidFill>
                  <a:srgbClr val="00C4CC"/>
                </a:solidFill>
                <a:latin typeface="Calibri"/>
              </a:rPr>
              <a:t>evaluation/</a:t>
            </a:r>
          </a:p>
        </p:txBody>
      </p:sp>
      <p:sp>
        <p:nvSpPr>
          <p:cNvPr id="56" name="TextBox 55"/>
          <p:cNvSpPr txBox="1"/>
          <p:nvPr/>
        </p:nvSpPr>
        <p:spPr>
          <a:xfrm>
            <a:off x="4233672" y="4681728"/>
            <a:ext cx="3474720" cy="274320"/>
          </a:xfrm>
          <a:prstGeom prst="rect">
            <a:avLst/>
          </a:prstGeom>
          <a:noFill/>
        </p:spPr>
        <p:txBody>
          <a:bodyPr wrap="square">
            <a:spAutoFit/>
          </a:bodyPr>
          <a:lstStyle/>
          <a:p>
            <a:pPr algn="l"/>
            <a:r>
              <a:rPr sz="900" b="0" i="0">
                <a:solidFill>
                  <a:srgbClr val="8B95A7"/>
                </a:solidFill>
                <a:latin typeface="Calibri"/>
              </a:rPr>
              <a:t>Metrics evaluator, confusion matrix, classification report</a:t>
            </a:r>
          </a:p>
        </p:txBody>
      </p:sp>
      <p:sp>
        <p:nvSpPr>
          <p:cNvPr id="57" name="Rectangle 56"/>
          <p:cNvSpPr/>
          <p:nvPr/>
        </p:nvSpPr>
        <p:spPr>
          <a:xfrm>
            <a:off x="4160520" y="5120640"/>
            <a:ext cx="3657600" cy="65836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233672" y="5157216"/>
            <a:ext cx="3474720" cy="274320"/>
          </a:xfrm>
          <a:prstGeom prst="rect">
            <a:avLst/>
          </a:prstGeom>
          <a:noFill/>
        </p:spPr>
        <p:txBody>
          <a:bodyPr wrap="square">
            <a:spAutoFit/>
          </a:bodyPr>
          <a:lstStyle/>
          <a:p>
            <a:pPr algn="l"/>
            <a:r>
              <a:rPr sz="1100" b="1" i="0">
                <a:solidFill>
                  <a:srgbClr val="00C4CC"/>
                </a:solidFill>
                <a:latin typeface="Calibri"/>
              </a:rPr>
              <a:t>explainability/</a:t>
            </a:r>
          </a:p>
        </p:txBody>
      </p:sp>
      <p:sp>
        <p:nvSpPr>
          <p:cNvPr id="59" name="TextBox 58"/>
          <p:cNvSpPr txBox="1"/>
          <p:nvPr/>
        </p:nvSpPr>
        <p:spPr>
          <a:xfrm>
            <a:off x="4233672" y="5449824"/>
            <a:ext cx="3474720" cy="274320"/>
          </a:xfrm>
          <a:prstGeom prst="rect">
            <a:avLst/>
          </a:prstGeom>
          <a:noFill/>
        </p:spPr>
        <p:txBody>
          <a:bodyPr wrap="square">
            <a:spAutoFit/>
          </a:bodyPr>
          <a:lstStyle/>
          <a:p>
            <a:pPr algn="l"/>
            <a:r>
              <a:rPr sz="900" b="0" i="0">
                <a:solidFill>
                  <a:srgbClr val="8B95A7"/>
                </a:solidFill>
                <a:latin typeface="Calibri"/>
              </a:rPr>
              <a:t>Grad-CAM, Integrated Gradients, SHAP, Visualizer</a:t>
            </a:r>
          </a:p>
        </p:txBody>
      </p:sp>
      <p:sp>
        <p:nvSpPr>
          <p:cNvPr id="60" name="Rectangle 59"/>
          <p:cNvSpPr/>
          <p:nvPr/>
        </p:nvSpPr>
        <p:spPr>
          <a:xfrm>
            <a:off x="8065008" y="3584448"/>
            <a:ext cx="3657600" cy="65836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38160" y="3621024"/>
            <a:ext cx="3474720" cy="274320"/>
          </a:xfrm>
          <a:prstGeom prst="rect">
            <a:avLst/>
          </a:prstGeom>
          <a:noFill/>
        </p:spPr>
        <p:txBody>
          <a:bodyPr wrap="square">
            <a:spAutoFit/>
          </a:bodyPr>
          <a:lstStyle/>
          <a:p>
            <a:pPr algn="l"/>
            <a:r>
              <a:rPr sz="1100" b="1" i="0">
                <a:solidFill>
                  <a:srgbClr val="00C4CC"/>
                </a:solidFill>
                <a:latin typeface="Calibri"/>
              </a:rPr>
              <a:t>api/</a:t>
            </a:r>
          </a:p>
        </p:txBody>
      </p:sp>
      <p:sp>
        <p:nvSpPr>
          <p:cNvPr id="62" name="TextBox 61"/>
          <p:cNvSpPr txBox="1"/>
          <p:nvPr/>
        </p:nvSpPr>
        <p:spPr>
          <a:xfrm>
            <a:off x="8138160" y="3913632"/>
            <a:ext cx="3474720" cy="274320"/>
          </a:xfrm>
          <a:prstGeom prst="rect">
            <a:avLst/>
          </a:prstGeom>
          <a:noFill/>
        </p:spPr>
        <p:txBody>
          <a:bodyPr wrap="square">
            <a:spAutoFit/>
          </a:bodyPr>
          <a:lstStyle/>
          <a:p>
            <a:pPr algn="l"/>
            <a:r>
              <a:rPr sz="900" b="0" i="0">
                <a:solidFill>
                  <a:srgbClr val="8B95A7"/>
                </a:solidFill>
                <a:latin typeface="Calibri"/>
              </a:rPr>
              <a:t>FastAPI routes, Pydantic request/response schemas</a:t>
            </a:r>
          </a:p>
        </p:txBody>
      </p:sp>
      <p:sp>
        <p:nvSpPr>
          <p:cNvPr id="63" name="Rectangle 62"/>
          <p:cNvSpPr/>
          <p:nvPr/>
        </p:nvSpPr>
        <p:spPr>
          <a:xfrm>
            <a:off x="8065008" y="4352544"/>
            <a:ext cx="3657600" cy="65836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138160" y="4389120"/>
            <a:ext cx="3474720" cy="274320"/>
          </a:xfrm>
          <a:prstGeom prst="rect">
            <a:avLst/>
          </a:prstGeom>
          <a:noFill/>
        </p:spPr>
        <p:txBody>
          <a:bodyPr wrap="square">
            <a:spAutoFit/>
          </a:bodyPr>
          <a:lstStyle/>
          <a:p>
            <a:pPr algn="l"/>
            <a:r>
              <a:rPr sz="1100" b="1" i="0">
                <a:solidFill>
                  <a:srgbClr val="00C4CC"/>
                </a:solidFill>
                <a:latin typeface="Calibri"/>
              </a:rPr>
              <a:t>app/</a:t>
            </a:r>
          </a:p>
        </p:txBody>
      </p:sp>
      <p:sp>
        <p:nvSpPr>
          <p:cNvPr id="65" name="TextBox 64"/>
          <p:cNvSpPr txBox="1"/>
          <p:nvPr/>
        </p:nvSpPr>
        <p:spPr>
          <a:xfrm>
            <a:off x="8138160" y="4681728"/>
            <a:ext cx="3474720" cy="274320"/>
          </a:xfrm>
          <a:prstGeom prst="rect">
            <a:avLst/>
          </a:prstGeom>
          <a:noFill/>
        </p:spPr>
        <p:txBody>
          <a:bodyPr wrap="square">
            <a:spAutoFit/>
          </a:bodyPr>
          <a:lstStyle/>
          <a:p>
            <a:pPr algn="l"/>
            <a:r>
              <a:rPr sz="900" b="0" i="0">
                <a:solidFill>
                  <a:srgbClr val="8B95A7"/>
                </a:solidFill>
                <a:latin typeface="Calibri"/>
              </a:rPr>
              <a:t>Main FastAPI app, Groq LLM explainer service</a:t>
            </a:r>
          </a:p>
        </p:txBody>
      </p:sp>
      <p:sp>
        <p:nvSpPr>
          <p:cNvPr id="66" name="Rectangle 65"/>
          <p:cNvSpPr/>
          <p:nvPr/>
        </p:nvSpPr>
        <p:spPr>
          <a:xfrm>
            <a:off x="8065008" y="5120640"/>
            <a:ext cx="3657600" cy="65836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138160" y="5157216"/>
            <a:ext cx="3474720" cy="274320"/>
          </a:xfrm>
          <a:prstGeom prst="rect">
            <a:avLst/>
          </a:prstGeom>
          <a:noFill/>
        </p:spPr>
        <p:txBody>
          <a:bodyPr wrap="square">
            <a:spAutoFit/>
          </a:bodyPr>
          <a:lstStyle/>
          <a:p>
            <a:pPr algn="l"/>
            <a:r>
              <a:rPr sz="1100" b="1" i="0">
                <a:solidFill>
                  <a:srgbClr val="00C4CC"/>
                </a:solidFill>
                <a:latin typeface="Calibri"/>
              </a:rPr>
              <a:t>frontend/</a:t>
            </a:r>
          </a:p>
        </p:txBody>
      </p:sp>
      <p:sp>
        <p:nvSpPr>
          <p:cNvPr id="68" name="TextBox 67"/>
          <p:cNvSpPr txBox="1"/>
          <p:nvPr/>
        </p:nvSpPr>
        <p:spPr>
          <a:xfrm>
            <a:off x="8138160" y="5449824"/>
            <a:ext cx="3474720" cy="274320"/>
          </a:xfrm>
          <a:prstGeom prst="rect">
            <a:avLst/>
          </a:prstGeom>
          <a:noFill/>
        </p:spPr>
        <p:txBody>
          <a:bodyPr wrap="square">
            <a:spAutoFit/>
          </a:bodyPr>
          <a:lstStyle/>
          <a:p>
            <a:pPr algn="l"/>
            <a:r>
              <a:rPr sz="900" b="0" i="0">
                <a:solidFill>
                  <a:srgbClr val="8B95A7"/>
                </a:solidFill>
                <a:latin typeface="Calibri"/>
              </a:rPr>
              <a:t>React + Vite TypeScript SaaS UI (Home, Analyze, Model pages)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F59E0B"/>
                </a:solidFill>
                <a:latin typeface="Calibri"/>
              </a:rPr>
              <a:t>05</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Dataset &amp; Training Pipeline</a:t>
            </a:r>
          </a:p>
        </p:txBody>
      </p:sp>
      <p:sp>
        <p:nvSpPr>
          <p:cNvPr id="5" name="Rectangle 4"/>
          <p:cNvSpPr/>
          <p:nvPr/>
        </p:nvSpPr>
        <p:spPr>
          <a:xfrm>
            <a:off x="274320" y="1161288"/>
            <a:ext cx="438912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2560320" cy="11430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256032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72768"/>
            <a:ext cx="2560320" cy="594360"/>
          </a:xfrm>
          <a:prstGeom prst="rect">
            <a:avLst/>
          </a:prstGeom>
          <a:noFill/>
        </p:spPr>
        <p:txBody>
          <a:bodyPr wrap="square">
            <a:spAutoFit/>
          </a:bodyPr>
          <a:lstStyle/>
          <a:p>
            <a:pPr algn="ctr"/>
            <a:r>
              <a:rPr sz="2800" b="1" i="0">
                <a:solidFill>
                  <a:srgbClr val="00E67A"/>
                </a:solidFill>
                <a:latin typeface="Calibri"/>
              </a:rPr>
              <a:t>54,303</a:t>
            </a:r>
          </a:p>
        </p:txBody>
      </p:sp>
      <p:sp>
        <p:nvSpPr>
          <p:cNvPr id="9" name="TextBox 8"/>
          <p:cNvSpPr txBox="1"/>
          <p:nvPr/>
        </p:nvSpPr>
        <p:spPr>
          <a:xfrm>
            <a:off x="274320" y="2148840"/>
            <a:ext cx="2560320" cy="347472"/>
          </a:xfrm>
          <a:prstGeom prst="rect">
            <a:avLst/>
          </a:prstGeom>
          <a:noFill/>
        </p:spPr>
        <p:txBody>
          <a:bodyPr wrap="square">
            <a:spAutoFit/>
          </a:bodyPr>
          <a:lstStyle/>
          <a:p>
            <a:pPr algn="ctr"/>
            <a:r>
              <a:rPr sz="1100" b="0" i="0">
                <a:solidFill>
                  <a:srgbClr val="8B95A7"/>
                </a:solidFill>
                <a:latin typeface="Calibri"/>
              </a:rPr>
              <a:t>Total Leaf Images</a:t>
            </a:r>
          </a:p>
        </p:txBody>
      </p:sp>
      <p:sp>
        <p:nvSpPr>
          <p:cNvPr id="10" name="Rectangle 9"/>
          <p:cNvSpPr/>
          <p:nvPr/>
        </p:nvSpPr>
        <p:spPr>
          <a:xfrm>
            <a:off x="3017520" y="1463040"/>
            <a:ext cx="2560320" cy="11430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17520" y="1463040"/>
            <a:ext cx="256032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1572768"/>
            <a:ext cx="2560320" cy="594360"/>
          </a:xfrm>
          <a:prstGeom prst="rect">
            <a:avLst/>
          </a:prstGeom>
          <a:noFill/>
        </p:spPr>
        <p:txBody>
          <a:bodyPr wrap="square">
            <a:spAutoFit/>
          </a:bodyPr>
          <a:lstStyle/>
          <a:p>
            <a:pPr algn="ctr"/>
            <a:r>
              <a:rPr sz="2800" b="1" i="0">
                <a:solidFill>
                  <a:srgbClr val="00C4CC"/>
                </a:solidFill>
                <a:latin typeface="Calibri"/>
              </a:rPr>
              <a:t>15</a:t>
            </a:r>
          </a:p>
        </p:txBody>
      </p:sp>
      <p:sp>
        <p:nvSpPr>
          <p:cNvPr id="13" name="TextBox 12"/>
          <p:cNvSpPr txBox="1"/>
          <p:nvPr/>
        </p:nvSpPr>
        <p:spPr>
          <a:xfrm>
            <a:off x="3017520" y="2148840"/>
            <a:ext cx="2560320" cy="347472"/>
          </a:xfrm>
          <a:prstGeom prst="rect">
            <a:avLst/>
          </a:prstGeom>
          <a:noFill/>
        </p:spPr>
        <p:txBody>
          <a:bodyPr wrap="square">
            <a:spAutoFit/>
          </a:bodyPr>
          <a:lstStyle/>
          <a:p>
            <a:pPr algn="ctr"/>
            <a:r>
              <a:rPr sz="1100" b="0" i="0">
                <a:solidFill>
                  <a:srgbClr val="8B95A7"/>
                </a:solidFill>
                <a:latin typeface="Calibri"/>
              </a:rPr>
              <a:t>Disease Classes</a:t>
            </a:r>
          </a:p>
        </p:txBody>
      </p:sp>
      <p:sp>
        <p:nvSpPr>
          <p:cNvPr id="14" name="Rectangle 13"/>
          <p:cNvSpPr/>
          <p:nvPr/>
        </p:nvSpPr>
        <p:spPr>
          <a:xfrm>
            <a:off x="5760720" y="1463040"/>
            <a:ext cx="2560320" cy="11430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60720" y="1463040"/>
            <a:ext cx="256032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0" y="1572768"/>
            <a:ext cx="2560320" cy="594360"/>
          </a:xfrm>
          <a:prstGeom prst="rect">
            <a:avLst/>
          </a:prstGeom>
          <a:noFill/>
        </p:spPr>
        <p:txBody>
          <a:bodyPr wrap="square">
            <a:spAutoFit/>
          </a:bodyPr>
          <a:lstStyle/>
          <a:p>
            <a:pPr algn="ctr"/>
            <a:r>
              <a:rPr sz="2800" b="1" i="0">
                <a:solidFill>
                  <a:srgbClr val="F59E0B"/>
                </a:solidFill>
                <a:latin typeface="Calibri"/>
              </a:rPr>
              <a:t>70/15/15</a:t>
            </a:r>
          </a:p>
        </p:txBody>
      </p:sp>
      <p:sp>
        <p:nvSpPr>
          <p:cNvPr id="17" name="TextBox 16"/>
          <p:cNvSpPr txBox="1"/>
          <p:nvPr/>
        </p:nvSpPr>
        <p:spPr>
          <a:xfrm>
            <a:off x="5760720" y="2148840"/>
            <a:ext cx="2560320" cy="347472"/>
          </a:xfrm>
          <a:prstGeom prst="rect">
            <a:avLst/>
          </a:prstGeom>
          <a:noFill/>
        </p:spPr>
        <p:txBody>
          <a:bodyPr wrap="square">
            <a:spAutoFit/>
          </a:bodyPr>
          <a:lstStyle/>
          <a:p>
            <a:pPr algn="ctr"/>
            <a:r>
              <a:rPr sz="1100" b="0" i="0">
                <a:solidFill>
                  <a:srgbClr val="8B95A7"/>
                </a:solidFill>
                <a:latin typeface="Calibri"/>
              </a:rPr>
              <a:t>Train/Val/Test Split</a:t>
            </a:r>
          </a:p>
        </p:txBody>
      </p:sp>
      <p:sp>
        <p:nvSpPr>
          <p:cNvPr id="18" name="Rectangle 17"/>
          <p:cNvSpPr/>
          <p:nvPr/>
        </p:nvSpPr>
        <p:spPr>
          <a:xfrm>
            <a:off x="8503920" y="1463040"/>
            <a:ext cx="2560320" cy="114300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03920" y="1463040"/>
            <a:ext cx="256032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03920" y="1572768"/>
            <a:ext cx="2560320" cy="594360"/>
          </a:xfrm>
          <a:prstGeom prst="rect">
            <a:avLst/>
          </a:prstGeom>
          <a:noFill/>
        </p:spPr>
        <p:txBody>
          <a:bodyPr wrap="square">
            <a:spAutoFit/>
          </a:bodyPr>
          <a:lstStyle/>
          <a:p>
            <a:pPr algn="ctr"/>
            <a:r>
              <a:rPr sz="2800" b="1" i="0">
                <a:solidFill>
                  <a:srgbClr val="8B5CF6"/>
                </a:solidFill>
                <a:latin typeface="Calibri"/>
              </a:rPr>
              <a:t>3 Crops</a:t>
            </a:r>
          </a:p>
        </p:txBody>
      </p:sp>
      <p:sp>
        <p:nvSpPr>
          <p:cNvPr id="21" name="TextBox 20"/>
          <p:cNvSpPr txBox="1"/>
          <p:nvPr/>
        </p:nvSpPr>
        <p:spPr>
          <a:xfrm>
            <a:off x="8503920" y="2148840"/>
            <a:ext cx="2560320" cy="347472"/>
          </a:xfrm>
          <a:prstGeom prst="rect">
            <a:avLst/>
          </a:prstGeom>
          <a:noFill/>
        </p:spPr>
        <p:txBody>
          <a:bodyPr wrap="square">
            <a:spAutoFit/>
          </a:bodyPr>
          <a:lstStyle/>
          <a:p>
            <a:pPr algn="ctr"/>
            <a:r>
              <a:rPr sz="1100" b="0" i="0">
                <a:solidFill>
                  <a:srgbClr val="8B95A7"/>
                </a:solidFill>
                <a:latin typeface="Calibri"/>
              </a:rPr>
              <a:t>Tomato · Potato · Pepper</a:t>
            </a:r>
          </a:p>
        </p:txBody>
      </p:sp>
      <p:sp>
        <p:nvSpPr>
          <p:cNvPr id="22" name="TextBox 21"/>
          <p:cNvSpPr txBox="1"/>
          <p:nvPr/>
        </p:nvSpPr>
        <p:spPr>
          <a:xfrm>
            <a:off x="274320" y="2788920"/>
            <a:ext cx="5486400" cy="347472"/>
          </a:xfrm>
          <a:prstGeom prst="rect">
            <a:avLst/>
          </a:prstGeom>
          <a:noFill/>
        </p:spPr>
        <p:txBody>
          <a:bodyPr wrap="square">
            <a:spAutoFit/>
          </a:bodyPr>
          <a:lstStyle/>
          <a:p>
            <a:pPr algn="l"/>
            <a:r>
              <a:rPr sz="1400" b="1" i="0">
                <a:solidFill>
                  <a:srgbClr val="F0F4F8"/>
                </a:solidFill>
                <a:latin typeface="Calibri"/>
              </a:rPr>
              <a:t>15 Supported Disease Classes</a:t>
            </a:r>
          </a:p>
        </p:txBody>
      </p:sp>
      <p:sp>
        <p:nvSpPr>
          <p:cNvPr id="23" name="TextBox 22"/>
          <p:cNvSpPr txBox="1"/>
          <p:nvPr/>
        </p:nvSpPr>
        <p:spPr>
          <a:xfrm>
            <a:off x="274320" y="3246120"/>
            <a:ext cx="3749039" cy="457200"/>
          </a:xfrm>
          <a:prstGeom prst="rect">
            <a:avLst/>
          </a:prstGeom>
          <a:noFill/>
        </p:spPr>
        <p:txBody>
          <a:bodyPr wrap="square">
            <a:spAutoFit/>
          </a:bodyPr>
          <a:lstStyle/>
          <a:p>
            <a:pPr algn="l"/>
            <a:r>
              <a:rPr sz="1100" b="0" i="0">
                <a:solidFill>
                  <a:srgbClr val="F59E0B"/>
                </a:solidFill>
                <a:latin typeface="Calibri"/>
              </a:rPr>
              <a:t>● Pepper — Bacterial Spot</a:t>
            </a:r>
          </a:p>
        </p:txBody>
      </p:sp>
      <p:sp>
        <p:nvSpPr>
          <p:cNvPr id="24" name="TextBox 23"/>
          <p:cNvSpPr txBox="1"/>
          <p:nvPr/>
        </p:nvSpPr>
        <p:spPr>
          <a:xfrm>
            <a:off x="4206240" y="3246120"/>
            <a:ext cx="3749039" cy="457200"/>
          </a:xfrm>
          <a:prstGeom prst="rect">
            <a:avLst/>
          </a:prstGeom>
          <a:noFill/>
        </p:spPr>
        <p:txBody>
          <a:bodyPr wrap="square">
            <a:spAutoFit/>
          </a:bodyPr>
          <a:lstStyle/>
          <a:p>
            <a:pPr algn="l"/>
            <a:r>
              <a:rPr sz="1100" b="0" i="0">
                <a:solidFill>
                  <a:srgbClr val="00E67A"/>
                </a:solidFill>
                <a:latin typeface="Calibri"/>
              </a:rPr>
              <a:t>● Pepper — Healthy</a:t>
            </a:r>
          </a:p>
        </p:txBody>
      </p:sp>
      <p:sp>
        <p:nvSpPr>
          <p:cNvPr id="25" name="TextBox 24"/>
          <p:cNvSpPr txBox="1"/>
          <p:nvPr/>
        </p:nvSpPr>
        <p:spPr>
          <a:xfrm>
            <a:off x="8138160" y="3246120"/>
            <a:ext cx="3749039" cy="457200"/>
          </a:xfrm>
          <a:prstGeom prst="rect">
            <a:avLst/>
          </a:prstGeom>
          <a:noFill/>
        </p:spPr>
        <p:txBody>
          <a:bodyPr wrap="square">
            <a:spAutoFit/>
          </a:bodyPr>
          <a:lstStyle/>
          <a:p>
            <a:pPr algn="l"/>
            <a:r>
              <a:rPr sz="1100" b="0" i="0">
                <a:solidFill>
                  <a:srgbClr val="F59E0B"/>
                </a:solidFill>
                <a:latin typeface="Calibri"/>
              </a:rPr>
              <a:t>● Potato — Early Blight</a:t>
            </a:r>
          </a:p>
        </p:txBody>
      </p:sp>
      <p:sp>
        <p:nvSpPr>
          <p:cNvPr id="26" name="TextBox 25"/>
          <p:cNvSpPr txBox="1"/>
          <p:nvPr/>
        </p:nvSpPr>
        <p:spPr>
          <a:xfrm>
            <a:off x="274320" y="3794760"/>
            <a:ext cx="3749039" cy="457200"/>
          </a:xfrm>
          <a:prstGeom prst="rect">
            <a:avLst/>
          </a:prstGeom>
          <a:noFill/>
        </p:spPr>
        <p:txBody>
          <a:bodyPr wrap="square">
            <a:spAutoFit/>
          </a:bodyPr>
          <a:lstStyle/>
          <a:p>
            <a:pPr algn="l"/>
            <a:r>
              <a:rPr sz="1100" b="0" i="0">
                <a:solidFill>
                  <a:srgbClr val="F59E0B"/>
                </a:solidFill>
                <a:latin typeface="Calibri"/>
              </a:rPr>
              <a:t>● Potato — Late Blight</a:t>
            </a:r>
          </a:p>
        </p:txBody>
      </p:sp>
      <p:sp>
        <p:nvSpPr>
          <p:cNvPr id="27" name="TextBox 26"/>
          <p:cNvSpPr txBox="1"/>
          <p:nvPr/>
        </p:nvSpPr>
        <p:spPr>
          <a:xfrm>
            <a:off x="4206240" y="3794760"/>
            <a:ext cx="3749039" cy="457200"/>
          </a:xfrm>
          <a:prstGeom prst="rect">
            <a:avLst/>
          </a:prstGeom>
          <a:noFill/>
        </p:spPr>
        <p:txBody>
          <a:bodyPr wrap="square">
            <a:spAutoFit/>
          </a:bodyPr>
          <a:lstStyle/>
          <a:p>
            <a:pPr algn="l"/>
            <a:r>
              <a:rPr sz="1100" b="0" i="0">
                <a:solidFill>
                  <a:srgbClr val="00E67A"/>
                </a:solidFill>
                <a:latin typeface="Calibri"/>
              </a:rPr>
              <a:t>● Potato — Healthy</a:t>
            </a:r>
          </a:p>
        </p:txBody>
      </p:sp>
      <p:sp>
        <p:nvSpPr>
          <p:cNvPr id="28" name="TextBox 27"/>
          <p:cNvSpPr txBox="1"/>
          <p:nvPr/>
        </p:nvSpPr>
        <p:spPr>
          <a:xfrm>
            <a:off x="8138160" y="3794760"/>
            <a:ext cx="3749039" cy="457200"/>
          </a:xfrm>
          <a:prstGeom prst="rect">
            <a:avLst/>
          </a:prstGeom>
          <a:noFill/>
        </p:spPr>
        <p:txBody>
          <a:bodyPr wrap="square">
            <a:spAutoFit/>
          </a:bodyPr>
          <a:lstStyle/>
          <a:p>
            <a:pPr algn="l"/>
            <a:r>
              <a:rPr sz="1100" b="0" i="0">
                <a:solidFill>
                  <a:srgbClr val="F59E0B"/>
                </a:solidFill>
                <a:latin typeface="Calibri"/>
              </a:rPr>
              <a:t>● Tomato — Bacterial Spot</a:t>
            </a:r>
          </a:p>
        </p:txBody>
      </p:sp>
      <p:sp>
        <p:nvSpPr>
          <p:cNvPr id="29" name="TextBox 28"/>
          <p:cNvSpPr txBox="1"/>
          <p:nvPr/>
        </p:nvSpPr>
        <p:spPr>
          <a:xfrm>
            <a:off x="274320" y="4343400"/>
            <a:ext cx="3749039" cy="457200"/>
          </a:xfrm>
          <a:prstGeom prst="rect">
            <a:avLst/>
          </a:prstGeom>
          <a:noFill/>
        </p:spPr>
        <p:txBody>
          <a:bodyPr wrap="square">
            <a:spAutoFit/>
          </a:bodyPr>
          <a:lstStyle/>
          <a:p>
            <a:pPr algn="l"/>
            <a:r>
              <a:rPr sz="1100" b="0" i="0">
                <a:solidFill>
                  <a:srgbClr val="F59E0B"/>
                </a:solidFill>
                <a:latin typeface="Calibri"/>
              </a:rPr>
              <a:t>● Tomato — Early Blight</a:t>
            </a:r>
          </a:p>
        </p:txBody>
      </p:sp>
      <p:sp>
        <p:nvSpPr>
          <p:cNvPr id="30" name="TextBox 29"/>
          <p:cNvSpPr txBox="1"/>
          <p:nvPr/>
        </p:nvSpPr>
        <p:spPr>
          <a:xfrm>
            <a:off x="4206240" y="4343400"/>
            <a:ext cx="3749039" cy="457200"/>
          </a:xfrm>
          <a:prstGeom prst="rect">
            <a:avLst/>
          </a:prstGeom>
          <a:noFill/>
        </p:spPr>
        <p:txBody>
          <a:bodyPr wrap="square">
            <a:spAutoFit/>
          </a:bodyPr>
          <a:lstStyle/>
          <a:p>
            <a:pPr algn="l"/>
            <a:r>
              <a:rPr sz="1100" b="0" i="0">
                <a:solidFill>
                  <a:srgbClr val="F59E0B"/>
                </a:solidFill>
                <a:latin typeface="Calibri"/>
              </a:rPr>
              <a:t>● Tomato — Late Blight</a:t>
            </a:r>
          </a:p>
        </p:txBody>
      </p:sp>
      <p:sp>
        <p:nvSpPr>
          <p:cNvPr id="31" name="TextBox 30"/>
          <p:cNvSpPr txBox="1"/>
          <p:nvPr/>
        </p:nvSpPr>
        <p:spPr>
          <a:xfrm>
            <a:off x="8138160" y="4343400"/>
            <a:ext cx="3749039" cy="457200"/>
          </a:xfrm>
          <a:prstGeom prst="rect">
            <a:avLst/>
          </a:prstGeom>
          <a:noFill/>
        </p:spPr>
        <p:txBody>
          <a:bodyPr wrap="square">
            <a:spAutoFit/>
          </a:bodyPr>
          <a:lstStyle/>
          <a:p>
            <a:pPr algn="l"/>
            <a:r>
              <a:rPr sz="1100" b="0" i="0">
                <a:solidFill>
                  <a:srgbClr val="F59E0B"/>
                </a:solidFill>
                <a:latin typeface="Calibri"/>
              </a:rPr>
              <a:t>● Tomato — Leaf Mold</a:t>
            </a:r>
          </a:p>
        </p:txBody>
      </p:sp>
      <p:sp>
        <p:nvSpPr>
          <p:cNvPr id="32" name="TextBox 31"/>
          <p:cNvSpPr txBox="1"/>
          <p:nvPr/>
        </p:nvSpPr>
        <p:spPr>
          <a:xfrm>
            <a:off x="274320" y="4892040"/>
            <a:ext cx="3749039" cy="457200"/>
          </a:xfrm>
          <a:prstGeom prst="rect">
            <a:avLst/>
          </a:prstGeom>
          <a:noFill/>
        </p:spPr>
        <p:txBody>
          <a:bodyPr wrap="square">
            <a:spAutoFit/>
          </a:bodyPr>
          <a:lstStyle/>
          <a:p>
            <a:pPr algn="l"/>
            <a:r>
              <a:rPr sz="1100" b="0" i="0">
                <a:solidFill>
                  <a:srgbClr val="F59E0B"/>
                </a:solidFill>
                <a:latin typeface="Calibri"/>
              </a:rPr>
              <a:t>● Tomato — Septoria Leaf Spot</a:t>
            </a:r>
          </a:p>
        </p:txBody>
      </p:sp>
      <p:sp>
        <p:nvSpPr>
          <p:cNvPr id="33" name="TextBox 32"/>
          <p:cNvSpPr txBox="1"/>
          <p:nvPr/>
        </p:nvSpPr>
        <p:spPr>
          <a:xfrm>
            <a:off x="4206240" y="4892040"/>
            <a:ext cx="3749039" cy="457200"/>
          </a:xfrm>
          <a:prstGeom prst="rect">
            <a:avLst/>
          </a:prstGeom>
          <a:noFill/>
        </p:spPr>
        <p:txBody>
          <a:bodyPr wrap="square">
            <a:spAutoFit/>
          </a:bodyPr>
          <a:lstStyle/>
          <a:p>
            <a:pPr algn="l"/>
            <a:r>
              <a:rPr sz="1100" b="0" i="0">
                <a:solidFill>
                  <a:srgbClr val="F59E0B"/>
                </a:solidFill>
                <a:latin typeface="Calibri"/>
              </a:rPr>
              <a:t>● Tomato — Spider Mites</a:t>
            </a:r>
          </a:p>
        </p:txBody>
      </p:sp>
      <p:sp>
        <p:nvSpPr>
          <p:cNvPr id="34" name="TextBox 33"/>
          <p:cNvSpPr txBox="1"/>
          <p:nvPr/>
        </p:nvSpPr>
        <p:spPr>
          <a:xfrm>
            <a:off x="8138160" y="4892040"/>
            <a:ext cx="3749039" cy="457200"/>
          </a:xfrm>
          <a:prstGeom prst="rect">
            <a:avLst/>
          </a:prstGeom>
          <a:noFill/>
        </p:spPr>
        <p:txBody>
          <a:bodyPr wrap="square">
            <a:spAutoFit/>
          </a:bodyPr>
          <a:lstStyle/>
          <a:p>
            <a:pPr algn="l"/>
            <a:r>
              <a:rPr sz="1100" b="0" i="0">
                <a:solidFill>
                  <a:srgbClr val="F59E0B"/>
                </a:solidFill>
                <a:latin typeface="Calibri"/>
              </a:rPr>
              <a:t>● Tomato — Target Spot</a:t>
            </a:r>
          </a:p>
        </p:txBody>
      </p:sp>
      <p:sp>
        <p:nvSpPr>
          <p:cNvPr id="35" name="TextBox 34"/>
          <p:cNvSpPr txBox="1"/>
          <p:nvPr/>
        </p:nvSpPr>
        <p:spPr>
          <a:xfrm>
            <a:off x="274320" y="5440680"/>
            <a:ext cx="3749039" cy="457200"/>
          </a:xfrm>
          <a:prstGeom prst="rect">
            <a:avLst/>
          </a:prstGeom>
          <a:noFill/>
        </p:spPr>
        <p:txBody>
          <a:bodyPr wrap="square">
            <a:spAutoFit/>
          </a:bodyPr>
          <a:lstStyle/>
          <a:p>
            <a:pPr algn="l"/>
            <a:r>
              <a:rPr sz="1100" b="0" i="0">
                <a:solidFill>
                  <a:srgbClr val="F59E0B"/>
                </a:solidFill>
                <a:latin typeface="Calibri"/>
              </a:rPr>
              <a:t>● Tomato — Yellow Leaf Curl Virus</a:t>
            </a:r>
          </a:p>
        </p:txBody>
      </p:sp>
      <p:sp>
        <p:nvSpPr>
          <p:cNvPr id="36" name="TextBox 35"/>
          <p:cNvSpPr txBox="1"/>
          <p:nvPr/>
        </p:nvSpPr>
        <p:spPr>
          <a:xfrm>
            <a:off x="4206240" y="5440680"/>
            <a:ext cx="3749039" cy="457200"/>
          </a:xfrm>
          <a:prstGeom prst="rect">
            <a:avLst/>
          </a:prstGeom>
          <a:noFill/>
        </p:spPr>
        <p:txBody>
          <a:bodyPr wrap="square">
            <a:spAutoFit/>
          </a:bodyPr>
          <a:lstStyle/>
          <a:p>
            <a:pPr algn="l"/>
            <a:r>
              <a:rPr sz="1100" b="0" i="0">
                <a:solidFill>
                  <a:srgbClr val="F59E0B"/>
                </a:solidFill>
                <a:latin typeface="Calibri"/>
              </a:rPr>
              <a:t>● Tomato — Mosaic Virus</a:t>
            </a:r>
          </a:p>
        </p:txBody>
      </p:sp>
      <p:sp>
        <p:nvSpPr>
          <p:cNvPr id="37" name="TextBox 36"/>
          <p:cNvSpPr txBox="1"/>
          <p:nvPr/>
        </p:nvSpPr>
        <p:spPr>
          <a:xfrm>
            <a:off x="8138160" y="5440680"/>
            <a:ext cx="3749039" cy="457200"/>
          </a:xfrm>
          <a:prstGeom prst="rect">
            <a:avLst/>
          </a:prstGeom>
          <a:noFill/>
        </p:spPr>
        <p:txBody>
          <a:bodyPr wrap="square">
            <a:spAutoFit/>
          </a:bodyPr>
          <a:lstStyle/>
          <a:p>
            <a:pPr algn="l"/>
            <a:r>
              <a:rPr sz="1100" b="0" i="0">
                <a:solidFill>
                  <a:srgbClr val="00E67A"/>
                </a:solidFill>
                <a:latin typeface="Calibri"/>
              </a:rPr>
              <a:t>● Tomato — Healthy</a:t>
            </a:r>
          </a:p>
        </p:txBody>
      </p:sp>
      <p:sp>
        <p:nvSpPr>
          <p:cNvPr id="38" name="Rectangle 37"/>
          <p:cNvSpPr/>
          <p:nvPr/>
        </p:nvSpPr>
        <p:spPr>
          <a:xfrm>
            <a:off x="8503920" y="1463040"/>
            <a:ext cx="3474720" cy="51206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503920" y="1463040"/>
            <a:ext cx="347472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41080" y="1600200"/>
            <a:ext cx="3200400" cy="347472"/>
          </a:xfrm>
          <a:prstGeom prst="rect">
            <a:avLst/>
          </a:prstGeom>
          <a:noFill/>
        </p:spPr>
        <p:txBody>
          <a:bodyPr wrap="square">
            <a:spAutoFit/>
          </a:bodyPr>
          <a:lstStyle/>
          <a:p>
            <a:pPr algn="l"/>
            <a:r>
              <a:rPr sz="1300" b="1" i="0">
                <a:solidFill>
                  <a:srgbClr val="F59E0B"/>
                </a:solidFill>
                <a:latin typeface="Calibri"/>
              </a:rPr>
              <a:t>Augmentation Pipeline</a:t>
            </a:r>
          </a:p>
        </p:txBody>
      </p:sp>
      <p:sp>
        <p:nvSpPr>
          <p:cNvPr id="41" name="TextBox 40"/>
          <p:cNvSpPr txBox="1"/>
          <p:nvPr/>
        </p:nvSpPr>
        <p:spPr>
          <a:xfrm>
            <a:off x="8641080" y="2057400"/>
            <a:ext cx="3200400" cy="457200"/>
          </a:xfrm>
          <a:prstGeom prst="rect">
            <a:avLst/>
          </a:prstGeom>
          <a:noFill/>
        </p:spPr>
        <p:txBody>
          <a:bodyPr wrap="square">
            <a:spAutoFit/>
          </a:bodyPr>
          <a:lstStyle/>
          <a:p>
            <a:pPr algn="l"/>
            <a:r>
              <a:rPr sz="1100" b="0" i="0">
                <a:solidFill>
                  <a:srgbClr val="8B95A7"/>
                </a:solidFill>
                <a:latin typeface="Calibri"/>
              </a:rPr>
              <a:t>🔄  Random Horizontal &amp; Vertical Flip</a:t>
            </a:r>
          </a:p>
        </p:txBody>
      </p:sp>
      <p:sp>
        <p:nvSpPr>
          <p:cNvPr id="42" name="TextBox 41"/>
          <p:cNvSpPr txBox="1"/>
          <p:nvPr/>
        </p:nvSpPr>
        <p:spPr>
          <a:xfrm>
            <a:off x="8641080" y="2606040"/>
            <a:ext cx="3200400" cy="457200"/>
          </a:xfrm>
          <a:prstGeom prst="rect">
            <a:avLst/>
          </a:prstGeom>
          <a:noFill/>
        </p:spPr>
        <p:txBody>
          <a:bodyPr wrap="square">
            <a:spAutoFit/>
          </a:bodyPr>
          <a:lstStyle/>
          <a:p>
            <a:pPr algn="l"/>
            <a:r>
              <a:rPr sz="1100" b="0" i="0">
                <a:solidFill>
                  <a:srgbClr val="8B95A7"/>
                </a:solidFill>
                <a:latin typeface="Calibri"/>
              </a:rPr>
              <a:t>🌀  Random Rotation (±30°)</a:t>
            </a:r>
          </a:p>
        </p:txBody>
      </p:sp>
      <p:sp>
        <p:nvSpPr>
          <p:cNvPr id="43" name="TextBox 42"/>
          <p:cNvSpPr txBox="1"/>
          <p:nvPr/>
        </p:nvSpPr>
        <p:spPr>
          <a:xfrm>
            <a:off x="8641080" y="3154680"/>
            <a:ext cx="3200400" cy="457200"/>
          </a:xfrm>
          <a:prstGeom prst="rect">
            <a:avLst/>
          </a:prstGeom>
          <a:noFill/>
        </p:spPr>
        <p:txBody>
          <a:bodyPr wrap="square">
            <a:spAutoFit/>
          </a:bodyPr>
          <a:lstStyle/>
          <a:p>
            <a:pPr algn="l"/>
            <a:r>
              <a:rPr sz="1100" b="0" i="0">
                <a:solidFill>
                  <a:srgbClr val="8B95A7"/>
                </a:solidFill>
                <a:latin typeface="Calibri"/>
              </a:rPr>
              <a:t>🌈  Color Jitter (brightness/contrast/saturation)</a:t>
            </a:r>
          </a:p>
        </p:txBody>
      </p:sp>
      <p:sp>
        <p:nvSpPr>
          <p:cNvPr id="44" name="TextBox 43"/>
          <p:cNvSpPr txBox="1"/>
          <p:nvPr/>
        </p:nvSpPr>
        <p:spPr>
          <a:xfrm>
            <a:off x="8641080" y="3703320"/>
            <a:ext cx="3200400" cy="457200"/>
          </a:xfrm>
          <a:prstGeom prst="rect">
            <a:avLst/>
          </a:prstGeom>
          <a:noFill/>
        </p:spPr>
        <p:txBody>
          <a:bodyPr wrap="square">
            <a:spAutoFit/>
          </a:bodyPr>
          <a:lstStyle/>
          <a:p>
            <a:pPr algn="l"/>
            <a:r>
              <a:rPr sz="1100" b="0" i="0">
                <a:solidFill>
                  <a:srgbClr val="8B95A7"/>
                </a:solidFill>
                <a:latin typeface="Calibri"/>
              </a:rPr>
              <a:t>✂️   Random Resized Crop (224×224)</a:t>
            </a:r>
          </a:p>
        </p:txBody>
      </p:sp>
      <p:sp>
        <p:nvSpPr>
          <p:cNvPr id="45" name="TextBox 44"/>
          <p:cNvSpPr txBox="1"/>
          <p:nvPr/>
        </p:nvSpPr>
        <p:spPr>
          <a:xfrm>
            <a:off x="8641080" y="4251960"/>
            <a:ext cx="3200400" cy="457200"/>
          </a:xfrm>
          <a:prstGeom prst="rect">
            <a:avLst/>
          </a:prstGeom>
          <a:noFill/>
        </p:spPr>
        <p:txBody>
          <a:bodyPr wrap="square">
            <a:spAutoFit/>
          </a:bodyPr>
          <a:lstStyle/>
          <a:p>
            <a:pPr algn="l"/>
            <a:r>
              <a:rPr sz="1100" b="0" i="0">
                <a:solidFill>
                  <a:srgbClr val="8B95A7"/>
                </a:solidFill>
                <a:latin typeface="Calibri"/>
              </a:rPr>
              <a:t>📐  Random Affine Transform</a:t>
            </a:r>
          </a:p>
        </p:txBody>
      </p:sp>
      <p:sp>
        <p:nvSpPr>
          <p:cNvPr id="46" name="TextBox 45"/>
          <p:cNvSpPr txBox="1"/>
          <p:nvPr/>
        </p:nvSpPr>
        <p:spPr>
          <a:xfrm>
            <a:off x="8641080" y="4800600"/>
            <a:ext cx="3200400" cy="457200"/>
          </a:xfrm>
          <a:prstGeom prst="rect">
            <a:avLst/>
          </a:prstGeom>
          <a:noFill/>
        </p:spPr>
        <p:txBody>
          <a:bodyPr wrap="square">
            <a:spAutoFit/>
          </a:bodyPr>
          <a:lstStyle/>
          <a:p>
            <a:pPr algn="l"/>
            <a:r>
              <a:rPr sz="1100" b="0" i="0">
                <a:solidFill>
                  <a:srgbClr val="8B95A7"/>
                </a:solidFill>
                <a:latin typeface="Calibri"/>
              </a:rPr>
              <a:t>🌫️   Gaussian Blur (p=0.3)</a:t>
            </a:r>
          </a:p>
        </p:txBody>
      </p:sp>
      <p:sp>
        <p:nvSpPr>
          <p:cNvPr id="47" name="TextBox 46"/>
          <p:cNvSpPr txBox="1"/>
          <p:nvPr/>
        </p:nvSpPr>
        <p:spPr>
          <a:xfrm>
            <a:off x="8641080" y="5349240"/>
            <a:ext cx="3200400" cy="457200"/>
          </a:xfrm>
          <a:prstGeom prst="rect">
            <a:avLst/>
          </a:prstGeom>
          <a:noFill/>
        </p:spPr>
        <p:txBody>
          <a:bodyPr wrap="square">
            <a:spAutoFit/>
          </a:bodyPr>
          <a:lstStyle/>
          <a:p>
            <a:pPr algn="l"/>
            <a:r>
              <a:rPr sz="1100" b="0" i="0">
                <a:solidFill>
                  <a:srgbClr val="8B95A7"/>
                </a:solidFill>
                <a:latin typeface="Calibri"/>
              </a:rPr>
              <a:t>🎨  Normalize (ImageNet mean/std)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8B5CF6"/>
                </a:solidFill>
                <a:latin typeface="Calibri"/>
              </a:rPr>
              <a:t>06</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Model Architecture — EfficientNet-B0</a:t>
            </a:r>
          </a:p>
        </p:txBody>
      </p:sp>
      <p:sp>
        <p:nvSpPr>
          <p:cNvPr id="5" name="Rectangle 4"/>
          <p:cNvSpPr/>
          <p:nvPr/>
        </p:nvSpPr>
        <p:spPr>
          <a:xfrm>
            <a:off x="274320" y="1161288"/>
            <a:ext cx="438912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5303520" cy="51206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530352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00200"/>
            <a:ext cx="4937760" cy="384048"/>
          </a:xfrm>
          <a:prstGeom prst="rect">
            <a:avLst/>
          </a:prstGeom>
          <a:noFill/>
        </p:spPr>
        <p:txBody>
          <a:bodyPr wrap="square">
            <a:spAutoFit/>
          </a:bodyPr>
          <a:lstStyle/>
          <a:p>
            <a:pPr algn="l"/>
            <a:r>
              <a:rPr sz="1500" b="1" i="0">
                <a:solidFill>
                  <a:srgbClr val="8B5CF6"/>
                </a:solidFill>
                <a:latin typeface="Calibri"/>
              </a:rPr>
              <a:t>Why EfficientNet-B0?</a:t>
            </a:r>
          </a:p>
        </p:txBody>
      </p:sp>
      <p:sp>
        <p:nvSpPr>
          <p:cNvPr id="9" name="TextBox 8"/>
          <p:cNvSpPr txBox="1"/>
          <p:nvPr/>
        </p:nvSpPr>
        <p:spPr>
          <a:xfrm>
            <a:off x="457200" y="2103120"/>
            <a:ext cx="4937760" cy="301752"/>
          </a:xfrm>
          <a:prstGeom prst="rect">
            <a:avLst/>
          </a:prstGeom>
          <a:noFill/>
        </p:spPr>
        <p:txBody>
          <a:bodyPr wrap="square">
            <a:spAutoFit/>
          </a:bodyPr>
          <a:lstStyle/>
          <a:p>
            <a:pPr algn="l"/>
            <a:r>
              <a:rPr sz="1200" b="1" i="0">
                <a:solidFill>
                  <a:srgbClr val="00C4CC"/>
                </a:solidFill>
                <a:latin typeface="Calibri"/>
              </a:rPr>
              <a:t>▶  Compound Scaling</a:t>
            </a:r>
          </a:p>
        </p:txBody>
      </p:sp>
      <p:sp>
        <p:nvSpPr>
          <p:cNvPr id="10" name="TextBox 9"/>
          <p:cNvSpPr txBox="1"/>
          <p:nvPr/>
        </p:nvSpPr>
        <p:spPr>
          <a:xfrm>
            <a:off x="457200" y="2404872"/>
            <a:ext cx="4937760" cy="530352"/>
          </a:xfrm>
          <a:prstGeom prst="rect">
            <a:avLst/>
          </a:prstGeom>
          <a:noFill/>
        </p:spPr>
        <p:txBody>
          <a:bodyPr wrap="square">
            <a:spAutoFit/>
          </a:bodyPr>
          <a:lstStyle/>
          <a:p>
            <a:pPr algn="l"/>
            <a:r>
              <a:rPr sz="1050" b="0" i="0">
                <a:solidFill>
                  <a:srgbClr val="8B95A7"/>
                </a:solidFill>
                <a:latin typeface="Calibri"/>
              </a:rPr>
              <a:t>Uniformly scales depth, width &amp; resolution for optimal accuracy-efficiency trade-off.</a:t>
            </a:r>
          </a:p>
        </p:txBody>
      </p:sp>
      <p:sp>
        <p:nvSpPr>
          <p:cNvPr id="11" name="TextBox 10"/>
          <p:cNvSpPr txBox="1"/>
          <p:nvPr/>
        </p:nvSpPr>
        <p:spPr>
          <a:xfrm>
            <a:off x="457200" y="3017520"/>
            <a:ext cx="4937760" cy="301752"/>
          </a:xfrm>
          <a:prstGeom prst="rect">
            <a:avLst/>
          </a:prstGeom>
          <a:noFill/>
        </p:spPr>
        <p:txBody>
          <a:bodyPr wrap="square">
            <a:spAutoFit/>
          </a:bodyPr>
          <a:lstStyle/>
          <a:p>
            <a:pPr algn="l"/>
            <a:r>
              <a:rPr sz="1200" b="1" i="0">
                <a:solidFill>
                  <a:srgbClr val="00C4CC"/>
                </a:solidFill>
                <a:latin typeface="Calibri"/>
              </a:rPr>
              <a:t>▶  Parameter Efficiency</a:t>
            </a:r>
          </a:p>
        </p:txBody>
      </p:sp>
      <p:sp>
        <p:nvSpPr>
          <p:cNvPr id="12" name="TextBox 11"/>
          <p:cNvSpPr txBox="1"/>
          <p:nvPr/>
        </p:nvSpPr>
        <p:spPr>
          <a:xfrm>
            <a:off x="457200" y="3319272"/>
            <a:ext cx="4937760" cy="530352"/>
          </a:xfrm>
          <a:prstGeom prst="rect">
            <a:avLst/>
          </a:prstGeom>
          <a:noFill/>
        </p:spPr>
        <p:txBody>
          <a:bodyPr wrap="square">
            <a:spAutoFit/>
          </a:bodyPr>
          <a:lstStyle/>
          <a:p>
            <a:pPr algn="l"/>
            <a:r>
              <a:rPr sz="1050" b="0" i="0">
                <a:solidFill>
                  <a:srgbClr val="8B95A7"/>
                </a:solidFill>
                <a:latin typeface="Calibri"/>
              </a:rPr>
              <a:t>5.3M params → 10× fewer than ResNet-50 while matching or exceeding accuracy.</a:t>
            </a:r>
          </a:p>
        </p:txBody>
      </p:sp>
      <p:sp>
        <p:nvSpPr>
          <p:cNvPr id="13" name="TextBox 12"/>
          <p:cNvSpPr txBox="1"/>
          <p:nvPr/>
        </p:nvSpPr>
        <p:spPr>
          <a:xfrm>
            <a:off x="457200" y="3931920"/>
            <a:ext cx="4937760" cy="301752"/>
          </a:xfrm>
          <a:prstGeom prst="rect">
            <a:avLst/>
          </a:prstGeom>
          <a:noFill/>
        </p:spPr>
        <p:txBody>
          <a:bodyPr wrap="square">
            <a:spAutoFit/>
          </a:bodyPr>
          <a:lstStyle/>
          <a:p>
            <a:pPr algn="l"/>
            <a:r>
              <a:rPr sz="1200" b="1" i="0">
                <a:solidFill>
                  <a:srgbClr val="00C4CC"/>
                </a:solidFill>
                <a:latin typeface="Calibri"/>
              </a:rPr>
              <a:t>▶  Transfer Learning</a:t>
            </a:r>
          </a:p>
        </p:txBody>
      </p:sp>
      <p:sp>
        <p:nvSpPr>
          <p:cNvPr id="14" name="TextBox 13"/>
          <p:cNvSpPr txBox="1"/>
          <p:nvPr/>
        </p:nvSpPr>
        <p:spPr>
          <a:xfrm>
            <a:off x="457200" y="4233672"/>
            <a:ext cx="4937760" cy="530352"/>
          </a:xfrm>
          <a:prstGeom prst="rect">
            <a:avLst/>
          </a:prstGeom>
          <a:noFill/>
        </p:spPr>
        <p:txBody>
          <a:bodyPr wrap="square">
            <a:spAutoFit/>
          </a:bodyPr>
          <a:lstStyle/>
          <a:p>
            <a:pPr algn="l"/>
            <a:r>
              <a:rPr sz="1050" b="0" i="0">
                <a:solidFill>
                  <a:srgbClr val="8B95A7"/>
                </a:solidFill>
                <a:latin typeface="Calibri"/>
              </a:rPr>
              <a:t>ImageNet pre-trained weights provide rich visual priors — fast fine-tuning.</a:t>
            </a:r>
          </a:p>
        </p:txBody>
      </p:sp>
      <p:sp>
        <p:nvSpPr>
          <p:cNvPr id="15" name="TextBox 14"/>
          <p:cNvSpPr txBox="1"/>
          <p:nvPr/>
        </p:nvSpPr>
        <p:spPr>
          <a:xfrm>
            <a:off x="457200" y="4846320"/>
            <a:ext cx="4937760" cy="301752"/>
          </a:xfrm>
          <a:prstGeom prst="rect">
            <a:avLst/>
          </a:prstGeom>
          <a:noFill/>
        </p:spPr>
        <p:txBody>
          <a:bodyPr wrap="square">
            <a:spAutoFit/>
          </a:bodyPr>
          <a:lstStyle/>
          <a:p>
            <a:pPr algn="l"/>
            <a:r>
              <a:rPr sz="1200" b="1" i="0">
                <a:solidFill>
                  <a:srgbClr val="00C4CC"/>
                </a:solidFill>
                <a:latin typeface="Calibri"/>
              </a:rPr>
              <a:t>▶  MBConv Blocks</a:t>
            </a:r>
          </a:p>
        </p:txBody>
      </p:sp>
      <p:sp>
        <p:nvSpPr>
          <p:cNvPr id="16" name="TextBox 15"/>
          <p:cNvSpPr txBox="1"/>
          <p:nvPr/>
        </p:nvSpPr>
        <p:spPr>
          <a:xfrm>
            <a:off x="457200" y="5148072"/>
            <a:ext cx="4937760" cy="530352"/>
          </a:xfrm>
          <a:prstGeom prst="rect">
            <a:avLst/>
          </a:prstGeom>
          <a:noFill/>
        </p:spPr>
        <p:txBody>
          <a:bodyPr wrap="square">
            <a:spAutoFit/>
          </a:bodyPr>
          <a:lstStyle/>
          <a:p>
            <a:pPr algn="l"/>
            <a:r>
              <a:rPr sz="1050" b="0" i="0">
                <a:solidFill>
                  <a:srgbClr val="8B95A7"/>
                </a:solidFill>
                <a:latin typeface="Calibri"/>
              </a:rPr>
              <a:t>Mobile Inverted Bottleneck Conv with Squeeze-Excitation for superior feature reuse.</a:t>
            </a:r>
          </a:p>
        </p:txBody>
      </p:sp>
      <p:sp>
        <p:nvSpPr>
          <p:cNvPr id="17" name="TextBox 16"/>
          <p:cNvSpPr txBox="1"/>
          <p:nvPr/>
        </p:nvSpPr>
        <p:spPr>
          <a:xfrm>
            <a:off x="457200" y="5760720"/>
            <a:ext cx="4937760" cy="301752"/>
          </a:xfrm>
          <a:prstGeom prst="rect">
            <a:avLst/>
          </a:prstGeom>
          <a:noFill/>
        </p:spPr>
        <p:txBody>
          <a:bodyPr wrap="square">
            <a:spAutoFit/>
          </a:bodyPr>
          <a:lstStyle/>
          <a:p>
            <a:pPr algn="l"/>
            <a:r>
              <a:rPr sz="1200" b="1" i="0">
                <a:solidFill>
                  <a:srgbClr val="00C4CC"/>
                </a:solidFill>
                <a:latin typeface="Calibri"/>
              </a:rPr>
              <a:t>▶  Depthwise Separable</a:t>
            </a:r>
          </a:p>
        </p:txBody>
      </p:sp>
      <p:sp>
        <p:nvSpPr>
          <p:cNvPr id="18" name="TextBox 17"/>
          <p:cNvSpPr txBox="1"/>
          <p:nvPr/>
        </p:nvSpPr>
        <p:spPr>
          <a:xfrm>
            <a:off x="457200" y="6062472"/>
            <a:ext cx="4937760" cy="530352"/>
          </a:xfrm>
          <a:prstGeom prst="rect">
            <a:avLst/>
          </a:prstGeom>
          <a:noFill/>
        </p:spPr>
        <p:txBody>
          <a:bodyPr wrap="square">
            <a:spAutoFit/>
          </a:bodyPr>
          <a:lstStyle/>
          <a:p>
            <a:pPr algn="l"/>
            <a:r>
              <a:rPr sz="1050" b="0" i="0">
                <a:solidFill>
                  <a:srgbClr val="8B95A7"/>
                </a:solidFill>
                <a:latin typeface="Calibri"/>
              </a:rPr>
              <a:t>Reduces computation while preserving high-quality feature extraction capacity.</a:t>
            </a:r>
          </a:p>
        </p:txBody>
      </p:sp>
      <p:sp>
        <p:nvSpPr>
          <p:cNvPr id="19" name="Rectangle 18"/>
          <p:cNvSpPr/>
          <p:nvPr/>
        </p:nvSpPr>
        <p:spPr>
          <a:xfrm>
            <a:off x="5852160" y="1463040"/>
            <a:ext cx="6035040" cy="51206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852160" y="1463040"/>
            <a:ext cx="603504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35040" y="1600200"/>
            <a:ext cx="5486400" cy="384048"/>
          </a:xfrm>
          <a:prstGeom prst="rect">
            <a:avLst/>
          </a:prstGeom>
          <a:noFill/>
        </p:spPr>
        <p:txBody>
          <a:bodyPr wrap="square">
            <a:spAutoFit/>
          </a:bodyPr>
          <a:lstStyle/>
          <a:p>
            <a:pPr algn="l"/>
            <a:r>
              <a:rPr sz="1500" b="1" i="0">
                <a:solidFill>
                  <a:srgbClr val="00E67A"/>
                </a:solidFill>
                <a:latin typeface="Calibri"/>
              </a:rPr>
              <a:t>Technical Specifications</a:t>
            </a:r>
          </a:p>
        </p:txBody>
      </p:sp>
      <p:sp>
        <p:nvSpPr>
          <p:cNvPr id="22" name="TextBox 21"/>
          <p:cNvSpPr txBox="1"/>
          <p:nvPr/>
        </p:nvSpPr>
        <p:spPr>
          <a:xfrm>
            <a:off x="6035040" y="2103120"/>
            <a:ext cx="2194560" cy="320040"/>
          </a:xfrm>
          <a:prstGeom prst="rect">
            <a:avLst/>
          </a:prstGeom>
          <a:noFill/>
        </p:spPr>
        <p:txBody>
          <a:bodyPr wrap="square">
            <a:spAutoFit/>
          </a:bodyPr>
          <a:lstStyle/>
          <a:p>
            <a:pPr algn="l"/>
            <a:r>
              <a:rPr sz="1100" b="1" i="0">
                <a:solidFill>
                  <a:srgbClr val="00C4CC"/>
                </a:solidFill>
                <a:latin typeface="Calibri"/>
              </a:rPr>
              <a:t>Backbone:</a:t>
            </a:r>
          </a:p>
        </p:txBody>
      </p:sp>
      <p:sp>
        <p:nvSpPr>
          <p:cNvPr id="23" name="TextBox 22"/>
          <p:cNvSpPr txBox="1"/>
          <p:nvPr/>
        </p:nvSpPr>
        <p:spPr>
          <a:xfrm>
            <a:off x="8412480" y="2103120"/>
            <a:ext cx="3291840" cy="320040"/>
          </a:xfrm>
          <a:prstGeom prst="rect">
            <a:avLst/>
          </a:prstGeom>
          <a:noFill/>
        </p:spPr>
        <p:txBody>
          <a:bodyPr wrap="square">
            <a:spAutoFit/>
          </a:bodyPr>
          <a:lstStyle/>
          <a:p>
            <a:pPr algn="l"/>
            <a:r>
              <a:rPr sz="1100" b="0" i="0">
                <a:solidFill>
                  <a:srgbClr val="F0F4F8"/>
                </a:solidFill>
                <a:latin typeface="Calibri"/>
              </a:rPr>
              <a:t>EfficientNet-B0 (timm library)</a:t>
            </a:r>
          </a:p>
        </p:txBody>
      </p:sp>
      <p:sp>
        <p:nvSpPr>
          <p:cNvPr id="24" name="TextBox 23"/>
          <p:cNvSpPr txBox="1"/>
          <p:nvPr/>
        </p:nvSpPr>
        <p:spPr>
          <a:xfrm>
            <a:off x="6035040" y="2450592"/>
            <a:ext cx="2194560" cy="320040"/>
          </a:xfrm>
          <a:prstGeom prst="rect">
            <a:avLst/>
          </a:prstGeom>
          <a:noFill/>
        </p:spPr>
        <p:txBody>
          <a:bodyPr wrap="square">
            <a:spAutoFit/>
          </a:bodyPr>
          <a:lstStyle/>
          <a:p>
            <a:pPr algn="l"/>
            <a:r>
              <a:rPr sz="1100" b="1" i="0">
                <a:solidFill>
                  <a:srgbClr val="00C4CC"/>
                </a:solidFill>
                <a:latin typeface="Calibri"/>
              </a:rPr>
              <a:t>Pre-training:</a:t>
            </a:r>
          </a:p>
        </p:txBody>
      </p:sp>
      <p:sp>
        <p:nvSpPr>
          <p:cNvPr id="25" name="TextBox 24"/>
          <p:cNvSpPr txBox="1"/>
          <p:nvPr/>
        </p:nvSpPr>
        <p:spPr>
          <a:xfrm>
            <a:off x="8412480" y="2450592"/>
            <a:ext cx="3291840" cy="320040"/>
          </a:xfrm>
          <a:prstGeom prst="rect">
            <a:avLst/>
          </a:prstGeom>
          <a:noFill/>
        </p:spPr>
        <p:txBody>
          <a:bodyPr wrap="square">
            <a:spAutoFit/>
          </a:bodyPr>
          <a:lstStyle/>
          <a:p>
            <a:pPr algn="l"/>
            <a:r>
              <a:rPr sz="1100" b="0" i="0">
                <a:solidFill>
                  <a:srgbClr val="F0F4F8"/>
                </a:solidFill>
                <a:latin typeface="Calibri"/>
              </a:rPr>
              <a:t>ImageNet-1K</a:t>
            </a:r>
          </a:p>
        </p:txBody>
      </p:sp>
      <p:sp>
        <p:nvSpPr>
          <p:cNvPr id="26" name="TextBox 25"/>
          <p:cNvSpPr txBox="1"/>
          <p:nvPr/>
        </p:nvSpPr>
        <p:spPr>
          <a:xfrm>
            <a:off x="6035040" y="2798064"/>
            <a:ext cx="2194560" cy="320040"/>
          </a:xfrm>
          <a:prstGeom prst="rect">
            <a:avLst/>
          </a:prstGeom>
          <a:noFill/>
        </p:spPr>
        <p:txBody>
          <a:bodyPr wrap="square">
            <a:spAutoFit/>
          </a:bodyPr>
          <a:lstStyle/>
          <a:p>
            <a:pPr algn="l"/>
            <a:r>
              <a:rPr sz="1100" b="1" i="0">
                <a:solidFill>
                  <a:srgbClr val="00C4CC"/>
                </a:solidFill>
                <a:latin typeface="Calibri"/>
              </a:rPr>
              <a:t>Input Shape:</a:t>
            </a:r>
          </a:p>
        </p:txBody>
      </p:sp>
      <p:sp>
        <p:nvSpPr>
          <p:cNvPr id="27" name="TextBox 26"/>
          <p:cNvSpPr txBox="1"/>
          <p:nvPr/>
        </p:nvSpPr>
        <p:spPr>
          <a:xfrm>
            <a:off x="8412480" y="2798064"/>
            <a:ext cx="3291840" cy="320040"/>
          </a:xfrm>
          <a:prstGeom prst="rect">
            <a:avLst/>
          </a:prstGeom>
          <a:noFill/>
        </p:spPr>
        <p:txBody>
          <a:bodyPr wrap="square">
            <a:spAutoFit/>
          </a:bodyPr>
          <a:lstStyle/>
          <a:p>
            <a:pPr algn="l"/>
            <a:r>
              <a:rPr sz="1100" b="0" i="0">
                <a:solidFill>
                  <a:srgbClr val="F0F4F8"/>
                </a:solidFill>
                <a:latin typeface="Calibri"/>
              </a:rPr>
              <a:t>224 × 224 × 3 (RGB)</a:t>
            </a:r>
          </a:p>
        </p:txBody>
      </p:sp>
      <p:sp>
        <p:nvSpPr>
          <p:cNvPr id="28" name="TextBox 27"/>
          <p:cNvSpPr txBox="1"/>
          <p:nvPr/>
        </p:nvSpPr>
        <p:spPr>
          <a:xfrm>
            <a:off x="6035040" y="3145536"/>
            <a:ext cx="2194560" cy="320040"/>
          </a:xfrm>
          <a:prstGeom prst="rect">
            <a:avLst/>
          </a:prstGeom>
          <a:noFill/>
        </p:spPr>
        <p:txBody>
          <a:bodyPr wrap="square">
            <a:spAutoFit/>
          </a:bodyPr>
          <a:lstStyle/>
          <a:p>
            <a:pPr algn="l"/>
            <a:r>
              <a:rPr sz="1100" b="1" i="0">
                <a:solidFill>
                  <a:srgbClr val="00C4CC"/>
                </a:solidFill>
                <a:latin typeface="Calibri"/>
              </a:rPr>
              <a:t>Output Classes:</a:t>
            </a:r>
          </a:p>
        </p:txBody>
      </p:sp>
      <p:sp>
        <p:nvSpPr>
          <p:cNvPr id="29" name="TextBox 28"/>
          <p:cNvSpPr txBox="1"/>
          <p:nvPr/>
        </p:nvSpPr>
        <p:spPr>
          <a:xfrm>
            <a:off x="8412480" y="3145536"/>
            <a:ext cx="3291840" cy="320040"/>
          </a:xfrm>
          <a:prstGeom prst="rect">
            <a:avLst/>
          </a:prstGeom>
          <a:noFill/>
        </p:spPr>
        <p:txBody>
          <a:bodyPr wrap="square">
            <a:spAutoFit/>
          </a:bodyPr>
          <a:lstStyle/>
          <a:p>
            <a:pPr algn="l"/>
            <a:r>
              <a:rPr sz="1100" b="0" i="0">
                <a:solidFill>
                  <a:srgbClr val="F0F4F8"/>
                </a:solidFill>
                <a:latin typeface="Calibri"/>
              </a:rPr>
              <a:t>15 (Softmax)</a:t>
            </a:r>
          </a:p>
        </p:txBody>
      </p:sp>
      <p:sp>
        <p:nvSpPr>
          <p:cNvPr id="30" name="TextBox 29"/>
          <p:cNvSpPr txBox="1"/>
          <p:nvPr/>
        </p:nvSpPr>
        <p:spPr>
          <a:xfrm>
            <a:off x="6035040" y="3493008"/>
            <a:ext cx="2194560" cy="320040"/>
          </a:xfrm>
          <a:prstGeom prst="rect">
            <a:avLst/>
          </a:prstGeom>
          <a:noFill/>
        </p:spPr>
        <p:txBody>
          <a:bodyPr wrap="square">
            <a:spAutoFit/>
          </a:bodyPr>
          <a:lstStyle/>
          <a:p>
            <a:pPr algn="l"/>
            <a:r>
              <a:rPr sz="1100" b="1" i="0">
                <a:solidFill>
                  <a:srgbClr val="00C4CC"/>
                </a:solidFill>
                <a:latin typeface="Calibri"/>
              </a:rPr>
              <a:t>Total Params:</a:t>
            </a:r>
          </a:p>
        </p:txBody>
      </p:sp>
      <p:sp>
        <p:nvSpPr>
          <p:cNvPr id="31" name="TextBox 30"/>
          <p:cNvSpPr txBox="1"/>
          <p:nvPr/>
        </p:nvSpPr>
        <p:spPr>
          <a:xfrm>
            <a:off x="8412480" y="3493008"/>
            <a:ext cx="3291840" cy="320040"/>
          </a:xfrm>
          <a:prstGeom prst="rect">
            <a:avLst/>
          </a:prstGeom>
          <a:noFill/>
        </p:spPr>
        <p:txBody>
          <a:bodyPr wrap="square">
            <a:spAutoFit/>
          </a:bodyPr>
          <a:lstStyle/>
          <a:p>
            <a:pPr algn="l"/>
            <a:r>
              <a:rPr sz="1100" b="0" i="0">
                <a:solidFill>
                  <a:srgbClr val="F0F4F8"/>
                </a:solidFill>
                <a:latin typeface="Calibri"/>
              </a:rPr>
              <a:t>5.3 Million</a:t>
            </a:r>
          </a:p>
        </p:txBody>
      </p:sp>
      <p:sp>
        <p:nvSpPr>
          <p:cNvPr id="32" name="TextBox 31"/>
          <p:cNvSpPr txBox="1"/>
          <p:nvPr/>
        </p:nvSpPr>
        <p:spPr>
          <a:xfrm>
            <a:off x="6035040" y="3840480"/>
            <a:ext cx="2194560" cy="320040"/>
          </a:xfrm>
          <a:prstGeom prst="rect">
            <a:avLst/>
          </a:prstGeom>
          <a:noFill/>
        </p:spPr>
        <p:txBody>
          <a:bodyPr wrap="square">
            <a:spAutoFit/>
          </a:bodyPr>
          <a:lstStyle/>
          <a:p>
            <a:pPr algn="l"/>
            <a:r>
              <a:rPr sz="1100" b="1" i="0">
                <a:solidFill>
                  <a:srgbClr val="00C4CC"/>
                </a:solidFill>
                <a:latin typeface="Calibri"/>
              </a:rPr>
              <a:t>Loss Function:</a:t>
            </a:r>
          </a:p>
        </p:txBody>
      </p:sp>
      <p:sp>
        <p:nvSpPr>
          <p:cNvPr id="33" name="TextBox 32"/>
          <p:cNvSpPr txBox="1"/>
          <p:nvPr/>
        </p:nvSpPr>
        <p:spPr>
          <a:xfrm>
            <a:off x="8412480" y="3840480"/>
            <a:ext cx="3291840" cy="320040"/>
          </a:xfrm>
          <a:prstGeom prst="rect">
            <a:avLst/>
          </a:prstGeom>
          <a:noFill/>
        </p:spPr>
        <p:txBody>
          <a:bodyPr wrap="square">
            <a:spAutoFit/>
          </a:bodyPr>
          <a:lstStyle/>
          <a:p>
            <a:pPr algn="l"/>
            <a:r>
              <a:rPr sz="1100" b="0" i="0">
                <a:solidFill>
                  <a:srgbClr val="F0F4F8"/>
                </a:solidFill>
                <a:latin typeface="Calibri"/>
              </a:rPr>
              <a:t>Cross-Entropy Loss</a:t>
            </a:r>
          </a:p>
        </p:txBody>
      </p:sp>
      <p:sp>
        <p:nvSpPr>
          <p:cNvPr id="34" name="TextBox 33"/>
          <p:cNvSpPr txBox="1"/>
          <p:nvPr/>
        </p:nvSpPr>
        <p:spPr>
          <a:xfrm>
            <a:off x="6035040" y="4187952"/>
            <a:ext cx="2194560" cy="320040"/>
          </a:xfrm>
          <a:prstGeom prst="rect">
            <a:avLst/>
          </a:prstGeom>
          <a:noFill/>
        </p:spPr>
        <p:txBody>
          <a:bodyPr wrap="square">
            <a:spAutoFit/>
          </a:bodyPr>
          <a:lstStyle/>
          <a:p>
            <a:pPr algn="l"/>
            <a:r>
              <a:rPr sz="1100" b="1" i="0">
                <a:solidFill>
                  <a:srgbClr val="00C4CC"/>
                </a:solidFill>
                <a:latin typeface="Calibri"/>
              </a:rPr>
              <a:t>Optimizer:</a:t>
            </a:r>
          </a:p>
        </p:txBody>
      </p:sp>
      <p:sp>
        <p:nvSpPr>
          <p:cNvPr id="35" name="TextBox 34"/>
          <p:cNvSpPr txBox="1"/>
          <p:nvPr/>
        </p:nvSpPr>
        <p:spPr>
          <a:xfrm>
            <a:off x="8412480" y="4187952"/>
            <a:ext cx="3291840" cy="320040"/>
          </a:xfrm>
          <a:prstGeom prst="rect">
            <a:avLst/>
          </a:prstGeom>
          <a:noFill/>
        </p:spPr>
        <p:txBody>
          <a:bodyPr wrap="square">
            <a:spAutoFit/>
          </a:bodyPr>
          <a:lstStyle/>
          <a:p>
            <a:pPr algn="l"/>
            <a:r>
              <a:rPr sz="1100" b="0" i="0">
                <a:solidFill>
                  <a:srgbClr val="F0F4F8"/>
                </a:solidFill>
                <a:latin typeface="Calibri"/>
              </a:rPr>
              <a:t>Adam (lr=1e-4, weight_decay=1e-4)</a:t>
            </a:r>
          </a:p>
        </p:txBody>
      </p:sp>
      <p:sp>
        <p:nvSpPr>
          <p:cNvPr id="36" name="TextBox 35"/>
          <p:cNvSpPr txBox="1"/>
          <p:nvPr/>
        </p:nvSpPr>
        <p:spPr>
          <a:xfrm>
            <a:off x="6035040" y="4535424"/>
            <a:ext cx="2194560" cy="320040"/>
          </a:xfrm>
          <a:prstGeom prst="rect">
            <a:avLst/>
          </a:prstGeom>
          <a:noFill/>
        </p:spPr>
        <p:txBody>
          <a:bodyPr wrap="square">
            <a:spAutoFit/>
          </a:bodyPr>
          <a:lstStyle/>
          <a:p>
            <a:pPr algn="l"/>
            <a:r>
              <a:rPr sz="1100" b="1" i="0">
                <a:solidFill>
                  <a:srgbClr val="00C4CC"/>
                </a:solidFill>
                <a:latin typeface="Calibri"/>
              </a:rPr>
              <a:t>LR Scheduler:</a:t>
            </a:r>
          </a:p>
        </p:txBody>
      </p:sp>
      <p:sp>
        <p:nvSpPr>
          <p:cNvPr id="37" name="TextBox 36"/>
          <p:cNvSpPr txBox="1"/>
          <p:nvPr/>
        </p:nvSpPr>
        <p:spPr>
          <a:xfrm>
            <a:off x="8412480" y="4535424"/>
            <a:ext cx="3291840" cy="320040"/>
          </a:xfrm>
          <a:prstGeom prst="rect">
            <a:avLst/>
          </a:prstGeom>
          <a:noFill/>
        </p:spPr>
        <p:txBody>
          <a:bodyPr wrap="square">
            <a:spAutoFit/>
          </a:bodyPr>
          <a:lstStyle/>
          <a:p>
            <a:pPr algn="l"/>
            <a:r>
              <a:rPr sz="1100" b="0" i="0">
                <a:solidFill>
                  <a:srgbClr val="F0F4F8"/>
                </a:solidFill>
                <a:latin typeface="Calibri"/>
              </a:rPr>
              <a:t>ReduceLROnPlateau (patience=3)</a:t>
            </a:r>
          </a:p>
        </p:txBody>
      </p:sp>
      <p:sp>
        <p:nvSpPr>
          <p:cNvPr id="38" name="TextBox 37"/>
          <p:cNvSpPr txBox="1"/>
          <p:nvPr/>
        </p:nvSpPr>
        <p:spPr>
          <a:xfrm>
            <a:off x="6035040" y="4882896"/>
            <a:ext cx="2194560" cy="320040"/>
          </a:xfrm>
          <a:prstGeom prst="rect">
            <a:avLst/>
          </a:prstGeom>
          <a:noFill/>
        </p:spPr>
        <p:txBody>
          <a:bodyPr wrap="square">
            <a:spAutoFit/>
          </a:bodyPr>
          <a:lstStyle/>
          <a:p>
            <a:pPr algn="l"/>
            <a:r>
              <a:rPr sz="1100" b="1" i="0">
                <a:solidFill>
                  <a:srgbClr val="00C4CC"/>
                </a:solidFill>
                <a:latin typeface="Calibri"/>
              </a:rPr>
              <a:t>Early Stopping:</a:t>
            </a:r>
          </a:p>
        </p:txBody>
      </p:sp>
      <p:sp>
        <p:nvSpPr>
          <p:cNvPr id="39" name="TextBox 38"/>
          <p:cNvSpPr txBox="1"/>
          <p:nvPr/>
        </p:nvSpPr>
        <p:spPr>
          <a:xfrm>
            <a:off x="8412480" y="4882896"/>
            <a:ext cx="3291840" cy="320040"/>
          </a:xfrm>
          <a:prstGeom prst="rect">
            <a:avLst/>
          </a:prstGeom>
          <a:noFill/>
        </p:spPr>
        <p:txBody>
          <a:bodyPr wrap="square">
            <a:spAutoFit/>
          </a:bodyPr>
          <a:lstStyle/>
          <a:p>
            <a:pPr algn="l"/>
            <a:r>
              <a:rPr sz="1100" b="0" i="0">
                <a:solidFill>
                  <a:srgbClr val="F0F4F8"/>
                </a:solidFill>
                <a:latin typeface="Calibri"/>
              </a:rPr>
              <a:t>Patience = 5 epochs</a:t>
            </a:r>
          </a:p>
        </p:txBody>
      </p:sp>
      <p:sp>
        <p:nvSpPr>
          <p:cNvPr id="40" name="TextBox 39"/>
          <p:cNvSpPr txBox="1"/>
          <p:nvPr/>
        </p:nvSpPr>
        <p:spPr>
          <a:xfrm>
            <a:off x="6035040" y="5230368"/>
            <a:ext cx="2194560" cy="320040"/>
          </a:xfrm>
          <a:prstGeom prst="rect">
            <a:avLst/>
          </a:prstGeom>
          <a:noFill/>
        </p:spPr>
        <p:txBody>
          <a:bodyPr wrap="square">
            <a:spAutoFit/>
          </a:bodyPr>
          <a:lstStyle/>
          <a:p>
            <a:pPr algn="l"/>
            <a:r>
              <a:rPr sz="1100" b="1" i="0">
                <a:solidFill>
                  <a:srgbClr val="00C4CC"/>
                </a:solidFill>
                <a:latin typeface="Calibri"/>
              </a:rPr>
              <a:t>Best Checkpoint:</a:t>
            </a:r>
          </a:p>
        </p:txBody>
      </p:sp>
      <p:sp>
        <p:nvSpPr>
          <p:cNvPr id="41" name="TextBox 40"/>
          <p:cNvSpPr txBox="1"/>
          <p:nvPr/>
        </p:nvSpPr>
        <p:spPr>
          <a:xfrm>
            <a:off x="8412480" y="5230368"/>
            <a:ext cx="3291840" cy="320040"/>
          </a:xfrm>
          <a:prstGeom prst="rect">
            <a:avLst/>
          </a:prstGeom>
          <a:noFill/>
        </p:spPr>
        <p:txBody>
          <a:bodyPr wrap="square">
            <a:spAutoFit/>
          </a:bodyPr>
          <a:lstStyle/>
          <a:p>
            <a:pPr algn="l"/>
            <a:r>
              <a:rPr sz="1100" b="0" i="0">
                <a:solidFill>
                  <a:srgbClr val="F0F4F8"/>
                </a:solidFill>
                <a:latin typeface="Calibri"/>
              </a:rPr>
              <a:t>Saved on highest Val Accuracy</a:t>
            </a:r>
          </a:p>
        </p:txBody>
      </p:sp>
      <p:sp>
        <p:nvSpPr>
          <p:cNvPr id="42" name="TextBox 41"/>
          <p:cNvSpPr txBox="1"/>
          <p:nvPr/>
        </p:nvSpPr>
        <p:spPr>
          <a:xfrm>
            <a:off x="6035040" y="5577840"/>
            <a:ext cx="2194560" cy="320040"/>
          </a:xfrm>
          <a:prstGeom prst="rect">
            <a:avLst/>
          </a:prstGeom>
          <a:noFill/>
        </p:spPr>
        <p:txBody>
          <a:bodyPr wrap="square">
            <a:spAutoFit/>
          </a:bodyPr>
          <a:lstStyle/>
          <a:p>
            <a:pPr algn="l"/>
            <a:r>
              <a:rPr sz="1100" b="1" i="0">
                <a:solidFill>
                  <a:srgbClr val="00C4CC"/>
                </a:solidFill>
                <a:latin typeface="Calibri"/>
              </a:rPr>
              <a:t>Export:</a:t>
            </a:r>
          </a:p>
        </p:txBody>
      </p:sp>
      <p:sp>
        <p:nvSpPr>
          <p:cNvPr id="43" name="TextBox 42"/>
          <p:cNvSpPr txBox="1"/>
          <p:nvPr/>
        </p:nvSpPr>
        <p:spPr>
          <a:xfrm>
            <a:off x="8412480" y="5577840"/>
            <a:ext cx="3291840" cy="320040"/>
          </a:xfrm>
          <a:prstGeom prst="rect">
            <a:avLst/>
          </a:prstGeom>
          <a:noFill/>
        </p:spPr>
        <p:txBody>
          <a:bodyPr wrap="square">
            <a:spAutoFit/>
          </a:bodyPr>
          <a:lstStyle/>
          <a:p>
            <a:pPr algn="l"/>
            <a:r>
              <a:rPr sz="1100" b="0" i="0">
                <a:solidFill>
                  <a:srgbClr val="F0F4F8"/>
                </a:solidFill>
                <a:latin typeface="Calibri"/>
              </a:rPr>
              <a:t>ONNX (best_model.onnx) + .pth</a:t>
            </a:r>
          </a:p>
        </p:txBody>
      </p:sp>
      <p:sp>
        <p:nvSpPr>
          <p:cNvPr id="44" name="TextBox 43"/>
          <p:cNvSpPr txBox="1"/>
          <p:nvPr/>
        </p:nvSpPr>
        <p:spPr>
          <a:xfrm>
            <a:off x="6035040" y="5925312"/>
            <a:ext cx="2194560" cy="320040"/>
          </a:xfrm>
          <a:prstGeom prst="rect">
            <a:avLst/>
          </a:prstGeom>
          <a:noFill/>
        </p:spPr>
        <p:txBody>
          <a:bodyPr wrap="square">
            <a:spAutoFit/>
          </a:bodyPr>
          <a:lstStyle/>
          <a:p>
            <a:pPr algn="l"/>
            <a:r>
              <a:rPr sz="1100" b="1" i="0">
                <a:solidFill>
                  <a:srgbClr val="00C4CC"/>
                </a:solidFill>
                <a:latin typeface="Calibri"/>
              </a:rPr>
              <a:t>Inference:</a:t>
            </a:r>
          </a:p>
        </p:txBody>
      </p:sp>
      <p:sp>
        <p:nvSpPr>
          <p:cNvPr id="45" name="TextBox 44"/>
          <p:cNvSpPr txBox="1"/>
          <p:nvPr/>
        </p:nvSpPr>
        <p:spPr>
          <a:xfrm>
            <a:off x="8412480" y="5925312"/>
            <a:ext cx="3291840" cy="320040"/>
          </a:xfrm>
          <a:prstGeom prst="rect">
            <a:avLst/>
          </a:prstGeom>
          <a:noFill/>
        </p:spPr>
        <p:txBody>
          <a:bodyPr wrap="square">
            <a:spAutoFit/>
          </a:bodyPr>
          <a:lstStyle/>
          <a:p>
            <a:pPr algn="l"/>
            <a:r>
              <a:rPr sz="1100" b="0" i="0">
                <a:solidFill>
                  <a:srgbClr val="F0F4F8"/>
                </a:solidFill>
                <a:latin typeface="Calibri"/>
              </a:rPr>
              <a:t>&lt;45ms (MPS/GPU)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00E67A"/>
                </a:solidFill>
                <a:latin typeface="Calibri"/>
              </a:rPr>
              <a:t>07</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Explainable AI — Why Does It Matter?</a:t>
            </a:r>
          </a:p>
        </p:txBody>
      </p:sp>
      <p:sp>
        <p:nvSpPr>
          <p:cNvPr id="5" name="Rectangle 4"/>
          <p:cNvSpPr/>
          <p:nvPr/>
        </p:nvSpPr>
        <p:spPr>
          <a:xfrm>
            <a:off x="274320" y="1161288"/>
            <a:ext cx="438912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80160"/>
            <a:ext cx="10972800" cy="320040"/>
          </a:xfrm>
          <a:prstGeom prst="rect">
            <a:avLst/>
          </a:prstGeom>
          <a:noFill/>
        </p:spPr>
        <p:txBody>
          <a:bodyPr wrap="square">
            <a:spAutoFit/>
          </a:bodyPr>
          <a:lstStyle/>
          <a:p>
            <a:pPr algn="l"/>
            <a:r>
              <a:rPr sz="1200" b="0" i="1">
                <a:solidFill>
                  <a:srgbClr val="8B95A7"/>
                </a:solidFill>
                <a:latin typeface="Calibri"/>
              </a:rPr>
              <a:t>The problem with black-box models in agricultural AI</a:t>
            </a:r>
          </a:p>
        </p:txBody>
      </p:sp>
      <p:sp>
        <p:nvSpPr>
          <p:cNvPr id="7" name="Rectangle 6"/>
          <p:cNvSpPr/>
          <p:nvPr/>
        </p:nvSpPr>
        <p:spPr>
          <a:xfrm>
            <a:off x="274320" y="1508760"/>
            <a:ext cx="5394960"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508760"/>
            <a:ext cx="539496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45920"/>
            <a:ext cx="5029200" cy="384048"/>
          </a:xfrm>
          <a:prstGeom prst="rect">
            <a:avLst/>
          </a:prstGeom>
          <a:noFill/>
        </p:spPr>
        <p:txBody>
          <a:bodyPr wrap="square">
            <a:spAutoFit/>
          </a:bodyPr>
          <a:lstStyle/>
          <a:p>
            <a:pPr algn="l"/>
            <a:r>
              <a:rPr sz="1400" b="1" i="0">
                <a:solidFill>
                  <a:srgbClr val="F59E0B"/>
                </a:solidFill>
                <a:latin typeface="Calibri"/>
              </a:rPr>
              <a:t>⚠️  The Black-Box Problem</a:t>
            </a:r>
          </a:p>
        </p:txBody>
      </p:sp>
      <p:sp>
        <p:nvSpPr>
          <p:cNvPr id="10" name="TextBox 9"/>
          <p:cNvSpPr txBox="1"/>
          <p:nvPr/>
        </p:nvSpPr>
        <p:spPr>
          <a:xfrm>
            <a:off x="457200" y="2148840"/>
            <a:ext cx="5029200" cy="347472"/>
          </a:xfrm>
          <a:prstGeom prst="rect">
            <a:avLst/>
          </a:prstGeom>
          <a:noFill/>
        </p:spPr>
        <p:txBody>
          <a:bodyPr wrap="square">
            <a:spAutoFit/>
          </a:bodyPr>
          <a:lstStyle/>
          <a:p>
            <a:pPr algn="l"/>
            <a:r>
              <a:rPr sz="1200" b="1" i="0">
                <a:solidFill>
                  <a:srgbClr val="F59E0B"/>
                </a:solidFill>
                <a:latin typeface="Calibri"/>
              </a:rPr>
              <a:t>✗  No Transparency</a:t>
            </a:r>
          </a:p>
        </p:txBody>
      </p:sp>
      <p:sp>
        <p:nvSpPr>
          <p:cNvPr id="11" name="TextBox 10"/>
          <p:cNvSpPr txBox="1"/>
          <p:nvPr/>
        </p:nvSpPr>
        <p:spPr>
          <a:xfrm>
            <a:off x="457200" y="2496312"/>
            <a:ext cx="5029200" cy="685800"/>
          </a:xfrm>
          <a:prstGeom prst="rect">
            <a:avLst/>
          </a:prstGeom>
          <a:noFill/>
        </p:spPr>
        <p:txBody>
          <a:bodyPr wrap="square">
            <a:spAutoFit/>
          </a:bodyPr>
          <a:lstStyle/>
          <a:p>
            <a:pPr algn="l"/>
            <a:r>
              <a:rPr sz="1100" b="0" i="0">
                <a:solidFill>
                  <a:srgbClr val="8B95A7"/>
                </a:solidFill>
                <a:latin typeface="Calibri"/>
              </a:rPr>
              <a:t>A model that says "99% Late Blight" but provides zero evidence cannot be trusted by farmers or agronomists for real-world decisions.</a:t>
            </a:r>
          </a:p>
        </p:txBody>
      </p:sp>
      <p:sp>
        <p:nvSpPr>
          <p:cNvPr id="12" name="TextBox 11"/>
          <p:cNvSpPr txBox="1"/>
          <p:nvPr/>
        </p:nvSpPr>
        <p:spPr>
          <a:xfrm>
            <a:off x="457200" y="3246120"/>
            <a:ext cx="5029200" cy="347472"/>
          </a:xfrm>
          <a:prstGeom prst="rect">
            <a:avLst/>
          </a:prstGeom>
          <a:noFill/>
        </p:spPr>
        <p:txBody>
          <a:bodyPr wrap="square">
            <a:spAutoFit/>
          </a:bodyPr>
          <a:lstStyle/>
          <a:p>
            <a:pPr algn="l"/>
            <a:r>
              <a:rPr sz="1200" b="1" i="0">
                <a:solidFill>
                  <a:srgbClr val="F59E0B"/>
                </a:solidFill>
                <a:latin typeface="Calibri"/>
              </a:rPr>
              <a:t>✗  No Accountability</a:t>
            </a:r>
          </a:p>
        </p:txBody>
      </p:sp>
      <p:sp>
        <p:nvSpPr>
          <p:cNvPr id="13" name="TextBox 12"/>
          <p:cNvSpPr txBox="1"/>
          <p:nvPr/>
        </p:nvSpPr>
        <p:spPr>
          <a:xfrm>
            <a:off x="457200" y="3593592"/>
            <a:ext cx="5029200" cy="685800"/>
          </a:xfrm>
          <a:prstGeom prst="rect">
            <a:avLst/>
          </a:prstGeom>
          <a:noFill/>
        </p:spPr>
        <p:txBody>
          <a:bodyPr wrap="square">
            <a:spAutoFit/>
          </a:bodyPr>
          <a:lstStyle/>
          <a:p>
            <a:pPr algn="l"/>
            <a:r>
              <a:rPr sz="1100" b="0" i="0">
                <a:solidFill>
                  <a:srgbClr val="8B95A7"/>
                </a:solidFill>
                <a:latin typeface="Calibri"/>
              </a:rPr>
              <a:t>If the model is wrong, there is no way to understand WHY it failed — making debugging, auditing, and improvement impossible.</a:t>
            </a:r>
          </a:p>
        </p:txBody>
      </p:sp>
      <p:sp>
        <p:nvSpPr>
          <p:cNvPr id="14" name="TextBox 13"/>
          <p:cNvSpPr txBox="1"/>
          <p:nvPr/>
        </p:nvSpPr>
        <p:spPr>
          <a:xfrm>
            <a:off x="457200" y="4343400"/>
            <a:ext cx="5029200" cy="347472"/>
          </a:xfrm>
          <a:prstGeom prst="rect">
            <a:avLst/>
          </a:prstGeom>
          <a:noFill/>
        </p:spPr>
        <p:txBody>
          <a:bodyPr wrap="square">
            <a:spAutoFit/>
          </a:bodyPr>
          <a:lstStyle/>
          <a:p>
            <a:pPr algn="l"/>
            <a:r>
              <a:rPr sz="1200" b="1" i="0">
                <a:solidFill>
                  <a:srgbClr val="F59E0B"/>
                </a:solidFill>
                <a:latin typeface="Calibri"/>
              </a:rPr>
              <a:t>✗  No Trust</a:t>
            </a:r>
          </a:p>
        </p:txBody>
      </p:sp>
      <p:sp>
        <p:nvSpPr>
          <p:cNvPr id="15" name="TextBox 14"/>
          <p:cNvSpPr txBox="1"/>
          <p:nvPr/>
        </p:nvSpPr>
        <p:spPr>
          <a:xfrm>
            <a:off x="457200" y="4690872"/>
            <a:ext cx="5029200" cy="685800"/>
          </a:xfrm>
          <a:prstGeom prst="rect">
            <a:avLst/>
          </a:prstGeom>
          <a:noFill/>
        </p:spPr>
        <p:txBody>
          <a:bodyPr wrap="square">
            <a:spAutoFit/>
          </a:bodyPr>
          <a:lstStyle/>
          <a:p>
            <a:pPr algn="l"/>
            <a:r>
              <a:rPr sz="1100" b="0" i="0">
                <a:solidFill>
                  <a:srgbClr val="8B95A7"/>
                </a:solidFill>
                <a:latin typeface="Calibri"/>
              </a:rPr>
              <a:t>Farmers will not adopt AI tools that feel like a magic black box. Trust is built through visible, understandable reasoning.</a:t>
            </a:r>
          </a:p>
        </p:txBody>
      </p:sp>
      <p:sp>
        <p:nvSpPr>
          <p:cNvPr id="16" name="TextBox 15"/>
          <p:cNvSpPr txBox="1"/>
          <p:nvPr/>
        </p:nvSpPr>
        <p:spPr>
          <a:xfrm>
            <a:off x="457200" y="5440680"/>
            <a:ext cx="5029200" cy="347472"/>
          </a:xfrm>
          <a:prstGeom prst="rect">
            <a:avLst/>
          </a:prstGeom>
          <a:noFill/>
        </p:spPr>
        <p:txBody>
          <a:bodyPr wrap="square">
            <a:spAutoFit/>
          </a:bodyPr>
          <a:lstStyle/>
          <a:p>
            <a:pPr algn="l"/>
            <a:r>
              <a:rPr sz="1200" b="1" i="0">
                <a:solidFill>
                  <a:srgbClr val="F59E0B"/>
                </a:solidFill>
                <a:latin typeface="Calibri"/>
              </a:rPr>
              <a:t>✗  Regulatory Risk</a:t>
            </a:r>
          </a:p>
        </p:txBody>
      </p:sp>
      <p:sp>
        <p:nvSpPr>
          <p:cNvPr id="17" name="TextBox 16"/>
          <p:cNvSpPr txBox="1"/>
          <p:nvPr/>
        </p:nvSpPr>
        <p:spPr>
          <a:xfrm>
            <a:off x="457200" y="5788152"/>
            <a:ext cx="5029200" cy="685800"/>
          </a:xfrm>
          <a:prstGeom prst="rect">
            <a:avLst/>
          </a:prstGeom>
          <a:noFill/>
        </p:spPr>
        <p:txBody>
          <a:bodyPr wrap="square">
            <a:spAutoFit/>
          </a:bodyPr>
          <a:lstStyle/>
          <a:p>
            <a:pPr algn="l"/>
            <a:r>
              <a:rPr sz="1100" b="0" i="0">
                <a:solidFill>
                  <a:srgbClr val="8B95A7"/>
                </a:solidFill>
                <a:latin typeface="Calibri"/>
              </a:rPr>
              <a:t>Agricultural AI deployed in production requires explainability for legal compliance and food safety accountability.</a:t>
            </a:r>
          </a:p>
        </p:txBody>
      </p:sp>
      <p:sp>
        <p:nvSpPr>
          <p:cNvPr id="18" name="Rectangle 17"/>
          <p:cNvSpPr/>
          <p:nvPr/>
        </p:nvSpPr>
        <p:spPr>
          <a:xfrm>
            <a:off x="5897880" y="1508760"/>
            <a:ext cx="5989320"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97880" y="1508760"/>
            <a:ext cx="598932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1645920"/>
            <a:ext cx="5577840" cy="384048"/>
          </a:xfrm>
          <a:prstGeom prst="rect">
            <a:avLst/>
          </a:prstGeom>
          <a:noFill/>
        </p:spPr>
        <p:txBody>
          <a:bodyPr wrap="square">
            <a:spAutoFit/>
          </a:bodyPr>
          <a:lstStyle/>
          <a:p>
            <a:pPr algn="l"/>
            <a:r>
              <a:rPr sz="1400" b="1" i="0">
                <a:solidFill>
                  <a:srgbClr val="00E67A"/>
                </a:solidFill>
                <a:latin typeface="Calibri"/>
              </a:rPr>
              <a:t>✅  What XAI Provides</a:t>
            </a:r>
          </a:p>
        </p:txBody>
      </p:sp>
      <p:sp>
        <p:nvSpPr>
          <p:cNvPr id="21" name="TextBox 20"/>
          <p:cNvSpPr txBox="1"/>
          <p:nvPr/>
        </p:nvSpPr>
        <p:spPr>
          <a:xfrm>
            <a:off x="6080760" y="2148840"/>
            <a:ext cx="5577840" cy="347472"/>
          </a:xfrm>
          <a:prstGeom prst="rect">
            <a:avLst/>
          </a:prstGeom>
          <a:noFill/>
        </p:spPr>
        <p:txBody>
          <a:bodyPr wrap="square">
            <a:spAutoFit/>
          </a:bodyPr>
          <a:lstStyle/>
          <a:p>
            <a:pPr algn="l"/>
            <a:r>
              <a:rPr sz="1200" b="1" i="0">
                <a:solidFill>
                  <a:srgbClr val="00E67A"/>
                </a:solidFill>
                <a:latin typeface="Calibri"/>
              </a:rPr>
              <a:t>✓  Visual Attribution Maps</a:t>
            </a:r>
          </a:p>
        </p:txBody>
      </p:sp>
      <p:sp>
        <p:nvSpPr>
          <p:cNvPr id="22" name="TextBox 21"/>
          <p:cNvSpPr txBox="1"/>
          <p:nvPr/>
        </p:nvSpPr>
        <p:spPr>
          <a:xfrm>
            <a:off x="6080760" y="2496312"/>
            <a:ext cx="5577840" cy="512064"/>
          </a:xfrm>
          <a:prstGeom prst="rect">
            <a:avLst/>
          </a:prstGeom>
          <a:noFill/>
        </p:spPr>
        <p:txBody>
          <a:bodyPr wrap="square">
            <a:spAutoFit/>
          </a:bodyPr>
          <a:lstStyle/>
          <a:p>
            <a:pPr algn="l"/>
            <a:r>
              <a:rPr sz="1050" b="0" i="0">
                <a:solidFill>
                  <a:srgbClr val="8B95A7"/>
                </a:solidFill>
                <a:latin typeface="Calibri"/>
              </a:rPr>
              <a:t>Heatmaps pinpoint exactly which pixels and regions of the leaf the model focused on — making reasoning transparent and visible.</a:t>
            </a:r>
          </a:p>
        </p:txBody>
      </p:sp>
      <p:sp>
        <p:nvSpPr>
          <p:cNvPr id="23" name="TextBox 22"/>
          <p:cNvSpPr txBox="1"/>
          <p:nvPr/>
        </p:nvSpPr>
        <p:spPr>
          <a:xfrm>
            <a:off x="6080760" y="3063240"/>
            <a:ext cx="5577840" cy="347472"/>
          </a:xfrm>
          <a:prstGeom prst="rect">
            <a:avLst/>
          </a:prstGeom>
          <a:noFill/>
        </p:spPr>
        <p:txBody>
          <a:bodyPr wrap="square">
            <a:spAutoFit/>
          </a:bodyPr>
          <a:lstStyle/>
          <a:p>
            <a:pPr algn="l"/>
            <a:r>
              <a:rPr sz="1200" b="1" i="0">
                <a:solidFill>
                  <a:srgbClr val="00E67A"/>
                </a:solidFill>
                <a:latin typeface="Calibri"/>
              </a:rPr>
              <a:t>✓  Disease Signature Verification</a:t>
            </a:r>
          </a:p>
        </p:txBody>
      </p:sp>
      <p:sp>
        <p:nvSpPr>
          <p:cNvPr id="24" name="TextBox 23"/>
          <p:cNvSpPr txBox="1"/>
          <p:nvPr/>
        </p:nvSpPr>
        <p:spPr>
          <a:xfrm>
            <a:off x="6080760" y="3410712"/>
            <a:ext cx="5577840" cy="512064"/>
          </a:xfrm>
          <a:prstGeom prst="rect">
            <a:avLst/>
          </a:prstGeom>
          <a:noFill/>
        </p:spPr>
        <p:txBody>
          <a:bodyPr wrap="square">
            <a:spAutoFit/>
          </a:bodyPr>
          <a:lstStyle/>
          <a:p>
            <a:pPr algn="l"/>
            <a:r>
              <a:rPr sz="1050" b="0" i="0">
                <a:solidFill>
                  <a:srgbClr val="8B95A7"/>
                </a:solidFill>
                <a:latin typeface="Calibri"/>
              </a:rPr>
              <a:t>Experts can verify the model is detecting actual disease markers (necrotic spots, chlorotic halos, lesion patterns) — not image artifacts.</a:t>
            </a:r>
          </a:p>
        </p:txBody>
      </p:sp>
      <p:sp>
        <p:nvSpPr>
          <p:cNvPr id="25" name="TextBox 24"/>
          <p:cNvSpPr txBox="1"/>
          <p:nvPr/>
        </p:nvSpPr>
        <p:spPr>
          <a:xfrm>
            <a:off x="6080760" y="3977640"/>
            <a:ext cx="5577840" cy="347472"/>
          </a:xfrm>
          <a:prstGeom prst="rect">
            <a:avLst/>
          </a:prstGeom>
          <a:noFill/>
        </p:spPr>
        <p:txBody>
          <a:bodyPr wrap="square">
            <a:spAutoFit/>
          </a:bodyPr>
          <a:lstStyle/>
          <a:p>
            <a:pPr algn="l"/>
            <a:r>
              <a:rPr sz="1200" b="1" i="0">
                <a:solidFill>
                  <a:srgbClr val="00E67A"/>
                </a:solidFill>
                <a:latin typeface="Calibri"/>
              </a:rPr>
              <a:t>✓  Farmer Trust &amp; Adoption</a:t>
            </a:r>
          </a:p>
        </p:txBody>
      </p:sp>
      <p:sp>
        <p:nvSpPr>
          <p:cNvPr id="26" name="TextBox 25"/>
          <p:cNvSpPr txBox="1"/>
          <p:nvPr/>
        </p:nvSpPr>
        <p:spPr>
          <a:xfrm>
            <a:off x="6080760" y="4325112"/>
            <a:ext cx="5577840" cy="512064"/>
          </a:xfrm>
          <a:prstGeom prst="rect">
            <a:avLst/>
          </a:prstGeom>
          <a:noFill/>
        </p:spPr>
        <p:txBody>
          <a:bodyPr wrap="square">
            <a:spAutoFit/>
          </a:bodyPr>
          <a:lstStyle/>
          <a:p>
            <a:pPr algn="l"/>
            <a:r>
              <a:rPr sz="1050" b="0" i="0">
                <a:solidFill>
                  <a:srgbClr val="8B95A7"/>
                </a:solidFill>
                <a:latin typeface="Calibri"/>
              </a:rPr>
              <a:t>"The model highlighted these dark concentric spots" is actionable. Farmers can cross-reference the heatmap with what they see on the leaf.</a:t>
            </a:r>
          </a:p>
        </p:txBody>
      </p:sp>
      <p:sp>
        <p:nvSpPr>
          <p:cNvPr id="27" name="TextBox 26"/>
          <p:cNvSpPr txBox="1"/>
          <p:nvPr/>
        </p:nvSpPr>
        <p:spPr>
          <a:xfrm>
            <a:off x="6080760" y="4892040"/>
            <a:ext cx="5577840" cy="347472"/>
          </a:xfrm>
          <a:prstGeom prst="rect">
            <a:avLst/>
          </a:prstGeom>
          <a:noFill/>
        </p:spPr>
        <p:txBody>
          <a:bodyPr wrap="square">
            <a:spAutoFit/>
          </a:bodyPr>
          <a:lstStyle/>
          <a:p>
            <a:pPr algn="l"/>
            <a:r>
              <a:rPr sz="1200" b="1" i="0">
                <a:solidFill>
                  <a:srgbClr val="00E67A"/>
                </a:solidFill>
                <a:latin typeface="Calibri"/>
              </a:rPr>
              <a:t>✓  Scientific Credibility</a:t>
            </a:r>
          </a:p>
        </p:txBody>
      </p:sp>
      <p:sp>
        <p:nvSpPr>
          <p:cNvPr id="28" name="TextBox 27"/>
          <p:cNvSpPr txBox="1"/>
          <p:nvPr/>
        </p:nvSpPr>
        <p:spPr>
          <a:xfrm>
            <a:off x="6080760" y="5239512"/>
            <a:ext cx="5577840" cy="512064"/>
          </a:xfrm>
          <a:prstGeom prst="rect">
            <a:avLst/>
          </a:prstGeom>
          <a:noFill/>
        </p:spPr>
        <p:txBody>
          <a:bodyPr wrap="square">
            <a:spAutoFit/>
          </a:bodyPr>
          <a:lstStyle/>
          <a:p>
            <a:pPr algn="l"/>
            <a:r>
              <a:rPr sz="1050" b="0" i="0">
                <a:solidFill>
                  <a:srgbClr val="8B95A7"/>
                </a:solidFill>
                <a:latin typeface="Calibri"/>
              </a:rPr>
              <a:t>Research-grade XAI is required for journal publication and peer review. It elevates the project from a demo to a scientific contribution.</a:t>
            </a:r>
          </a:p>
        </p:txBody>
      </p:sp>
      <p:sp>
        <p:nvSpPr>
          <p:cNvPr id="29" name="TextBox 28"/>
          <p:cNvSpPr txBox="1"/>
          <p:nvPr/>
        </p:nvSpPr>
        <p:spPr>
          <a:xfrm>
            <a:off x="6080760" y="5806440"/>
            <a:ext cx="5577840" cy="347472"/>
          </a:xfrm>
          <a:prstGeom prst="rect">
            <a:avLst/>
          </a:prstGeom>
          <a:noFill/>
        </p:spPr>
        <p:txBody>
          <a:bodyPr wrap="square">
            <a:spAutoFit/>
          </a:bodyPr>
          <a:lstStyle/>
          <a:p>
            <a:pPr algn="l"/>
            <a:r>
              <a:rPr sz="1200" b="1" i="0">
                <a:solidFill>
                  <a:srgbClr val="00E67A"/>
                </a:solidFill>
                <a:latin typeface="Calibri"/>
              </a:rPr>
              <a:t>✓  Debugging &amp; Improvement</a:t>
            </a:r>
          </a:p>
        </p:txBody>
      </p:sp>
      <p:sp>
        <p:nvSpPr>
          <p:cNvPr id="30" name="TextBox 29"/>
          <p:cNvSpPr txBox="1"/>
          <p:nvPr/>
        </p:nvSpPr>
        <p:spPr>
          <a:xfrm>
            <a:off x="6080760" y="6153912"/>
            <a:ext cx="5577840" cy="512064"/>
          </a:xfrm>
          <a:prstGeom prst="rect">
            <a:avLst/>
          </a:prstGeom>
          <a:noFill/>
        </p:spPr>
        <p:txBody>
          <a:bodyPr wrap="square">
            <a:spAutoFit/>
          </a:bodyPr>
          <a:lstStyle/>
          <a:p>
            <a:pPr algn="l"/>
            <a:r>
              <a:rPr sz="1050" b="0" i="0">
                <a:solidFill>
                  <a:srgbClr val="8B95A7"/>
                </a:solidFill>
                <a:latin typeface="Calibri"/>
              </a:rPr>
              <a:t>If the heatmap highlights the background instead of the leaf, we know the model is overfitting — allowing targeted fixes.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00E67A"/>
                </a:solidFill>
                <a:latin typeface="Calibri"/>
              </a:rPr>
              <a:t>07A</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Grad-CAM — Gradient-weighted Class Activation Maps</a:t>
            </a:r>
          </a:p>
        </p:txBody>
      </p:sp>
      <p:sp>
        <p:nvSpPr>
          <p:cNvPr id="5" name="Rectangle 4"/>
          <p:cNvSpPr/>
          <p:nvPr/>
        </p:nvSpPr>
        <p:spPr>
          <a:xfrm>
            <a:off x="274320" y="1161288"/>
            <a:ext cx="438912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80160"/>
            <a:ext cx="10972800" cy="320040"/>
          </a:xfrm>
          <a:prstGeom prst="rect">
            <a:avLst/>
          </a:prstGeom>
          <a:noFill/>
        </p:spPr>
        <p:txBody>
          <a:bodyPr wrap="square">
            <a:spAutoFit/>
          </a:bodyPr>
          <a:lstStyle/>
          <a:p>
            <a:pPr algn="l"/>
            <a:r>
              <a:rPr sz="1200" b="0" i="1">
                <a:solidFill>
                  <a:srgbClr val="8B95A7"/>
                </a:solidFill>
                <a:latin typeface="Calibri"/>
              </a:rPr>
              <a:t>Technique 1 of 3  |  Target layer: EfficientNet-B0 features[-1]  |  file: explainability/grad_cam.py</a:t>
            </a:r>
          </a:p>
        </p:txBody>
      </p:sp>
      <p:sp>
        <p:nvSpPr>
          <p:cNvPr id="7" name="Rectangle 6"/>
          <p:cNvSpPr/>
          <p:nvPr/>
        </p:nvSpPr>
        <p:spPr>
          <a:xfrm>
            <a:off x="274320" y="1508760"/>
            <a:ext cx="3749039"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508760"/>
            <a:ext cx="3749039"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45920"/>
            <a:ext cx="3383280" cy="365760"/>
          </a:xfrm>
          <a:prstGeom prst="rect">
            <a:avLst/>
          </a:prstGeom>
          <a:noFill/>
        </p:spPr>
        <p:txBody>
          <a:bodyPr wrap="square">
            <a:spAutoFit/>
          </a:bodyPr>
          <a:lstStyle/>
          <a:p>
            <a:pPr algn="l"/>
            <a:r>
              <a:rPr sz="1300" b="1" i="0">
                <a:solidFill>
                  <a:srgbClr val="00E67A"/>
                </a:solidFill>
                <a:latin typeface="Calibri"/>
              </a:rPr>
              <a:t>What is Grad-CAM?</a:t>
            </a:r>
          </a:p>
        </p:txBody>
      </p:sp>
      <p:sp>
        <p:nvSpPr>
          <p:cNvPr id="10" name="TextBox 9"/>
          <p:cNvSpPr txBox="1"/>
          <p:nvPr/>
        </p:nvSpPr>
        <p:spPr>
          <a:xfrm>
            <a:off x="457200" y="2057400"/>
            <a:ext cx="3383280" cy="1828800"/>
          </a:xfrm>
          <a:prstGeom prst="rect">
            <a:avLst/>
          </a:prstGeom>
          <a:noFill/>
        </p:spPr>
        <p:txBody>
          <a:bodyPr wrap="square">
            <a:spAutoFit/>
          </a:bodyPr>
          <a:lstStyle/>
          <a:p>
            <a:pPr algn="l"/>
            <a:r>
              <a:rPr sz="1050" b="0" i="0">
                <a:solidFill>
                  <a:srgbClr val="8B95A7"/>
                </a:solidFill>
                <a:latin typeface="Calibri"/>
              </a:rPr>
              <a:t>Grad-CAM uses the gradient of the predicted class score with respect to the final convolutional layer's feature maps to produce a coarse spatial heatmap showing which regions of the input image were most important for the classification.
Unlike saliency maps, Grad-CAM is class-discriminative — it shows WHY the model chose one class over another.</a:t>
            </a:r>
          </a:p>
        </p:txBody>
      </p:sp>
      <p:sp>
        <p:nvSpPr>
          <p:cNvPr id="11" name="TextBox 10"/>
          <p:cNvSpPr txBox="1"/>
          <p:nvPr/>
        </p:nvSpPr>
        <p:spPr>
          <a:xfrm>
            <a:off x="457200" y="3977639"/>
            <a:ext cx="3383280" cy="320040"/>
          </a:xfrm>
          <a:prstGeom prst="rect">
            <a:avLst/>
          </a:prstGeom>
          <a:noFill/>
        </p:spPr>
        <p:txBody>
          <a:bodyPr wrap="square">
            <a:spAutoFit/>
          </a:bodyPr>
          <a:lstStyle/>
          <a:p>
            <a:pPr algn="l"/>
            <a:r>
              <a:rPr sz="1200" b="1" i="0">
                <a:solidFill>
                  <a:srgbClr val="F0F4F8"/>
                </a:solidFill>
                <a:latin typeface="Calibri"/>
              </a:rPr>
              <a:t>Why we use it:</a:t>
            </a:r>
          </a:p>
        </p:txBody>
      </p:sp>
      <p:sp>
        <p:nvSpPr>
          <p:cNvPr id="12" name="TextBox 11"/>
          <p:cNvSpPr txBox="1"/>
          <p:nvPr/>
        </p:nvSpPr>
        <p:spPr>
          <a:xfrm>
            <a:off x="457200" y="4343400"/>
            <a:ext cx="3383280" cy="292608"/>
          </a:xfrm>
          <a:prstGeom prst="rect">
            <a:avLst/>
          </a:prstGeom>
          <a:noFill/>
        </p:spPr>
        <p:txBody>
          <a:bodyPr wrap="square">
            <a:spAutoFit/>
          </a:bodyPr>
          <a:lstStyle/>
          <a:p>
            <a:pPr algn="l"/>
            <a:r>
              <a:rPr sz="1050" b="0" i="0">
                <a:solidFill>
                  <a:srgbClr val="00E67A"/>
                </a:solidFill>
                <a:latin typeface="Calibri"/>
              </a:rPr>
              <a:t>✓  No model architecture change needed</a:t>
            </a:r>
          </a:p>
        </p:txBody>
      </p:sp>
      <p:sp>
        <p:nvSpPr>
          <p:cNvPr id="13" name="TextBox 12"/>
          <p:cNvSpPr txBox="1"/>
          <p:nvPr/>
        </p:nvSpPr>
        <p:spPr>
          <a:xfrm>
            <a:off x="457200" y="4663440"/>
            <a:ext cx="3383280" cy="292608"/>
          </a:xfrm>
          <a:prstGeom prst="rect">
            <a:avLst/>
          </a:prstGeom>
          <a:noFill/>
        </p:spPr>
        <p:txBody>
          <a:bodyPr wrap="square">
            <a:spAutoFit/>
          </a:bodyPr>
          <a:lstStyle/>
          <a:p>
            <a:pPr algn="l"/>
            <a:r>
              <a:rPr sz="1050" b="0" i="0">
                <a:solidFill>
                  <a:srgbClr val="00E67A"/>
                </a:solidFill>
                <a:latin typeface="Calibri"/>
              </a:rPr>
              <a:t>✓  Works directly on EfficientNet-B0</a:t>
            </a:r>
          </a:p>
        </p:txBody>
      </p:sp>
      <p:sp>
        <p:nvSpPr>
          <p:cNvPr id="14" name="TextBox 13"/>
          <p:cNvSpPr txBox="1"/>
          <p:nvPr/>
        </p:nvSpPr>
        <p:spPr>
          <a:xfrm>
            <a:off x="457200" y="4983480"/>
            <a:ext cx="3383280" cy="292608"/>
          </a:xfrm>
          <a:prstGeom prst="rect">
            <a:avLst/>
          </a:prstGeom>
          <a:noFill/>
        </p:spPr>
        <p:txBody>
          <a:bodyPr wrap="square">
            <a:spAutoFit/>
          </a:bodyPr>
          <a:lstStyle/>
          <a:p>
            <a:pPr algn="l"/>
            <a:r>
              <a:rPr sz="1050" b="0" i="0">
                <a:solidFill>
                  <a:srgbClr val="00E67A"/>
                </a:solidFill>
                <a:latin typeface="Calibri"/>
              </a:rPr>
              <a:t>✓  &lt;5ms overhead — real-time compatible</a:t>
            </a:r>
          </a:p>
        </p:txBody>
      </p:sp>
      <p:sp>
        <p:nvSpPr>
          <p:cNvPr id="15" name="TextBox 14"/>
          <p:cNvSpPr txBox="1"/>
          <p:nvPr/>
        </p:nvSpPr>
        <p:spPr>
          <a:xfrm>
            <a:off x="457200" y="5303520"/>
            <a:ext cx="3383280" cy="292608"/>
          </a:xfrm>
          <a:prstGeom prst="rect">
            <a:avLst/>
          </a:prstGeom>
          <a:noFill/>
        </p:spPr>
        <p:txBody>
          <a:bodyPr wrap="square">
            <a:spAutoFit/>
          </a:bodyPr>
          <a:lstStyle/>
          <a:p>
            <a:pPr algn="l"/>
            <a:r>
              <a:rPr sz="1050" b="0" i="0">
                <a:solidFill>
                  <a:srgbClr val="00E67A"/>
                </a:solidFill>
                <a:latin typeface="Calibri"/>
              </a:rPr>
              <a:t>✓  Highlights disease lesion regions</a:t>
            </a:r>
          </a:p>
        </p:txBody>
      </p:sp>
      <p:sp>
        <p:nvSpPr>
          <p:cNvPr id="16" name="TextBox 15"/>
          <p:cNvSpPr txBox="1"/>
          <p:nvPr/>
        </p:nvSpPr>
        <p:spPr>
          <a:xfrm>
            <a:off x="457200" y="5623560"/>
            <a:ext cx="3383280" cy="292608"/>
          </a:xfrm>
          <a:prstGeom prst="rect">
            <a:avLst/>
          </a:prstGeom>
          <a:noFill/>
        </p:spPr>
        <p:txBody>
          <a:bodyPr wrap="square">
            <a:spAutoFit/>
          </a:bodyPr>
          <a:lstStyle/>
          <a:p>
            <a:pPr algn="l"/>
            <a:r>
              <a:rPr sz="1050" b="0" i="0">
                <a:solidFill>
                  <a:srgbClr val="00E67A"/>
                </a:solidFill>
                <a:latin typeface="Calibri"/>
              </a:rPr>
              <a:t>✓  Class-discriminative explanations</a:t>
            </a:r>
          </a:p>
        </p:txBody>
      </p:sp>
      <p:sp>
        <p:nvSpPr>
          <p:cNvPr id="17" name="TextBox 16"/>
          <p:cNvSpPr txBox="1"/>
          <p:nvPr/>
        </p:nvSpPr>
        <p:spPr>
          <a:xfrm>
            <a:off x="457200" y="5943600"/>
            <a:ext cx="3383280" cy="292608"/>
          </a:xfrm>
          <a:prstGeom prst="rect">
            <a:avLst/>
          </a:prstGeom>
          <a:noFill/>
        </p:spPr>
        <p:txBody>
          <a:bodyPr wrap="square">
            <a:spAutoFit/>
          </a:bodyPr>
          <a:lstStyle/>
          <a:p>
            <a:pPr algn="l"/>
            <a:r>
              <a:rPr sz="1050" b="0" i="0">
                <a:solidFill>
                  <a:srgbClr val="00E67A"/>
                </a:solidFill>
                <a:latin typeface="Calibri"/>
              </a:rPr>
              <a:t>✓  Trusted in computer vision research</a:t>
            </a:r>
          </a:p>
        </p:txBody>
      </p:sp>
      <p:sp>
        <p:nvSpPr>
          <p:cNvPr id="18" name="Rectangle 17"/>
          <p:cNvSpPr/>
          <p:nvPr/>
        </p:nvSpPr>
        <p:spPr>
          <a:xfrm>
            <a:off x="4206240" y="1508760"/>
            <a:ext cx="4160520"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06240" y="1508760"/>
            <a:ext cx="416052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0832" y="1645920"/>
            <a:ext cx="3840480" cy="365760"/>
          </a:xfrm>
          <a:prstGeom prst="rect">
            <a:avLst/>
          </a:prstGeom>
          <a:noFill/>
        </p:spPr>
        <p:txBody>
          <a:bodyPr wrap="square">
            <a:spAutoFit/>
          </a:bodyPr>
          <a:lstStyle/>
          <a:p>
            <a:pPr algn="l"/>
            <a:r>
              <a:rPr sz="1300" b="1" i="0">
                <a:solidFill>
                  <a:srgbClr val="00E67A"/>
                </a:solidFill>
                <a:latin typeface="Calibri"/>
              </a:rPr>
              <a:t>How It Works (Our Implementation)</a:t>
            </a:r>
          </a:p>
        </p:txBody>
      </p:sp>
      <p:sp>
        <p:nvSpPr>
          <p:cNvPr id="21" name="Rectangle 20"/>
          <p:cNvSpPr/>
          <p:nvPr/>
        </p:nvSpPr>
        <p:spPr>
          <a:xfrm>
            <a:off x="4370832" y="2084831"/>
            <a:ext cx="274320" cy="27432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0832" y="2084831"/>
            <a:ext cx="274320" cy="274320"/>
          </a:xfrm>
          <a:prstGeom prst="rect">
            <a:avLst/>
          </a:prstGeom>
          <a:noFill/>
        </p:spPr>
        <p:txBody>
          <a:bodyPr wrap="square">
            <a:spAutoFit/>
          </a:bodyPr>
          <a:lstStyle/>
          <a:p>
            <a:pPr algn="ctr"/>
            <a:r>
              <a:rPr sz="1100" b="1" i="0">
                <a:solidFill>
                  <a:srgbClr val="0D1117"/>
                </a:solidFill>
                <a:latin typeface="Calibri"/>
              </a:rPr>
              <a:t>1</a:t>
            </a:r>
          </a:p>
        </p:txBody>
      </p:sp>
      <p:sp>
        <p:nvSpPr>
          <p:cNvPr id="23" name="TextBox 22"/>
          <p:cNvSpPr txBox="1"/>
          <p:nvPr/>
        </p:nvSpPr>
        <p:spPr>
          <a:xfrm>
            <a:off x="4709160" y="2084831"/>
            <a:ext cx="3474720" cy="256032"/>
          </a:xfrm>
          <a:prstGeom prst="rect">
            <a:avLst/>
          </a:prstGeom>
          <a:noFill/>
        </p:spPr>
        <p:txBody>
          <a:bodyPr wrap="square">
            <a:spAutoFit/>
          </a:bodyPr>
          <a:lstStyle/>
          <a:p>
            <a:pPr algn="l"/>
            <a:r>
              <a:rPr sz="1100" b="1" i="0">
                <a:solidFill>
                  <a:srgbClr val="00E67A"/>
                </a:solidFill>
                <a:latin typeface="Calibri"/>
              </a:rPr>
              <a:t>Forward Pass</a:t>
            </a:r>
          </a:p>
        </p:txBody>
      </p:sp>
      <p:sp>
        <p:nvSpPr>
          <p:cNvPr id="24" name="TextBox 23"/>
          <p:cNvSpPr txBox="1"/>
          <p:nvPr/>
        </p:nvSpPr>
        <p:spPr>
          <a:xfrm>
            <a:off x="4709160" y="2340863"/>
            <a:ext cx="3474720" cy="457200"/>
          </a:xfrm>
          <a:prstGeom prst="rect">
            <a:avLst/>
          </a:prstGeom>
          <a:noFill/>
        </p:spPr>
        <p:txBody>
          <a:bodyPr wrap="square">
            <a:spAutoFit/>
          </a:bodyPr>
          <a:lstStyle/>
          <a:p>
            <a:pPr algn="l"/>
            <a:r>
              <a:rPr sz="1000" b="0" i="0">
                <a:solidFill>
                  <a:srgbClr val="8B95A7"/>
                </a:solidFill>
                <a:latin typeface="Calibri"/>
              </a:rPr>
              <a:t>Input image (224×224) flows through EfficientNet-B0. Hooks capture feature maps A^k at the final conv block.</a:t>
            </a:r>
          </a:p>
        </p:txBody>
      </p:sp>
      <p:sp>
        <p:nvSpPr>
          <p:cNvPr id="25" name="Rectangle 24"/>
          <p:cNvSpPr/>
          <p:nvPr/>
        </p:nvSpPr>
        <p:spPr>
          <a:xfrm>
            <a:off x="4370832" y="2834639"/>
            <a:ext cx="274320" cy="27432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70832" y="2834639"/>
            <a:ext cx="274320" cy="274320"/>
          </a:xfrm>
          <a:prstGeom prst="rect">
            <a:avLst/>
          </a:prstGeom>
          <a:noFill/>
        </p:spPr>
        <p:txBody>
          <a:bodyPr wrap="square">
            <a:spAutoFit/>
          </a:bodyPr>
          <a:lstStyle/>
          <a:p>
            <a:pPr algn="ctr"/>
            <a:r>
              <a:rPr sz="1100" b="1" i="0">
                <a:solidFill>
                  <a:srgbClr val="0D1117"/>
                </a:solidFill>
                <a:latin typeface="Calibri"/>
              </a:rPr>
              <a:t>2</a:t>
            </a:r>
          </a:p>
        </p:txBody>
      </p:sp>
      <p:sp>
        <p:nvSpPr>
          <p:cNvPr id="27" name="TextBox 26"/>
          <p:cNvSpPr txBox="1"/>
          <p:nvPr/>
        </p:nvSpPr>
        <p:spPr>
          <a:xfrm>
            <a:off x="4709160" y="2834639"/>
            <a:ext cx="3474720" cy="256032"/>
          </a:xfrm>
          <a:prstGeom prst="rect">
            <a:avLst/>
          </a:prstGeom>
          <a:noFill/>
        </p:spPr>
        <p:txBody>
          <a:bodyPr wrap="square">
            <a:spAutoFit/>
          </a:bodyPr>
          <a:lstStyle/>
          <a:p>
            <a:pPr algn="l"/>
            <a:r>
              <a:rPr sz="1100" b="1" i="0">
                <a:solidFill>
                  <a:srgbClr val="00E67A"/>
                </a:solidFill>
                <a:latin typeface="Calibri"/>
              </a:rPr>
              <a:t>Backward Pass</a:t>
            </a:r>
          </a:p>
        </p:txBody>
      </p:sp>
      <p:sp>
        <p:nvSpPr>
          <p:cNvPr id="28" name="TextBox 27"/>
          <p:cNvSpPr txBox="1"/>
          <p:nvPr/>
        </p:nvSpPr>
        <p:spPr>
          <a:xfrm>
            <a:off x="4709160" y="3090671"/>
            <a:ext cx="3474720" cy="457200"/>
          </a:xfrm>
          <a:prstGeom prst="rect">
            <a:avLst/>
          </a:prstGeom>
          <a:noFill/>
        </p:spPr>
        <p:txBody>
          <a:bodyPr wrap="square">
            <a:spAutoFit/>
          </a:bodyPr>
          <a:lstStyle/>
          <a:p>
            <a:pPr algn="l"/>
            <a:r>
              <a:rPr sz="1000" b="0" i="0">
                <a:solidFill>
                  <a:srgbClr val="8B95A7"/>
                </a:solidFill>
                <a:latin typeface="Calibri"/>
              </a:rPr>
              <a:t>Score for predicted class is backpropagated. Hooks capture gradients ∂y^c / ∂A^k at the same layer.</a:t>
            </a:r>
          </a:p>
        </p:txBody>
      </p:sp>
      <p:sp>
        <p:nvSpPr>
          <p:cNvPr id="29" name="Rectangle 28"/>
          <p:cNvSpPr/>
          <p:nvPr/>
        </p:nvSpPr>
        <p:spPr>
          <a:xfrm>
            <a:off x="4370832" y="3584447"/>
            <a:ext cx="274320" cy="27432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0832" y="3584447"/>
            <a:ext cx="274320" cy="274320"/>
          </a:xfrm>
          <a:prstGeom prst="rect">
            <a:avLst/>
          </a:prstGeom>
          <a:noFill/>
        </p:spPr>
        <p:txBody>
          <a:bodyPr wrap="square">
            <a:spAutoFit/>
          </a:bodyPr>
          <a:lstStyle/>
          <a:p>
            <a:pPr algn="ctr"/>
            <a:r>
              <a:rPr sz="1100" b="1" i="0">
                <a:solidFill>
                  <a:srgbClr val="0D1117"/>
                </a:solidFill>
                <a:latin typeface="Calibri"/>
              </a:rPr>
              <a:t>3</a:t>
            </a:r>
          </a:p>
        </p:txBody>
      </p:sp>
      <p:sp>
        <p:nvSpPr>
          <p:cNvPr id="31" name="TextBox 30"/>
          <p:cNvSpPr txBox="1"/>
          <p:nvPr/>
        </p:nvSpPr>
        <p:spPr>
          <a:xfrm>
            <a:off x="4709160" y="3584447"/>
            <a:ext cx="3474720" cy="256032"/>
          </a:xfrm>
          <a:prstGeom prst="rect">
            <a:avLst/>
          </a:prstGeom>
          <a:noFill/>
        </p:spPr>
        <p:txBody>
          <a:bodyPr wrap="square">
            <a:spAutoFit/>
          </a:bodyPr>
          <a:lstStyle/>
          <a:p>
            <a:pPr algn="l"/>
            <a:r>
              <a:rPr sz="1100" b="1" i="0">
                <a:solidFill>
                  <a:srgbClr val="00E67A"/>
                </a:solidFill>
                <a:latin typeface="Calibri"/>
              </a:rPr>
              <a:t>Global Average Pool</a:t>
            </a:r>
          </a:p>
        </p:txBody>
      </p:sp>
      <p:sp>
        <p:nvSpPr>
          <p:cNvPr id="32" name="TextBox 31"/>
          <p:cNvSpPr txBox="1"/>
          <p:nvPr/>
        </p:nvSpPr>
        <p:spPr>
          <a:xfrm>
            <a:off x="4709160" y="3840479"/>
            <a:ext cx="3474720" cy="457200"/>
          </a:xfrm>
          <a:prstGeom prst="rect">
            <a:avLst/>
          </a:prstGeom>
          <a:noFill/>
        </p:spPr>
        <p:txBody>
          <a:bodyPr wrap="square">
            <a:spAutoFit/>
          </a:bodyPr>
          <a:lstStyle/>
          <a:p>
            <a:pPr algn="l"/>
            <a:r>
              <a:rPr sz="1000" b="0" i="0">
                <a:solidFill>
                  <a:srgbClr val="8B95A7"/>
                </a:solidFill>
                <a:latin typeface="Calibri"/>
              </a:rPr>
              <a:t>Gradients are pooled spatially: α^k_c = (1/Z) Σᵢⱼ (∂y^c / ∂Aᵏᵢⱼ) → importance weight per channel.</a:t>
            </a:r>
          </a:p>
        </p:txBody>
      </p:sp>
      <p:sp>
        <p:nvSpPr>
          <p:cNvPr id="33" name="Rectangle 32"/>
          <p:cNvSpPr/>
          <p:nvPr/>
        </p:nvSpPr>
        <p:spPr>
          <a:xfrm>
            <a:off x="4370832" y="4334255"/>
            <a:ext cx="274320" cy="27432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70832" y="4334255"/>
            <a:ext cx="274320" cy="274320"/>
          </a:xfrm>
          <a:prstGeom prst="rect">
            <a:avLst/>
          </a:prstGeom>
          <a:noFill/>
        </p:spPr>
        <p:txBody>
          <a:bodyPr wrap="square">
            <a:spAutoFit/>
          </a:bodyPr>
          <a:lstStyle/>
          <a:p>
            <a:pPr algn="ctr"/>
            <a:r>
              <a:rPr sz="1100" b="1" i="0">
                <a:solidFill>
                  <a:srgbClr val="0D1117"/>
                </a:solidFill>
                <a:latin typeface="Calibri"/>
              </a:rPr>
              <a:t>4</a:t>
            </a:r>
          </a:p>
        </p:txBody>
      </p:sp>
      <p:sp>
        <p:nvSpPr>
          <p:cNvPr id="35" name="TextBox 34"/>
          <p:cNvSpPr txBox="1"/>
          <p:nvPr/>
        </p:nvSpPr>
        <p:spPr>
          <a:xfrm>
            <a:off x="4709160" y="4334255"/>
            <a:ext cx="3474720" cy="256032"/>
          </a:xfrm>
          <a:prstGeom prst="rect">
            <a:avLst/>
          </a:prstGeom>
          <a:noFill/>
        </p:spPr>
        <p:txBody>
          <a:bodyPr wrap="square">
            <a:spAutoFit/>
          </a:bodyPr>
          <a:lstStyle/>
          <a:p>
            <a:pPr algn="l"/>
            <a:r>
              <a:rPr sz="1100" b="1" i="0">
                <a:solidFill>
                  <a:srgbClr val="00E67A"/>
                </a:solidFill>
                <a:latin typeface="Calibri"/>
              </a:rPr>
              <a:t>Weighted Sum + ReLU</a:t>
            </a:r>
          </a:p>
        </p:txBody>
      </p:sp>
      <p:sp>
        <p:nvSpPr>
          <p:cNvPr id="36" name="TextBox 35"/>
          <p:cNvSpPr txBox="1"/>
          <p:nvPr/>
        </p:nvSpPr>
        <p:spPr>
          <a:xfrm>
            <a:off x="4709160" y="4590287"/>
            <a:ext cx="3474720" cy="457200"/>
          </a:xfrm>
          <a:prstGeom prst="rect">
            <a:avLst/>
          </a:prstGeom>
          <a:noFill/>
        </p:spPr>
        <p:txBody>
          <a:bodyPr wrap="square">
            <a:spAutoFit/>
          </a:bodyPr>
          <a:lstStyle/>
          <a:p>
            <a:pPr algn="l"/>
            <a:r>
              <a:rPr sz="1000" b="0" i="0">
                <a:solidFill>
                  <a:srgbClr val="8B95A7"/>
                </a:solidFill>
                <a:latin typeface="Calibri"/>
              </a:rPr>
              <a:t>CAM = ReLU(Σ_k α^k_c · A^k). ReLU keeps only regions with positive influence on the class score.</a:t>
            </a:r>
          </a:p>
        </p:txBody>
      </p:sp>
      <p:sp>
        <p:nvSpPr>
          <p:cNvPr id="37" name="Rectangle 36"/>
          <p:cNvSpPr/>
          <p:nvPr/>
        </p:nvSpPr>
        <p:spPr>
          <a:xfrm>
            <a:off x="4370832" y="5084063"/>
            <a:ext cx="274320" cy="27432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70832" y="5084063"/>
            <a:ext cx="274320" cy="274320"/>
          </a:xfrm>
          <a:prstGeom prst="rect">
            <a:avLst/>
          </a:prstGeom>
          <a:noFill/>
        </p:spPr>
        <p:txBody>
          <a:bodyPr wrap="square">
            <a:spAutoFit/>
          </a:bodyPr>
          <a:lstStyle/>
          <a:p>
            <a:pPr algn="ctr"/>
            <a:r>
              <a:rPr sz="1100" b="1" i="0">
                <a:solidFill>
                  <a:srgbClr val="0D1117"/>
                </a:solidFill>
                <a:latin typeface="Calibri"/>
              </a:rPr>
              <a:t>5</a:t>
            </a:r>
          </a:p>
        </p:txBody>
      </p:sp>
      <p:sp>
        <p:nvSpPr>
          <p:cNvPr id="39" name="TextBox 38"/>
          <p:cNvSpPr txBox="1"/>
          <p:nvPr/>
        </p:nvSpPr>
        <p:spPr>
          <a:xfrm>
            <a:off x="4709160" y="5084063"/>
            <a:ext cx="3474720" cy="256032"/>
          </a:xfrm>
          <a:prstGeom prst="rect">
            <a:avLst/>
          </a:prstGeom>
          <a:noFill/>
        </p:spPr>
        <p:txBody>
          <a:bodyPr wrap="square">
            <a:spAutoFit/>
          </a:bodyPr>
          <a:lstStyle/>
          <a:p>
            <a:pPr algn="l"/>
            <a:r>
              <a:rPr sz="1100" b="1" i="0">
                <a:solidFill>
                  <a:srgbClr val="00E67A"/>
                </a:solidFill>
                <a:latin typeface="Calibri"/>
              </a:rPr>
              <a:t>Upsample to 224×224</a:t>
            </a:r>
          </a:p>
        </p:txBody>
      </p:sp>
      <p:sp>
        <p:nvSpPr>
          <p:cNvPr id="40" name="TextBox 39"/>
          <p:cNvSpPr txBox="1"/>
          <p:nvPr/>
        </p:nvSpPr>
        <p:spPr>
          <a:xfrm>
            <a:off x="4709160" y="5340095"/>
            <a:ext cx="3474720" cy="457200"/>
          </a:xfrm>
          <a:prstGeom prst="rect">
            <a:avLst/>
          </a:prstGeom>
          <a:noFill/>
        </p:spPr>
        <p:txBody>
          <a:bodyPr wrap="square">
            <a:spAutoFit/>
          </a:bodyPr>
          <a:lstStyle/>
          <a:p>
            <a:pPr algn="l"/>
            <a:r>
              <a:rPr sz="1000" b="0" i="0">
                <a:solidFill>
                  <a:srgbClr val="8B95A7"/>
                </a:solidFill>
                <a:latin typeface="Calibri"/>
              </a:rPr>
              <a:t>The coarse heatmap (7×7) is bilinearly interpolated to match the input image resolution.</a:t>
            </a:r>
          </a:p>
        </p:txBody>
      </p:sp>
      <p:sp>
        <p:nvSpPr>
          <p:cNvPr id="41" name="Rectangle 40"/>
          <p:cNvSpPr/>
          <p:nvPr/>
        </p:nvSpPr>
        <p:spPr>
          <a:xfrm>
            <a:off x="4370832" y="5833871"/>
            <a:ext cx="274320" cy="27432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0832" y="5833871"/>
            <a:ext cx="274320" cy="274320"/>
          </a:xfrm>
          <a:prstGeom prst="rect">
            <a:avLst/>
          </a:prstGeom>
          <a:noFill/>
        </p:spPr>
        <p:txBody>
          <a:bodyPr wrap="square">
            <a:spAutoFit/>
          </a:bodyPr>
          <a:lstStyle/>
          <a:p>
            <a:pPr algn="ctr"/>
            <a:r>
              <a:rPr sz="1100" b="1" i="0">
                <a:solidFill>
                  <a:srgbClr val="0D1117"/>
                </a:solidFill>
                <a:latin typeface="Calibri"/>
              </a:rPr>
              <a:t>6</a:t>
            </a:r>
          </a:p>
        </p:txBody>
      </p:sp>
      <p:sp>
        <p:nvSpPr>
          <p:cNvPr id="43" name="TextBox 42"/>
          <p:cNvSpPr txBox="1"/>
          <p:nvPr/>
        </p:nvSpPr>
        <p:spPr>
          <a:xfrm>
            <a:off x="4709160" y="5833871"/>
            <a:ext cx="3474720" cy="256032"/>
          </a:xfrm>
          <a:prstGeom prst="rect">
            <a:avLst/>
          </a:prstGeom>
          <a:noFill/>
        </p:spPr>
        <p:txBody>
          <a:bodyPr wrap="square">
            <a:spAutoFit/>
          </a:bodyPr>
          <a:lstStyle/>
          <a:p>
            <a:pPr algn="l"/>
            <a:r>
              <a:rPr sz="1100" b="1" i="0">
                <a:solidFill>
                  <a:srgbClr val="00E67A"/>
                </a:solidFill>
                <a:latin typeface="Calibri"/>
              </a:rPr>
              <a:t>Normalize [0, 1]</a:t>
            </a:r>
          </a:p>
        </p:txBody>
      </p:sp>
      <p:sp>
        <p:nvSpPr>
          <p:cNvPr id="44" name="TextBox 43"/>
          <p:cNvSpPr txBox="1"/>
          <p:nvPr/>
        </p:nvSpPr>
        <p:spPr>
          <a:xfrm>
            <a:off x="4709160" y="6089903"/>
            <a:ext cx="3474720" cy="457200"/>
          </a:xfrm>
          <a:prstGeom prst="rect">
            <a:avLst/>
          </a:prstGeom>
          <a:noFill/>
        </p:spPr>
        <p:txBody>
          <a:bodyPr wrap="square">
            <a:spAutoFit/>
          </a:bodyPr>
          <a:lstStyle/>
          <a:p>
            <a:pPr algn="l"/>
            <a:r>
              <a:rPr sz="1000" b="0" i="0">
                <a:solidFill>
                  <a:srgbClr val="8B95A7"/>
                </a:solidFill>
                <a:latin typeface="Calibri"/>
              </a:rPr>
              <a:t>Heatmap values are min-max normalized and overlaid on the original leaf image via OpenCV COLORMAP_JET.</a:t>
            </a:r>
          </a:p>
        </p:txBody>
      </p:sp>
      <p:sp>
        <p:nvSpPr>
          <p:cNvPr id="45" name="Rectangle 44"/>
          <p:cNvSpPr/>
          <p:nvPr/>
        </p:nvSpPr>
        <p:spPr>
          <a:xfrm>
            <a:off x="8549640" y="1508760"/>
            <a:ext cx="3429000"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549640" y="1508760"/>
            <a:ext cx="342900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0" y="1627632"/>
            <a:ext cx="3108960" cy="320040"/>
          </a:xfrm>
          <a:prstGeom prst="rect">
            <a:avLst/>
          </a:prstGeom>
          <a:noFill/>
        </p:spPr>
        <p:txBody>
          <a:bodyPr wrap="square">
            <a:spAutoFit/>
          </a:bodyPr>
          <a:lstStyle/>
          <a:p>
            <a:pPr algn="l"/>
            <a:r>
              <a:rPr sz="1200" b="1" i="0">
                <a:solidFill>
                  <a:srgbClr val="00E67A"/>
                </a:solidFill>
                <a:latin typeface="Calibri"/>
              </a:rPr>
              <a:t>Key Code (grad_cam.py)</a:t>
            </a:r>
          </a:p>
        </p:txBody>
      </p:sp>
      <p:sp>
        <p:nvSpPr>
          <p:cNvPr id="48" name="Rectangle 47"/>
          <p:cNvSpPr/>
          <p:nvPr/>
        </p:nvSpPr>
        <p:spPr>
          <a:xfrm>
            <a:off x="8549640" y="2011680"/>
            <a:ext cx="3429000" cy="4480560"/>
          </a:xfrm>
          <a:prstGeom prst="rect">
            <a:avLst/>
          </a:prstGeom>
          <a:solidFill>
            <a:srgbClr val="0A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1080" y="2084832"/>
            <a:ext cx="3246120" cy="4389120"/>
          </a:xfrm>
          <a:prstGeom prst="rect">
            <a:avLst/>
          </a:prstGeom>
          <a:noFill/>
        </p:spPr>
        <p:txBody>
          <a:bodyPr wrap="square">
            <a:spAutoFit/>
          </a:bodyPr>
          <a:lstStyle/>
          <a:p>
            <a:pPr algn="l"/>
            <a:r>
              <a:rPr sz="850" b="0" i="0">
                <a:solidFill>
                  <a:srgbClr val="7DD3FC"/>
                </a:solidFill>
                <a:latin typeface="Courier New"/>
              </a:rPr>
              <a:t># Hook captures activations &amp; gradients
layer.register_forward_hook(
  self._forward_hook)
layer.register_full_backward_hook(
  self._backward_hook)
# Compute importance weights
weights = torch.mean(
  gradients, dim=(1,2), keepdim=True)
# Weighted feature map sum
cam = torch.sum(
  weights * activations, dim=0)
# ReLU: keep positive influence
cam = F.relu(cam)
# Upsample to input resolution
cam = F.interpolate(
  cam, size=(224, 224),
  mode='bilinear')
# Normalize to [0, 1]
heatmap = (cam - cam.min()) /
          (cam.max() - cam.min())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8B5CF6"/>
                </a:solidFill>
                <a:latin typeface="Calibri"/>
              </a:rPr>
              <a:t>07B</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Integrated Gradients — Axiomatic Attribution Method</a:t>
            </a:r>
          </a:p>
        </p:txBody>
      </p:sp>
      <p:sp>
        <p:nvSpPr>
          <p:cNvPr id="5" name="Rectangle 4"/>
          <p:cNvSpPr/>
          <p:nvPr/>
        </p:nvSpPr>
        <p:spPr>
          <a:xfrm>
            <a:off x="274320" y="1161288"/>
            <a:ext cx="438912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80160"/>
            <a:ext cx="10972800" cy="320040"/>
          </a:xfrm>
          <a:prstGeom prst="rect">
            <a:avLst/>
          </a:prstGeom>
          <a:noFill/>
        </p:spPr>
        <p:txBody>
          <a:bodyPr wrap="square">
            <a:spAutoFit/>
          </a:bodyPr>
          <a:lstStyle/>
          <a:p>
            <a:pPr algn="l"/>
            <a:r>
              <a:rPr sz="1200" b="0" i="1">
                <a:solidFill>
                  <a:srgbClr val="8B95A7"/>
                </a:solidFill>
                <a:latin typeface="Calibri"/>
              </a:rPr>
              <a:t>Technique 2 of 3  |  Steps: 20 linear interpolations  |  file: explainability/integrated_gradients.py</a:t>
            </a:r>
          </a:p>
        </p:txBody>
      </p:sp>
      <p:sp>
        <p:nvSpPr>
          <p:cNvPr id="7" name="Rectangle 6"/>
          <p:cNvSpPr/>
          <p:nvPr/>
        </p:nvSpPr>
        <p:spPr>
          <a:xfrm>
            <a:off x="274320" y="1508760"/>
            <a:ext cx="3749039"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508760"/>
            <a:ext cx="3749039"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45920"/>
            <a:ext cx="3383280" cy="365760"/>
          </a:xfrm>
          <a:prstGeom prst="rect">
            <a:avLst/>
          </a:prstGeom>
          <a:noFill/>
        </p:spPr>
        <p:txBody>
          <a:bodyPr wrap="square">
            <a:spAutoFit/>
          </a:bodyPr>
          <a:lstStyle/>
          <a:p>
            <a:pPr algn="l"/>
            <a:r>
              <a:rPr sz="1300" b="1" i="0">
                <a:solidFill>
                  <a:srgbClr val="8B5CF6"/>
                </a:solidFill>
                <a:latin typeface="Calibri"/>
              </a:rPr>
              <a:t>What is Integrated Gradients?</a:t>
            </a:r>
          </a:p>
        </p:txBody>
      </p:sp>
      <p:sp>
        <p:nvSpPr>
          <p:cNvPr id="10" name="TextBox 9"/>
          <p:cNvSpPr txBox="1"/>
          <p:nvPr/>
        </p:nvSpPr>
        <p:spPr>
          <a:xfrm>
            <a:off x="457200" y="2057400"/>
            <a:ext cx="3383280" cy="2011680"/>
          </a:xfrm>
          <a:prstGeom prst="rect">
            <a:avLst/>
          </a:prstGeom>
          <a:noFill/>
        </p:spPr>
        <p:txBody>
          <a:bodyPr wrap="square">
            <a:spAutoFit/>
          </a:bodyPr>
          <a:lstStyle/>
          <a:p>
            <a:pPr algn="l"/>
            <a:r>
              <a:rPr sz="1050" b="0" i="0">
                <a:solidFill>
                  <a:srgbClr val="8B95A7"/>
                </a:solidFill>
                <a:latin typeface="Calibri"/>
              </a:rPr>
              <a:t>Integrated Gradients (IG) accumulates gradients along a straight path from a baseline (black image = absence of information) to the actual input. The attribution for each pixel is proportional to how much the model output changes as that pixel is gradually 'revealed'.
IG satisfies the Completeness Axiom: attributions always sum to the exact difference in model output between the input and baseline — guaranteeing mathematical faithfulness.</a:t>
            </a:r>
          </a:p>
        </p:txBody>
      </p:sp>
      <p:sp>
        <p:nvSpPr>
          <p:cNvPr id="11" name="TextBox 10"/>
          <p:cNvSpPr txBox="1"/>
          <p:nvPr/>
        </p:nvSpPr>
        <p:spPr>
          <a:xfrm>
            <a:off x="457200" y="4160520"/>
            <a:ext cx="3383280" cy="320040"/>
          </a:xfrm>
          <a:prstGeom prst="rect">
            <a:avLst/>
          </a:prstGeom>
          <a:noFill/>
        </p:spPr>
        <p:txBody>
          <a:bodyPr wrap="square">
            <a:spAutoFit/>
          </a:bodyPr>
          <a:lstStyle/>
          <a:p>
            <a:pPr algn="l"/>
            <a:r>
              <a:rPr sz="1200" b="1" i="0">
                <a:solidFill>
                  <a:srgbClr val="F0F4F8"/>
                </a:solidFill>
                <a:latin typeface="Calibri"/>
              </a:rPr>
              <a:t>Key advantages over Grad-CAM:</a:t>
            </a:r>
          </a:p>
        </p:txBody>
      </p:sp>
      <p:sp>
        <p:nvSpPr>
          <p:cNvPr id="12" name="TextBox 11"/>
          <p:cNvSpPr txBox="1"/>
          <p:nvPr/>
        </p:nvSpPr>
        <p:spPr>
          <a:xfrm>
            <a:off x="457200" y="4544568"/>
            <a:ext cx="3383280" cy="292608"/>
          </a:xfrm>
          <a:prstGeom prst="rect">
            <a:avLst/>
          </a:prstGeom>
          <a:noFill/>
        </p:spPr>
        <p:txBody>
          <a:bodyPr wrap="square">
            <a:spAutoFit/>
          </a:bodyPr>
          <a:lstStyle/>
          <a:p>
            <a:pPr algn="l"/>
            <a:r>
              <a:rPr sz="1050" b="0" i="0">
                <a:solidFill>
                  <a:srgbClr val="8B5CF6"/>
                </a:solidFill>
                <a:latin typeface="Calibri"/>
              </a:rPr>
              <a:t>✓  Pixel-level (not just region-level)</a:t>
            </a:r>
          </a:p>
        </p:txBody>
      </p:sp>
      <p:sp>
        <p:nvSpPr>
          <p:cNvPr id="13" name="TextBox 12"/>
          <p:cNvSpPr txBox="1"/>
          <p:nvPr/>
        </p:nvSpPr>
        <p:spPr>
          <a:xfrm>
            <a:off x="457200" y="4864608"/>
            <a:ext cx="3383280" cy="292608"/>
          </a:xfrm>
          <a:prstGeom prst="rect">
            <a:avLst/>
          </a:prstGeom>
          <a:noFill/>
        </p:spPr>
        <p:txBody>
          <a:bodyPr wrap="square">
            <a:spAutoFit/>
          </a:bodyPr>
          <a:lstStyle/>
          <a:p>
            <a:pPr algn="l"/>
            <a:r>
              <a:rPr sz="1050" b="0" i="0">
                <a:solidFill>
                  <a:srgbClr val="8B5CF6"/>
                </a:solidFill>
                <a:latin typeface="Calibri"/>
              </a:rPr>
              <a:t>✓  Axiomatically guaranteed accuracy</a:t>
            </a:r>
          </a:p>
        </p:txBody>
      </p:sp>
      <p:sp>
        <p:nvSpPr>
          <p:cNvPr id="14" name="TextBox 13"/>
          <p:cNvSpPr txBox="1"/>
          <p:nvPr/>
        </p:nvSpPr>
        <p:spPr>
          <a:xfrm>
            <a:off x="457200" y="5184648"/>
            <a:ext cx="3383280" cy="292608"/>
          </a:xfrm>
          <a:prstGeom prst="rect">
            <a:avLst/>
          </a:prstGeom>
          <a:noFill/>
        </p:spPr>
        <p:txBody>
          <a:bodyPr wrap="square">
            <a:spAutoFit/>
          </a:bodyPr>
          <a:lstStyle/>
          <a:p>
            <a:pPr algn="l"/>
            <a:r>
              <a:rPr sz="1050" b="0" i="0">
                <a:solidFill>
                  <a:srgbClr val="8B5CF6"/>
                </a:solidFill>
                <a:latin typeface="Calibri"/>
              </a:rPr>
              <a:t>✓  Detects subtle texture/color patterns</a:t>
            </a:r>
          </a:p>
        </p:txBody>
      </p:sp>
      <p:sp>
        <p:nvSpPr>
          <p:cNvPr id="15" name="TextBox 14"/>
          <p:cNvSpPr txBox="1"/>
          <p:nvPr/>
        </p:nvSpPr>
        <p:spPr>
          <a:xfrm>
            <a:off x="457200" y="5504688"/>
            <a:ext cx="3383280" cy="292608"/>
          </a:xfrm>
          <a:prstGeom prst="rect">
            <a:avLst/>
          </a:prstGeom>
          <a:noFill/>
        </p:spPr>
        <p:txBody>
          <a:bodyPr wrap="square">
            <a:spAutoFit/>
          </a:bodyPr>
          <a:lstStyle/>
          <a:p>
            <a:pPr algn="l"/>
            <a:r>
              <a:rPr sz="1050" b="0" i="0">
                <a:solidFill>
                  <a:srgbClr val="8B5CF6"/>
                </a:solidFill>
                <a:latin typeface="Calibri"/>
              </a:rPr>
              <a:t>✓  No target layer choice required</a:t>
            </a:r>
          </a:p>
        </p:txBody>
      </p:sp>
      <p:sp>
        <p:nvSpPr>
          <p:cNvPr id="16" name="TextBox 15"/>
          <p:cNvSpPr txBox="1"/>
          <p:nvPr/>
        </p:nvSpPr>
        <p:spPr>
          <a:xfrm>
            <a:off x="457200" y="5824728"/>
            <a:ext cx="3383280" cy="292608"/>
          </a:xfrm>
          <a:prstGeom prst="rect">
            <a:avLst/>
          </a:prstGeom>
          <a:noFill/>
        </p:spPr>
        <p:txBody>
          <a:bodyPr wrap="square">
            <a:spAutoFit/>
          </a:bodyPr>
          <a:lstStyle/>
          <a:p>
            <a:pPr algn="l"/>
            <a:r>
              <a:rPr sz="1050" b="0" i="0">
                <a:solidFill>
                  <a:srgbClr val="8B5CF6"/>
                </a:solidFill>
                <a:latin typeface="Calibri"/>
              </a:rPr>
              <a:t>✓  Works on MPS / CUDA / CPU backends</a:t>
            </a:r>
          </a:p>
        </p:txBody>
      </p:sp>
      <p:sp>
        <p:nvSpPr>
          <p:cNvPr id="17" name="TextBox 16"/>
          <p:cNvSpPr txBox="1"/>
          <p:nvPr/>
        </p:nvSpPr>
        <p:spPr>
          <a:xfrm>
            <a:off x="457200" y="6144768"/>
            <a:ext cx="3383280" cy="292608"/>
          </a:xfrm>
          <a:prstGeom prst="rect">
            <a:avLst/>
          </a:prstGeom>
          <a:noFill/>
        </p:spPr>
        <p:txBody>
          <a:bodyPr wrap="square">
            <a:spAutoFit/>
          </a:bodyPr>
          <a:lstStyle/>
          <a:p>
            <a:pPr algn="l"/>
            <a:r>
              <a:rPr sz="1050" b="0" i="0">
                <a:solidFill>
                  <a:srgbClr val="8B5CF6"/>
                </a:solidFill>
                <a:latin typeface="Calibri"/>
              </a:rPr>
              <a:t>✓  Captures cross-channel interactions</a:t>
            </a:r>
          </a:p>
        </p:txBody>
      </p:sp>
      <p:sp>
        <p:nvSpPr>
          <p:cNvPr id="18" name="Rectangle 17"/>
          <p:cNvSpPr/>
          <p:nvPr/>
        </p:nvSpPr>
        <p:spPr>
          <a:xfrm>
            <a:off x="4206240" y="1508760"/>
            <a:ext cx="4160520"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206240" y="1508760"/>
            <a:ext cx="416052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0832" y="1645920"/>
            <a:ext cx="3840480" cy="365760"/>
          </a:xfrm>
          <a:prstGeom prst="rect">
            <a:avLst/>
          </a:prstGeom>
          <a:noFill/>
        </p:spPr>
        <p:txBody>
          <a:bodyPr wrap="square">
            <a:spAutoFit/>
          </a:bodyPr>
          <a:lstStyle/>
          <a:p>
            <a:pPr algn="l"/>
            <a:r>
              <a:rPr sz="1300" b="1" i="0">
                <a:solidFill>
                  <a:srgbClr val="8B5CF6"/>
                </a:solidFill>
                <a:latin typeface="Calibri"/>
              </a:rPr>
              <a:t>How It Works (Our Implementation)</a:t>
            </a:r>
          </a:p>
        </p:txBody>
      </p:sp>
      <p:sp>
        <p:nvSpPr>
          <p:cNvPr id="21" name="Rectangle 20"/>
          <p:cNvSpPr/>
          <p:nvPr/>
        </p:nvSpPr>
        <p:spPr>
          <a:xfrm>
            <a:off x="4370832" y="2084831"/>
            <a:ext cx="274320" cy="2743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70832" y="2084831"/>
            <a:ext cx="274320" cy="274320"/>
          </a:xfrm>
          <a:prstGeom prst="rect">
            <a:avLst/>
          </a:prstGeom>
          <a:noFill/>
        </p:spPr>
        <p:txBody>
          <a:bodyPr wrap="square">
            <a:spAutoFit/>
          </a:bodyPr>
          <a:lstStyle/>
          <a:p>
            <a:pPr algn="ctr"/>
            <a:r>
              <a:rPr sz="1100" b="1" i="0">
                <a:solidFill>
                  <a:srgbClr val="FFFFFF"/>
                </a:solidFill>
                <a:latin typeface="Calibri"/>
              </a:rPr>
              <a:t>1</a:t>
            </a:r>
          </a:p>
        </p:txBody>
      </p:sp>
      <p:sp>
        <p:nvSpPr>
          <p:cNvPr id="23" name="TextBox 22"/>
          <p:cNvSpPr txBox="1"/>
          <p:nvPr/>
        </p:nvSpPr>
        <p:spPr>
          <a:xfrm>
            <a:off x="4709160" y="2084831"/>
            <a:ext cx="3474720" cy="256032"/>
          </a:xfrm>
          <a:prstGeom prst="rect">
            <a:avLst/>
          </a:prstGeom>
          <a:noFill/>
        </p:spPr>
        <p:txBody>
          <a:bodyPr wrap="square">
            <a:spAutoFit/>
          </a:bodyPr>
          <a:lstStyle/>
          <a:p>
            <a:pPr algn="l"/>
            <a:r>
              <a:rPr sz="1100" b="1" i="0">
                <a:solidFill>
                  <a:srgbClr val="8B5CF6"/>
                </a:solidFill>
                <a:latin typeface="Calibri"/>
              </a:rPr>
              <a:t>Define Baseline</a:t>
            </a:r>
          </a:p>
        </p:txBody>
      </p:sp>
      <p:sp>
        <p:nvSpPr>
          <p:cNvPr id="24" name="TextBox 23"/>
          <p:cNvSpPr txBox="1"/>
          <p:nvPr/>
        </p:nvSpPr>
        <p:spPr>
          <a:xfrm>
            <a:off x="4709160" y="2340863"/>
            <a:ext cx="3474720" cy="457200"/>
          </a:xfrm>
          <a:prstGeom prst="rect">
            <a:avLst/>
          </a:prstGeom>
          <a:noFill/>
        </p:spPr>
        <p:txBody>
          <a:bodyPr wrap="square">
            <a:spAutoFit/>
          </a:bodyPr>
          <a:lstStyle/>
          <a:p>
            <a:pPr algn="l"/>
            <a:r>
              <a:rPr sz="1000" b="0" i="0">
                <a:solidFill>
                  <a:srgbClr val="8B95A7"/>
                </a:solidFill>
                <a:latin typeface="Calibri"/>
              </a:rPr>
              <a:t>Baseline = all-zero tensor (black image). Represents 'no information' reference state for attribution.</a:t>
            </a:r>
          </a:p>
        </p:txBody>
      </p:sp>
      <p:sp>
        <p:nvSpPr>
          <p:cNvPr id="25" name="Rectangle 24"/>
          <p:cNvSpPr/>
          <p:nvPr/>
        </p:nvSpPr>
        <p:spPr>
          <a:xfrm>
            <a:off x="4370832" y="2834639"/>
            <a:ext cx="274320" cy="2743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70832" y="2834639"/>
            <a:ext cx="274320" cy="274320"/>
          </a:xfrm>
          <a:prstGeom prst="rect">
            <a:avLst/>
          </a:prstGeom>
          <a:noFill/>
        </p:spPr>
        <p:txBody>
          <a:bodyPr wrap="square">
            <a:spAutoFit/>
          </a:bodyPr>
          <a:lstStyle/>
          <a:p>
            <a:pPr algn="ctr"/>
            <a:r>
              <a:rPr sz="1100" b="1" i="0">
                <a:solidFill>
                  <a:srgbClr val="FFFFFF"/>
                </a:solidFill>
                <a:latin typeface="Calibri"/>
              </a:rPr>
              <a:t>2</a:t>
            </a:r>
          </a:p>
        </p:txBody>
      </p:sp>
      <p:sp>
        <p:nvSpPr>
          <p:cNvPr id="27" name="TextBox 26"/>
          <p:cNvSpPr txBox="1"/>
          <p:nvPr/>
        </p:nvSpPr>
        <p:spPr>
          <a:xfrm>
            <a:off x="4709160" y="2834639"/>
            <a:ext cx="3474720" cy="256032"/>
          </a:xfrm>
          <a:prstGeom prst="rect">
            <a:avLst/>
          </a:prstGeom>
          <a:noFill/>
        </p:spPr>
        <p:txBody>
          <a:bodyPr wrap="square">
            <a:spAutoFit/>
          </a:bodyPr>
          <a:lstStyle/>
          <a:p>
            <a:pPr algn="l"/>
            <a:r>
              <a:rPr sz="1100" b="1" i="0">
                <a:solidFill>
                  <a:srgbClr val="8B5CF6"/>
                </a:solidFill>
                <a:latin typeface="Calibri"/>
              </a:rPr>
              <a:t>20-Step Interpolation</a:t>
            </a:r>
          </a:p>
        </p:txBody>
      </p:sp>
      <p:sp>
        <p:nvSpPr>
          <p:cNvPr id="28" name="TextBox 27"/>
          <p:cNvSpPr txBox="1"/>
          <p:nvPr/>
        </p:nvSpPr>
        <p:spPr>
          <a:xfrm>
            <a:off x="4709160" y="3090671"/>
            <a:ext cx="3474720" cy="457200"/>
          </a:xfrm>
          <a:prstGeom prst="rect">
            <a:avLst/>
          </a:prstGeom>
          <a:noFill/>
        </p:spPr>
        <p:txBody>
          <a:bodyPr wrap="square">
            <a:spAutoFit/>
          </a:bodyPr>
          <a:lstStyle/>
          <a:p>
            <a:pPr algn="l"/>
            <a:r>
              <a:rPr sz="1000" b="0" i="0">
                <a:solidFill>
                  <a:srgbClr val="8B95A7"/>
                </a:solidFill>
                <a:latin typeface="Calibri"/>
              </a:rPr>
              <a:t>Generate 20 intermediate inputs: x̃(α) = baseline + α·(input - baseline) where α ∈ {0/20, 1/20, ..., 20/20}.</a:t>
            </a:r>
          </a:p>
        </p:txBody>
      </p:sp>
      <p:sp>
        <p:nvSpPr>
          <p:cNvPr id="29" name="Rectangle 28"/>
          <p:cNvSpPr/>
          <p:nvPr/>
        </p:nvSpPr>
        <p:spPr>
          <a:xfrm>
            <a:off x="4370832" y="3584447"/>
            <a:ext cx="274320" cy="2743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70832" y="3584447"/>
            <a:ext cx="274320" cy="274320"/>
          </a:xfrm>
          <a:prstGeom prst="rect">
            <a:avLst/>
          </a:prstGeom>
          <a:noFill/>
        </p:spPr>
        <p:txBody>
          <a:bodyPr wrap="square">
            <a:spAutoFit/>
          </a:bodyPr>
          <a:lstStyle/>
          <a:p>
            <a:pPr algn="ctr"/>
            <a:r>
              <a:rPr sz="1100" b="1" i="0">
                <a:solidFill>
                  <a:srgbClr val="FFFFFF"/>
                </a:solidFill>
                <a:latin typeface="Calibri"/>
              </a:rPr>
              <a:t>3</a:t>
            </a:r>
          </a:p>
        </p:txBody>
      </p:sp>
      <p:sp>
        <p:nvSpPr>
          <p:cNvPr id="31" name="TextBox 30"/>
          <p:cNvSpPr txBox="1"/>
          <p:nvPr/>
        </p:nvSpPr>
        <p:spPr>
          <a:xfrm>
            <a:off x="4709160" y="3584447"/>
            <a:ext cx="3474720" cy="256032"/>
          </a:xfrm>
          <a:prstGeom prst="rect">
            <a:avLst/>
          </a:prstGeom>
          <a:noFill/>
        </p:spPr>
        <p:txBody>
          <a:bodyPr wrap="square">
            <a:spAutoFit/>
          </a:bodyPr>
          <a:lstStyle/>
          <a:p>
            <a:pPr algn="l"/>
            <a:r>
              <a:rPr sz="1100" b="1" i="0">
                <a:solidFill>
                  <a:srgbClr val="8B5CF6"/>
                </a:solidFill>
                <a:latin typeface="Calibri"/>
              </a:rPr>
              <a:t>Per-Step Gradient</a:t>
            </a:r>
          </a:p>
        </p:txBody>
      </p:sp>
      <p:sp>
        <p:nvSpPr>
          <p:cNvPr id="32" name="TextBox 31"/>
          <p:cNvSpPr txBox="1"/>
          <p:nvPr/>
        </p:nvSpPr>
        <p:spPr>
          <a:xfrm>
            <a:off x="4709160" y="3840479"/>
            <a:ext cx="3474720" cy="457200"/>
          </a:xfrm>
          <a:prstGeom prst="rect">
            <a:avLst/>
          </a:prstGeom>
          <a:noFill/>
        </p:spPr>
        <p:txBody>
          <a:bodyPr wrap="square">
            <a:spAutoFit/>
          </a:bodyPr>
          <a:lstStyle/>
          <a:p>
            <a:pPr algn="l"/>
            <a:r>
              <a:rPr sz="1000" b="0" i="0">
                <a:solidFill>
                  <a:srgbClr val="8B95A7"/>
                </a:solidFill>
                <a:latin typeface="Calibri"/>
              </a:rPr>
              <a:t>For each interpolation step, compute gradient via torch.autograd.grad — compatible with MPS/CUDA/CPU.</a:t>
            </a:r>
          </a:p>
        </p:txBody>
      </p:sp>
      <p:sp>
        <p:nvSpPr>
          <p:cNvPr id="33" name="Rectangle 32"/>
          <p:cNvSpPr/>
          <p:nvPr/>
        </p:nvSpPr>
        <p:spPr>
          <a:xfrm>
            <a:off x="4370832" y="4334255"/>
            <a:ext cx="274320" cy="2743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70832" y="4334255"/>
            <a:ext cx="274320" cy="274320"/>
          </a:xfrm>
          <a:prstGeom prst="rect">
            <a:avLst/>
          </a:prstGeom>
          <a:noFill/>
        </p:spPr>
        <p:txBody>
          <a:bodyPr wrap="square">
            <a:spAutoFit/>
          </a:bodyPr>
          <a:lstStyle/>
          <a:p>
            <a:pPr algn="ctr"/>
            <a:r>
              <a:rPr sz="1100" b="1" i="0">
                <a:solidFill>
                  <a:srgbClr val="FFFFFF"/>
                </a:solidFill>
                <a:latin typeface="Calibri"/>
              </a:rPr>
              <a:t>4</a:t>
            </a:r>
          </a:p>
        </p:txBody>
      </p:sp>
      <p:sp>
        <p:nvSpPr>
          <p:cNvPr id="35" name="TextBox 34"/>
          <p:cNvSpPr txBox="1"/>
          <p:nvPr/>
        </p:nvSpPr>
        <p:spPr>
          <a:xfrm>
            <a:off x="4709160" y="4334255"/>
            <a:ext cx="3474720" cy="256032"/>
          </a:xfrm>
          <a:prstGeom prst="rect">
            <a:avLst/>
          </a:prstGeom>
          <a:noFill/>
        </p:spPr>
        <p:txBody>
          <a:bodyPr wrap="square">
            <a:spAutoFit/>
          </a:bodyPr>
          <a:lstStyle/>
          <a:p>
            <a:pPr algn="l"/>
            <a:r>
              <a:rPr sz="1100" b="1" i="0">
                <a:solidFill>
                  <a:srgbClr val="8B5CF6"/>
                </a:solidFill>
                <a:latin typeface="Calibri"/>
              </a:rPr>
              <a:t>Accumulate &amp; Average</a:t>
            </a:r>
          </a:p>
        </p:txBody>
      </p:sp>
      <p:sp>
        <p:nvSpPr>
          <p:cNvPr id="36" name="TextBox 35"/>
          <p:cNvSpPr txBox="1"/>
          <p:nvPr/>
        </p:nvSpPr>
        <p:spPr>
          <a:xfrm>
            <a:off x="4709160" y="4590287"/>
            <a:ext cx="3474720" cy="457200"/>
          </a:xfrm>
          <a:prstGeom prst="rect">
            <a:avLst/>
          </a:prstGeom>
          <a:noFill/>
        </p:spPr>
        <p:txBody>
          <a:bodyPr wrap="square">
            <a:spAutoFit/>
          </a:bodyPr>
          <a:lstStyle/>
          <a:p>
            <a:pPr algn="l"/>
            <a:r>
              <a:rPr sz="1000" b="0" i="0">
                <a:solidFill>
                  <a:srgbClr val="8B95A7"/>
                </a:solidFill>
                <a:latin typeface="Calibri"/>
              </a:rPr>
              <a:t>Stack all 20 gradient tensors (shape: 20, 1, 3, H, W), then mean across steps → avg_grads (1, 3, H, W).</a:t>
            </a:r>
          </a:p>
        </p:txBody>
      </p:sp>
      <p:sp>
        <p:nvSpPr>
          <p:cNvPr id="37" name="Rectangle 36"/>
          <p:cNvSpPr/>
          <p:nvPr/>
        </p:nvSpPr>
        <p:spPr>
          <a:xfrm>
            <a:off x="4370832" y="5084063"/>
            <a:ext cx="274320" cy="2743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70832" y="5084063"/>
            <a:ext cx="274320" cy="274320"/>
          </a:xfrm>
          <a:prstGeom prst="rect">
            <a:avLst/>
          </a:prstGeom>
          <a:noFill/>
        </p:spPr>
        <p:txBody>
          <a:bodyPr wrap="square">
            <a:spAutoFit/>
          </a:bodyPr>
          <a:lstStyle/>
          <a:p>
            <a:pPr algn="ctr"/>
            <a:r>
              <a:rPr sz="1100" b="1" i="0">
                <a:solidFill>
                  <a:srgbClr val="FFFFFF"/>
                </a:solidFill>
                <a:latin typeface="Calibri"/>
              </a:rPr>
              <a:t>5</a:t>
            </a:r>
          </a:p>
        </p:txBody>
      </p:sp>
      <p:sp>
        <p:nvSpPr>
          <p:cNvPr id="39" name="TextBox 38"/>
          <p:cNvSpPr txBox="1"/>
          <p:nvPr/>
        </p:nvSpPr>
        <p:spPr>
          <a:xfrm>
            <a:off x="4709160" y="5084063"/>
            <a:ext cx="3474720" cy="256032"/>
          </a:xfrm>
          <a:prstGeom prst="rect">
            <a:avLst/>
          </a:prstGeom>
          <a:noFill/>
        </p:spPr>
        <p:txBody>
          <a:bodyPr wrap="square">
            <a:spAutoFit/>
          </a:bodyPr>
          <a:lstStyle/>
          <a:p>
            <a:pPr algn="l"/>
            <a:r>
              <a:rPr sz="1100" b="1" i="0">
                <a:solidFill>
                  <a:srgbClr val="8B5CF6"/>
                </a:solidFill>
                <a:latin typeface="Calibri"/>
              </a:rPr>
              <a:t>Element-wise Product</a:t>
            </a:r>
          </a:p>
        </p:txBody>
      </p:sp>
      <p:sp>
        <p:nvSpPr>
          <p:cNvPr id="40" name="TextBox 39"/>
          <p:cNvSpPr txBox="1"/>
          <p:nvPr/>
        </p:nvSpPr>
        <p:spPr>
          <a:xfrm>
            <a:off x="4709160" y="5340095"/>
            <a:ext cx="3474720" cy="457200"/>
          </a:xfrm>
          <a:prstGeom prst="rect">
            <a:avLst/>
          </a:prstGeom>
          <a:noFill/>
        </p:spPr>
        <p:txBody>
          <a:bodyPr wrap="square">
            <a:spAutoFit/>
          </a:bodyPr>
          <a:lstStyle/>
          <a:p>
            <a:pPr algn="l"/>
            <a:r>
              <a:rPr sz="1000" b="0" i="0">
                <a:solidFill>
                  <a:srgbClr val="8B95A7"/>
                </a:solidFill>
                <a:latin typeface="Calibri"/>
              </a:rPr>
              <a:t>IG = (input - baseline) × avg_grads. This gives final pixel attributions per channel.</a:t>
            </a:r>
          </a:p>
        </p:txBody>
      </p:sp>
      <p:sp>
        <p:nvSpPr>
          <p:cNvPr id="41" name="Rectangle 40"/>
          <p:cNvSpPr/>
          <p:nvPr/>
        </p:nvSpPr>
        <p:spPr>
          <a:xfrm>
            <a:off x="4370832" y="5833871"/>
            <a:ext cx="274320" cy="2743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370832" y="5833871"/>
            <a:ext cx="274320" cy="274320"/>
          </a:xfrm>
          <a:prstGeom prst="rect">
            <a:avLst/>
          </a:prstGeom>
          <a:noFill/>
        </p:spPr>
        <p:txBody>
          <a:bodyPr wrap="square">
            <a:spAutoFit/>
          </a:bodyPr>
          <a:lstStyle/>
          <a:p>
            <a:pPr algn="ctr"/>
            <a:r>
              <a:rPr sz="1100" b="1" i="0">
                <a:solidFill>
                  <a:srgbClr val="FFFFFF"/>
                </a:solidFill>
                <a:latin typeface="Calibri"/>
              </a:rPr>
              <a:t>6</a:t>
            </a:r>
          </a:p>
        </p:txBody>
      </p:sp>
      <p:sp>
        <p:nvSpPr>
          <p:cNvPr id="43" name="TextBox 42"/>
          <p:cNvSpPr txBox="1"/>
          <p:nvPr/>
        </p:nvSpPr>
        <p:spPr>
          <a:xfrm>
            <a:off x="4709160" y="5833871"/>
            <a:ext cx="3474720" cy="256032"/>
          </a:xfrm>
          <a:prstGeom prst="rect">
            <a:avLst/>
          </a:prstGeom>
          <a:noFill/>
        </p:spPr>
        <p:txBody>
          <a:bodyPr wrap="square">
            <a:spAutoFit/>
          </a:bodyPr>
          <a:lstStyle/>
          <a:p>
            <a:pPr algn="l"/>
            <a:r>
              <a:rPr sz="1100" b="1" i="0">
                <a:solidFill>
                  <a:srgbClr val="8B5CF6"/>
                </a:solidFill>
                <a:latin typeface="Calibri"/>
              </a:rPr>
              <a:t>Channel Aggregate + Normalize</a:t>
            </a:r>
          </a:p>
        </p:txBody>
      </p:sp>
      <p:sp>
        <p:nvSpPr>
          <p:cNvPr id="44" name="TextBox 43"/>
          <p:cNvSpPr txBox="1"/>
          <p:nvPr/>
        </p:nvSpPr>
        <p:spPr>
          <a:xfrm>
            <a:off x="4709160" y="6089903"/>
            <a:ext cx="3474720" cy="457200"/>
          </a:xfrm>
          <a:prstGeom prst="rect">
            <a:avLst/>
          </a:prstGeom>
          <a:noFill/>
        </p:spPr>
        <p:txBody>
          <a:bodyPr wrap="square">
            <a:spAutoFit/>
          </a:bodyPr>
          <a:lstStyle/>
          <a:p>
            <a:pPr algn="l"/>
            <a:r>
              <a:rPr sz="1000" b="0" i="0">
                <a:solidFill>
                  <a:srgbClr val="8B95A7"/>
                </a:solidFill>
                <a:latin typeface="Calibri"/>
              </a:rPr>
              <a:t>Sum absolute attributions across RGB channels → 2D map. Min-max normalize to [0, 1].</a:t>
            </a:r>
          </a:p>
        </p:txBody>
      </p:sp>
      <p:sp>
        <p:nvSpPr>
          <p:cNvPr id="45" name="Rectangle 44"/>
          <p:cNvSpPr/>
          <p:nvPr/>
        </p:nvSpPr>
        <p:spPr>
          <a:xfrm>
            <a:off x="8549640" y="1508760"/>
            <a:ext cx="3429000"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549640" y="1508760"/>
            <a:ext cx="342900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86800" y="1627632"/>
            <a:ext cx="3108960" cy="320040"/>
          </a:xfrm>
          <a:prstGeom prst="rect">
            <a:avLst/>
          </a:prstGeom>
          <a:noFill/>
        </p:spPr>
        <p:txBody>
          <a:bodyPr wrap="square">
            <a:spAutoFit/>
          </a:bodyPr>
          <a:lstStyle/>
          <a:p>
            <a:pPr algn="l"/>
            <a:r>
              <a:rPr sz="1200" b="1" i="0">
                <a:solidFill>
                  <a:srgbClr val="8B5CF6"/>
                </a:solidFill>
                <a:latin typeface="Calibri"/>
              </a:rPr>
              <a:t>Key Code (integrated_gradients.py)</a:t>
            </a:r>
          </a:p>
        </p:txBody>
      </p:sp>
      <p:sp>
        <p:nvSpPr>
          <p:cNvPr id="48" name="Rectangle 47"/>
          <p:cNvSpPr/>
          <p:nvPr/>
        </p:nvSpPr>
        <p:spPr>
          <a:xfrm>
            <a:off x="8549640" y="2011680"/>
            <a:ext cx="3429000" cy="4480560"/>
          </a:xfrm>
          <a:prstGeom prst="rect">
            <a:avLst/>
          </a:prstGeom>
          <a:solidFill>
            <a:srgbClr val="0A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1080" y="2084832"/>
            <a:ext cx="3246120" cy="4389120"/>
          </a:xfrm>
          <a:prstGeom prst="rect">
            <a:avLst/>
          </a:prstGeom>
          <a:noFill/>
        </p:spPr>
        <p:txBody>
          <a:bodyPr wrap="square">
            <a:spAutoFit/>
          </a:bodyPr>
          <a:lstStyle/>
          <a:p>
            <a:pPr algn="l"/>
            <a:r>
              <a:rPr sz="850" b="0" i="0">
                <a:solidFill>
                  <a:srgbClr val="7DD3FC"/>
                </a:solidFill>
                <a:latin typeface="Courier New"/>
              </a:rPr>
              <a:t># Baseline = all-zero image
baseline = torch.zeros_like(input)
# 20-step path interpolation
for i in range(steps + 1):
  alpha = float(i) / steps
  step_input = (
    baseline + alpha *
    (input - baseline)).clone()
  step_input.requires_grad_(True)
  # Gradient via autograd.grad
  # (MPS/CUDA/CPU compatible)
  grad = torch.autograd.grad(
    outputs=score,
    inputs=step_input)[0]
  grads_list.append(grad)
# Average gradients
avg_grads = torch.stack(
  grads_list).mean(dim=0)
# Integrated Gradients
IG = (input - baseline)
     * avg_grads
# Aggregate across RGB channels
attr = torch.sum(torch.abs(IG),
                 dim=0)  # (H,W)</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F59E0B"/>
                </a:solidFill>
                <a:latin typeface="Calibri"/>
              </a:rPr>
              <a:t>07C</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SHAP — Game-Theoretic Shapley Value Attribution</a:t>
            </a:r>
          </a:p>
        </p:txBody>
      </p:sp>
      <p:sp>
        <p:nvSpPr>
          <p:cNvPr id="5" name="Rectangle 4"/>
          <p:cNvSpPr/>
          <p:nvPr/>
        </p:nvSpPr>
        <p:spPr>
          <a:xfrm>
            <a:off x="274320" y="1161288"/>
            <a:ext cx="438912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80160"/>
            <a:ext cx="10972800" cy="320040"/>
          </a:xfrm>
          <a:prstGeom prst="rect">
            <a:avLst/>
          </a:prstGeom>
          <a:noFill/>
        </p:spPr>
        <p:txBody>
          <a:bodyPr wrap="square">
            <a:spAutoFit/>
          </a:bodyPr>
          <a:lstStyle/>
          <a:p>
            <a:pPr algn="l"/>
            <a:r>
              <a:rPr sz="1200" b="0" i="1">
                <a:solidFill>
                  <a:srgbClr val="8B95A7"/>
                </a:solidFill>
                <a:latin typeface="Calibri"/>
              </a:rPr>
              <a:t>Technique 3 of 3  |  Grid: 8×8 patches (28×28px each)  |  file: explainability/shap_explainer.py</a:t>
            </a:r>
          </a:p>
        </p:txBody>
      </p:sp>
      <p:sp>
        <p:nvSpPr>
          <p:cNvPr id="7" name="Rectangle 6"/>
          <p:cNvSpPr/>
          <p:nvPr/>
        </p:nvSpPr>
        <p:spPr>
          <a:xfrm>
            <a:off x="274320" y="1508760"/>
            <a:ext cx="3749039"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508760"/>
            <a:ext cx="3749039"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45920"/>
            <a:ext cx="3383280" cy="365760"/>
          </a:xfrm>
          <a:prstGeom prst="rect">
            <a:avLst/>
          </a:prstGeom>
          <a:noFill/>
        </p:spPr>
        <p:txBody>
          <a:bodyPr wrap="square">
            <a:spAutoFit/>
          </a:bodyPr>
          <a:lstStyle/>
          <a:p>
            <a:pPr algn="l"/>
            <a:r>
              <a:rPr sz="1300" b="1" i="0">
                <a:solidFill>
                  <a:srgbClr val="F59E0B"/>
                </a:solidFill>
                <a:latin typeface="Calibri"/>
              </a:rPr>
              <a:t>What is SHAP Patch Occlusion?</a:t>
            </a:r>
          </a:p>
        </p:txBody>
      </p:sp>
      <p:sp>
        <p:nvSpPr>
          <p:cNvPr id="10" name="TextBox 9"/>
          <p:cNvSpPr txBox="1"/>
          <p:nvPr/>
        </p:nvSpPr>
        <p:spPr>
          <a:xfrm>
            <a:off x="457200" y="2057400"/>
            <a:ext cx="3383280" cy="2468880"/>
          </a:xfrm>
          <a:prstGeom prst="rect">
            <a:avLst/>
          </a:prstGeom>
          <a:noFill/>
        </p:spPr>
        <p:txBody>
          <a:bodyPr wrap="square">
            <a:spAutoFit/>
          </a:bodyPr>
          <a:lstStyle/>
          <a:p>
            <a:pPr algn="l"/>
            <a:r>
              <a:rPr sz="1050" b="0" i="0">
                <a:solidFill>
                  <a:srgbClr val="8B95A7"/>
                </a:solidFill>
                <a:latin typeface="Calibri"/>
              </a:rPr>
              <a:t>SHAP (SHapley Additive exPlanations) applies game theory to AI explainability. The image is divided into an 8×8 grid of 64 patches. Each patch is systematically occluded (set to zero) and the model's confidence drop is measured.
A patch's SHAP importance = how much the model's confidence falls when that region is hidden. High drop → that region contains critical disease features. Low drop → that region is background noise.
This is model-agnostic — it treats the network as a black box and interrogates it through input perturbation, grounded in cooperative game theory fairness guarantees.</a:t>
            </a:r>
          </a:p>
        </p:txBody>
      </p:sp>
      <p:sp>
        <p:nvSpPr>
          <p:cNvPr id="11" name="TextBox 10"/>
          <p:cNvSpPr txBox="1"/>
          <p:nvPr/>
        </p:nvSpPr>
        <p:spPr>
          <a:xfrm>
            <a:off x="457200" y="4617720"/>
            <a:ext cx="3383280" cy="320040"/>
          </a:xfrm>
          <a:prstGeom prst="rect">
            <a:avLst/>
          </a:prstGeom>
          <a:noFill/>
        </p:spPr>
        <p:txBody>
          <a:bodyPr wrap="square">
            <a:spAutoFit/>
          </a:bodyPr>
          <a:lstStyle/>
          <a:p>
            <a:pPr algn="l"/>
            <a:r>
              <a:rPr sz="1200" b="1" i="0">
                <a:solidFill>
                  <a:srgbClr val="F0F4F8"/>
                </a:solidFill>
                <a:latin typeface="Calibri"/>
              </a:rPr>
              <a:t>Unique strengths:</a:t>
            </a:r>
          </a:p>
        </p:txBody>
      </p:sp>
      <p:sp>
        <p:nvSpPr>
          <p:cNvPr id="12" name="TextBox 11"/>
          <p:cNvSpPr txBox="1"/>
          <p:nvPr/>
        </p:nvSpPr>
        <p:spPr>
          <a:xfrm>
            <a:off x="457200" y="5001768"/>
            <a:ext cx="3383280" cy="320040"/>
          </a:xfrm>
          <a:prstGeom prst="rect">
            <a:avLst/>
          </a:prstGeom>
          <a:noFill/>
        </p:spPr>
        <p:txBody>
          <a:bodyPr wrap="square">
            <a:spAutoFit/>
          </a:bodyPr>
          <a:lstStyle/>
          <a:p>
            <a:pPr algn="l"/>
            <a:r>
              <a:rPr sz="1050" b="0" i="0">
                <a:solidFill>
                  <a:srgbClr val="F59E0B"/>
                </a:solidFill>
                <a:latin typeface="Calibri"/>
              </a:rPr>
              <a:t>✓  Model-agnostic (treats model as black box)</a:t>
            </a:r>
          </a:p>
        </p:txBody>
      </p:sp>
      <p:sp>
        <p:nvSpPr>
          <p:cNvPr id="13" name="TextBox 12"/>
          <p:cNvSpPr txBox="1"/>
          <p:nvPr/>
        </p:nvSpPr>
        <p:spPr>
          <a:xfrm>
            <a:off x="457200" y="5349240"/>
            <a:ext cx="3383280" cy="320040"/>
          </a:xfrm>
          <a:prstGeom prst="rect">
            <a:avLst/>
          </a:prstGeom>
          <a:noFill/>
        </p:spPr>
        <p:txBody>
          <a:bodyPr wrap="square">
            <a:spAutoFit/>
          </a:bodyPr>
          <a:lstStyle/>
          <a:p>
            <a:pPr algn="l"/>
            <a:r>
              <a:rPr sz="1050" b="0" i="0">
                <a:solidFill>
                  <a:srgbClr val="F59E0B"/>
                </a:solidFill>
                <a:latin typeface="Calibri"/>
              </a:rPr>
              <a:t>✓  Game-theory fairness guarantees</a:t>
            </a:r>
          </a:p>
        </p:txBody>
      </p:sp>
      <p:sp>
        <p:nvSpPr>
          <p:cNvPr id="14" name="TextBox 13"/>
          <p:cNvSpPr txBox="1"/>
          <p:nvPr/>
        </p:nvSpPr>
        <p:spPr>
          <a:xfrm>
            <a:off x="457200" y="5696712"/>
            <a:ext cx="3383280" cy="320040"/>
          </a:xfrm>
          <a:prstGeom prst="rect">
            <a:avLst/>
          </a:prstGeom>
          <a:noFill/>
        </p:spPr>
        <p:txBody>
          <a:bodyPr wrap="square">
            <a:spAutoFit/>
          </a:bodyPr>
          <a:lstStyle/>
          <a:p>
            <a:pPr algn="l"/>
            <a:r>
              <a:rPr sz="1050" b="0" i="0">
                <a:solidFill>
                  <a:srgbClr val="F59E0B"/>
                </a:solidFill>
                <a:latin typeface="Calibri"/>
              </a:rPr>
              <a:t>✓  Human-interpretable region importance</a:t>
            </a:r>
          </a:p>
        </p:txBody>
      </p:sp>
      <p:sp>
        <p:nvSpPr>
          <p:cNvPr id="15" name="TextBox 14"/>
          <p:cNvSpPr txBox="1"/>
          <p:nvPr/>
        </p:nvSpPr>
        <p:spPr>
          <a:xfrm>
            <a:off x="457200" y="6044184"/>
            <a:ext cx="3383280" cy="320040"/>
          </a:xfrm>
          <a:prstGeom prst="rect">
            <a:avLst/>
          </a:prstGeom>
          <a:noFill/>
        </p:spPr>
        <p:txBody>
          <a:bodyPr wrap="square">
            <a:spAutoFit/>
          </a:bodyPr>
          <a:lstStyle/>
          <a:p>
            <a:pPr algn="l"/>
            <a:r>
              <a:rPr sz="1050" b="0" i="0">
                <a:solidFill>
                  <a:srgbClr val="F59E0B"/>
                </a:solidFill>
                <a:latin typeface="Calibri"/>
              </a:rPr>
              <a:t>✓  Complements Grad-CAM &amp; IG perfectly</a:t>
            </a:r>
          </a:p>
        </p:txBody>
      </p:sp>
      <p:sp>
        <p:nvSpPr>
          <p:cNvPr id="16" name="Rectangle 15"/>
          <p:cNvSpPr/>
          <p:nvPr/>
        </p:nvSpPr>
        <p:spPr>
          <a:xfrm>
            <a:off x="4206240" y="1508760"/>
            <a:ext cx="4160520"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06240" y="1508760"/>
            <a:ext cx="416052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0832" y="1645920"/>
            <a:ext cx="3840480" cy="365760"/>
          </a:xfrm>
          <a:prstGeom prst="rect">
            <a:avLst/>
          </a:prstGeom>
          <a:noFill/>
        </p:spPr>
        <p:txBody>
          <a:bodyPr wrap="square">
            <a:spAutoFit/>
          </a:bodyPr>
          <a:lstStyle/>
          <a:p>
            <a:pPr algn="l"/>
            <a:r>
              <a:rPr sz="1300" b="1" i="0">
                <a:solidFill>
                  <a:srgbClr val="F59E0B"/>
                </a:solidFill>
                <a:latin typeface="Calibri"/>
              </a:rPr>
              <a:t>How It Works (Our Implementation)</a:t>
            </a:r>
          </a:p>
        </p:txBody>
      </p:sp>
      <p:sp>
        <p:nvSpPr>
          <p:cNvPr id="19" name="Rectangle 18"/>
          <p:cNvSpPr/>
          <p:nvPr/>
        </p:nvSpPr>
        <p:spPr>
          <a:xfrm>
            <a:off x="4370832" y="2084831"/>
            <a:ext cx="274320"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70832" y="2084831"/>
            <a:ext cx="274320" cy="274320"/>
          </a:xfrm>
          <a:prstGeom prst="rect">
            <a:avLst/>
          </a:prstGeom>
          <a:noFill/>
        </p:spPr>
        <p:txBody>
          <a:bodyPr wrap="square">
            <a:spAutoFit/>
          </a:bodyPr>
          <a:lstStyle/>
          <a:p>
            <a:pPr algn="ctr"/>
            <a:r>
              <a:rPr sz="1100" b="1" i="0">
                <a:solidFill>
                  <a:srgbClr val="0D1117"/>
                </a:solidFill>
                <a:latin typeface="Calibri"/>
              </a:rPr>
              <a:t>1</a:t>
            </a:r>
          </a:p>
        </p:txBody>
      </p:sp>
      <p:sp>
        <p:nvSpPr>
          <p:cNvPr id="21" name="TextBox 20"/>
          <p:cNvSpPr txBox="1"/>
          <p:nvPr/>
        </p:nvSpPr>
        <p:spPr>
          <a:xfrm>
            <a:off x="4709160" y="2084831"/>
            <a:ext cx="3474720" cy="256032"/>
          </a:xfrm>
          <a:prstGeom prst="rect">
            <a:avLst/>
          </a:prstGeom>
          <a:noFill/>
        </p:spPr>
        <p:txBody>
          <a:bodyPr wrap="square">
            <a:spAutoFit/>
          </a:bodyPr>
          <a:lstStyle/>
          <a:p>
            <a:pPr algn="l"/>
            <a:r>
              <a:rPr sz="1100" b="1" i="0">
                <a:solidFill>
                  <a:srgbClr val="F59E0B"/>
                </a:solidFill>
                <a:latin typeface="Calibri"/>
              </a:rPr>
              <a:t>Baseline Confidence</a:t>
            </a:r>
          </a:p>
        </p:txBody>
      </p:sp>
      <p:sp>
        <p:nvSpPr>
          <p:cNvPr id="22" name="TextBox 21"/>
          <p:cNvSpPr txBox="1"/>
          <p:nvPr/>
        </p:nvSpPr>
        <p:spPr>
          <a:xfrm>
            <a:off x="4709160" y="2340863"/>
            <a:ext cx="3474720" cy="457200"/>
          </a:xfrm>
          <a:prstGeom prst="rect">
            <a:avLst/>
          </a:prstGeom>
          <a:noFill/>
        </p:spPr>
        <p:txBody>
          <a:bodyPr wrap="square">
            <a:spAutoFit/>
          </a:bodyPr>
          <a:lstStyle/>
          <a:p>
            <a:pPr algn="l"/>
            <a:r>
              <a:rPr sz="1000" b="0" i="0">
                <a:solidFill>
                  <a:srgbClr val="8B95A7"/>
                </a:solidFill>
                <a:latin typeface="Calibri"/>
              </a:rPr>
              <a:t>Run the unmodified leaf image through the model. Record baseline softmax probability for the predicted class.</a:t>
            </a:r>
          </a:p>
        </p:txBody>
      </p:sp>
      <p:sp>
        <p:nvSpPr>
          <p:cNvPr id="23" name="Rectangle 22"/>
          <p:cNvSpPr/>
          <p:nvPr/>
        </p:nvSpPr>
        <p:spPr>
          <a:xfrm>
            <a:off x="4370832" y="2834639"/>
            <a:ext cx="274320"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70832" y="2834639"/>
            <a:ext cx="274320" cy="274320"/>
          </a:xfrm>
          <a:prstGeom prst="rect">
            <a:avLst/>
          </a:prstGeom>
          <a:noFill/>
        </p:spPr>
        <p:txBody>
          <a:bodyPr wrap="square">
            <a:spAutoFit/>
          </a:bodyPr>
          <a:lstStyle/>
          <a:p>
            <a:pPr algn="ctr"/>
            <a:r>
              <a:rPr sz="1100" b="1" i="0">
                <a:solidFill>
                  <a:srgbClr val="0D1117"/>
                </a:solidFill>
                <a:latin typeface="Calibri"/>
              </a:rPr>
              <a:t>2</a:t>
            </a:r>
          </a:p>
        </p:txBody>
      </p:sp>
      <p:sp>
        <p:nvSpPr>
          <p:cNvPr id="25" name="TextBox 24"/>
          <p:cNvSpPr txBox="1"/>
          <p:nvPr/>
        </p:nvSpPr>
        <p:spPr>
          <a:xfrm>
            <a:off x="4709160" y="2834639"/>
            <a:ext cx="3474720" cy="256032"/>
          </a:xfrm>
          <a:prstGeom prst="rect">
            <a:avLst/>
          </a:prstGeom>
          <a:noFill/>
        </p:spPr>
        <p:txBody>
          <a:bodyPr wrap="square">
            <a:spAutoFit/>
          </a:bodyPr>
          <a:lstStyle/>
          <a:p>
            <a:pPr algn="l"/>
            <a:r>
              <a:rPr sz="1100" b="1" i="0">
                <a:solidFill>
                  <a:srgbClr val="F59E0B"/>
                </a:solidFill>
                <a:latin typeface="Calibri"/>
              </a:rPr>
              <a:t>8×8 Grid Division</a:t>
            </a:r>
          </a:p>
        </p:txBody>
      </p:sp>
      <p:sp>
        <p:nvSpPr>
          <p:cNvPr id="26" name="TextBox 25"/>
          <p:cNvSpPr txBox="1"/>
          <p:nvPr/>
        </p:nvSpPr>
        <p:spPr>
          <a:xfrm>
            <a:off x="4709160" y="3090671"/>
            <a:ext cx="3474720" cy="457200"/>
          </a:xfrm>
          <a:prstGeom prst="rect">
            <a:avLst/>
          </a:prstGeom>
          <a:noFill/>
        </p:spPr>
        <p:txBody>
          <a:bodyPr wrap="square">
            <a:spAutoFit/>
          </a:bodyPr>
          <a:lstStyle/>
          <a:p>
            <a:pPr algn="l"/>
            <a:r>
              <a:rPr sz="1000" b="0" i="0">
                <a:solidFill>
                  <a:srgbClr val="8B95A7"/>
                </a:solidFill>
                <a:latin typeface="Calibri"/>
              </a:rPr>
              <a:t>Divide the 224×224 image into a grid of 8×8 = 64 patches, each 28×28 pixels in size.</a:t>
            </a:r>
          </a:p>
        </p:txBody>
      </p:sp>
      <p:sp>
        <p:nvSpPr>
          <p:cNvPr id="27" name="Rectangle 26"/>
          <p:cNvSpPr/>
          <p:nvPr/>
        </p:nvSpPr>
        <p:spPr>
          <a:xfrm>
            <a:off x="4370832" y="3584447"/>
            <a:ext cx="274320"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70832" y="3584447"/>
            <a:ext cx="274320" cy="274320"/>
          </a:xfrm>
          <a:prstGeom prst="rect">
            <a:avLst/>
          </a:prstGeom>
          <a:noFill/>
        </p:spPr>
        <p:txBody>
          <a:bodyPr wrap="square">
            <a:spAutoFit/>
          </a:bodyPr>
          <a:lstStyle/>
          <a:p>
            <a:pPr algn="ctr"/>
            <a:r>
              <a:rPr sz="1100" b="1" i="0">
                <a:solidFill>
                  <a:srgbClr val="0D1117"/>
                </a:solidFill>
                <a:latin typeface="Calibri"/>
              </a:rPr>
              <a:t>3</a:t>
            </a:r>
          </a:p>
        </p:txBody>
      </p:sp>
      <p:sp>
        <p:nvSpPr>
          <p:cNvPr id="29" name="TextBox 28"/>
          <p:cNvSpPr txBox="1"/>
          <p:nvPr/>
        </p:nvSpPr>
        <p:spPr>
          <a:xfrm>
            <a:off x="4709160" y="3584447"/>
            <a:ext cx="3474720" cy="256032"/>
          </a:xfrm>
          <a:prstGeom prst="rect">
            <a:avLst/>
          </a:prstGeom>
          <a:noFill/>
        </p:spPr>
        <p:txBody>
          <a:bodyPr wrap="square">
            <a:spAutoFit/>
          </a:bodyPr>
          <a:lstStyle/>
          <a:p>
            <a:pPr algn="l"/>
            <a:r>
              <a:rPr sz="1100" b="1" i="0">
                <a:solidFill>
                  <a:srgbClr val="F59E0B"/>
                </a:solidFill>
                <a:latin typeface="Calibri"/>
              </a:rPr>
              <a:t>Systematic Occlusion</a:t>
            </a:r>
          </a:p>
        </p:txBody>
      </p:sp>
      <p:sp>
        <p:nvSpPr>
          <p:cNvPr id="30" name="TextBox 29"/>
          <p:cNvSpPr txBox="1"/>
          <p:nvPr/>
        </p:nvSpPr>
        <p:spPr>
          <a:xfrm>
            <a:off x="4709160" y="3840479"/>
            <a:ext cx="3474720" cy="457200"/>
          </a:xfrm>
          <a:prstGeom prst="rect">
            <a:avLst/>
          </a:prstGeom>
          <a:noFill/>
        </p:spPr>
        <p:txBody>
          <a:bodyPr wrap="square">
            <a:spAutoFit/>
          </a:bodyPr>
          <a:lstStyle/>
          <a:p>
            <a:pPr algn="l"/>
            <a:r>
              <a:rPr sz="1000" b="0" i="0">
                <a:solidFill>
                  <a:srgbClr val="8B95A7"/>
                </a:solidFill>
                <a:latin typeface="Calibri"/>
              </a:rPr>
              <a:t>For each of the 64 patches: zero it out (masking), run the masked image through the model, record new class probability.</a:t>
            </a:r>
          </a:p>
        </p:txBody>
      </p:sp>
      <p:sp>
        <p:nvSpPr>
          <p:cNvPr id="31" name="Rectangle 30"/>
          <p:cNvSpPr/>
          <p:nvPr/>
        </p:nvSpPr>
        <p:spPr>
          <a:xfrm>
            <a:off x="4370832" y="4334255"/>
            <a:ext cx="274320"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370832" y="4334255"/>
            <a:ext cx="274320" cy="274320"/>
          </a:xfrm>
          <a:prstGeom prst="rect">
            <a:avLst/>
          </a:prstGeom>
          <a:noFill/>
        </p:spPr>
        <p:txBody>
          <a:bodyPr wrap="square">
            <a:spAutoFit/>
          </a:bodyPr>
          <a:lstStyle/>
          <a:p>
            <a:pPr algn="ctr"/>
            <a:r>
              <a:rPr sz="1100" b="1" i="0">
                <a:solidFill>
                  <a:srgbClr val="0D1117"/>
                </a:solidFill>
                <a:latin typeface="Calibri"/>
              </a:rPr>
              <a:t>4</a:t>
            </a:r>
          </a:p>
        </p:txBody>
      </p:sp>
      <p:sp>
        <p:nvSpPr>
          <p:cNvPr id="33" name="TextBox 32"/>
          <p:cNvSpPr txBox="1"/>
          <p:nvPr/>
        </p:nvSpPr>
        <p:spPr>
          <a:xfrm>
            <a:off x="4709160" y="4334255"/>
            <a:ext cx="3474720" cy="256032"/>
          </a:xfrm>
          <a:prstGeom prst="rect">
            <a:avLst/>
          </a:prstGeom>
          <a:noFill/>
        </p:spPr>
        <p:txBody>
          <a:bodyPr wrap="square">
            <a:spAutoFit/>
          </a:bodyPr>
          <a:lstStyle/>
          <a:p>
            <a:pPr algn="l"/>
            <a:r>
              <a:rPr sz="1100" b="1" i="0">
                <a:solidFill>
                  <a:srgbClr val="F59E0B"/>
                </a:solidFill>
                <a:latin typeface="Calibri"/>
              </a:rPr>
              <a:t>Shapley Score</a:t>
            </a:r>
          </a:p>
        </p:txBody>
      </p:sp>
      <p:sp>
        <p:nvSpPr>
          <p:cNvPr id="34" name="TextBox 33"/>
          <p:cNvSpPr txBox="1"/>
          <p:nvPr/>
        </p:nvSpPr>
        <p:spPr>
          <a:xfrm>
            <a:off x="4709160" y="4590287"/>
            <a:ext cx="3474720" cy="457200"/>
          </a:xfrm>
          <a:prstGeom prst="rect">
            <a:avLst/>
          </a:prstGeom>
          <a:noFill/>
        </p:spPr>
        <p:txBody>
          <a:bodyPr wrap="square">
            <a:spAutoFit/>
          </a:bodyPr>
          <a:lstStyle/>
          <a:p>
            <a:pPr algn="l"/>
            <a:r>
              <a:rPr sz="1000" b="0" i="0">
                <a:solidFill>
                  <a:srgbClr val="8B95A7"/>
                </a:solidFill>
                <a:latin typeface="Calibri"/>
              </a:rPr>
              <a:t>Importance = max(0, baseline_prob - masked_prob). Positive values mean the patch helped the classification.</a:t>
            </a:r>
          </a:p>
        </p:txBody>
      </p:sp>
      <p:sp>
        <p:nvSpPr>
          <p:cNvPr id="35" name="Rectangle 34"/>
          <p:cNvSpPr/>
          <p:nvPr/>
        </p:nvSpPr>
        <p:spPr>
          <a:xfrm>
            <a:off x="4370832" y="5084063"/>
            <a:ext cx="274320"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370832" y="5084063"/>
            <a:ext cx="274320" cy="274320"/>
          </a:xfrm>
          <a:prstGeom prst="rect">
            <a:avLst/>
          </a:prstGeom>
          <a:noFill/>
        </p:spPr>
        <p:txBody>
          <a:bodyPr wrap="square">
            <a:spAutoFit/>
          </a:bodyPr>
          <a:lstStyle/>
          <a:p>
            <a:pPr algn="ctr"/>
            <a:r>
              <a:rPr sz="1100" b="1" i="0">
                <a:solidFill>
                  <a:srgbClr val="0D1117"/>
                </a:solidFill>
                <a:latin typeface="Calibri"/>
              </a:rPr>
              <a:t>5</a:t>
            </a:r>
          </a:p>
        </p:txBody>
      </p:sp>
      <p:sp>
        <p:nvSpPr>
          <p:cNvPr id="37" name="TextBox 36"/>
          <p:cNvSpPr txBox="1"/>
          <p:nvPr/>
        </p:nvSpPr>
        <p:spPr>
          <a:xfrm>
            <a:off x="4709160" y="5084063"/>
            <a:ext cx="3474720" cy="256032"/>
          </a:xfrm>
          <a:prstGeom prst="rect">
            <a:avLst/>
          </a:prstGeom>
          <a:noFill/>
        </p:spPr>
        <p:txBody>
          <a:bodyPr wrap="square">
            <a:spAutoFit/>
          </a:bodyPr>
          <a:lstStyle/>
          <a:p>
            <a:pPr algn="l"/>
            <a:r>
              <a:rPr sz="1100" b="1" i="0">
                <a:solidFill>
                  <a:srgbClr val="F59E0B"/>
                </a:solidFill>
                <a:latin typeface="Calibri"/>
              </a:rPr>
              <a:t>Heatmap Assembly</a:t>
            </a:r>
          </a:p>
        </p:txBody>
      </p:sp>
      <p:sp>
        <p:nvSpPr>
          <p:cNvPr id="38" name="TextBox 37"/>
          <p:cNvSpPr txBox="1"/>
          <p:nvPr/>
        </p:nvSpPr>
        <p:spPr>
          <a:xfrm>
            <a:off x="4709160" y="5340095"/>
            <a:ext cx="3474720" cy="457200"/>
          </a:xfrm>
          <a:prstGeom prst="rect">
            <a:avLst/>
          </a:prstGeom>
          <a:noFill/>
        </p:spPr>
        <p:txBody>
          <a:bodyPr wrap="square">
            <a:spAutoFit/>
          </a:bodyPr>
          <a:lstStyle/>
          <a:p>
            <a:pPr algn="l"/>
            <a:r>
              <a:rPr sz="1000" b="0" i="0">
                <a:solidFill>
                  <a:srgbClr val="8B95A7"/>
                </a:solidFill>
                <a:latin typeface="Calibri"/>
              </a:rPr>
              <a:t>Fill the (224×224) heatmap with each patch's importance score — creating a region-level attribution map.</a:t>
            </a:r>
          </a:p>
        </p:txBody>
      </p:sp>
      <p:sp>
        <p:nvSpPr>
          <p:cNvPr id="39" name="Rectangle 38"/>
          <p:cNvSpPr/>
          <p:nvPr/>
        </p:nvSpPr>
        <p:spPr>
          <a:xfrm>
            <a:off x="4370832" y="5833871"/>
            <a:ext cx="274320" cy="274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70832" y="5833871"/>
            <a:ext cx="274320" cy="274320"/>
          </a:xfrm>
          <a:prstGeom prst="rect">
            <a:avLst/>
          </a:prstGeom>
          <a:noFill/>
        </p:spPr>
        <p:txBody>
          <a:bodyPr wrap="square">
            <a:spAutoFit/>
          </a:bodyPr>
          <a:lstStyle/>
          <a:p>
            <a:pPr algn="ctr"/>
            <a:r>
              <a:rPr sz="1100" b="1" i="0">
                <a:solidFill>
                  <a:srgbClr val="0D1117"/>
                </a:solidFill>
                <a:latin typeface="Calibri"/>
              </a:rPr>
              <a:t>6</a:t>
            </a:r>
          </a:p>
        </p:txBody>
      </p:sp>
      <p:sp>
        <p:nvSpPr>
          <p:cNvPr id="41" name="TextBox 40"/>
          <p:cNvSpPr txBox="1"/>
          <p:nvPr/>
        </p:nvSpPr>
        <p:spPr>
          <a:xfrm>
            <a:off x="4709160" y="5833871"/>
            <a:ext cx="3474720" cy="256032"/>
          </a:xfrm>
          <a:prstGeom prst="rect">
            <a:avLst/>
          </a:prstGeom>
          <a:noFill/>
        </p:spPr>
        <p:txBody>
          <a:bodyPr wrap="square">
            <a:spAutoFit/>
          </a:bodyPr>
          <a:lstStyle/>
          <a:p>
            <a:pPr algn="l"/>
            <a:r>
              <a:rPr sz="1100" b="1" i="0">
                <a:solidFill>
                  <a:srgbClr val="F59E0B"/>
                </a:solidFill>
                <a:latin typeface="Calibri"/>
              </a:rPr>
              <a:t>Normalize [0, 1]</a:t>
            </a:r>
          </a:p>
        </p:txBody>
      </p:sp>
      <p:sp>
        <p:nvSpPr>
          <p:cNvPr id="42" name="TextBox 41"/>
          <p:cNvSpPr txBox="1"/>
          <p:nvPr/>
        </p:nvSpPr>
        <p:spPr>
          <a:xfrm>
            <a:off x="4709160" y="6089903"/>
            <a:ext cx="3474720" cy="457200"/>
          </a:xfrm>
          <a:prstGeom prst="rect">
            <a:avLst/>
          </a:prstGeom>
          <a:noFill/>
        </p:spPr>
        <p:txBody>
          <a:bodyPr wrap="square">
            <a:spAutoFit/>
          </a:bodyPr>
          <a:lstStyle/>
          <a:p>
            <a:pPr algn="l"/>
            <a:r>
              <a:rPr sz="1000" b="0" i="0">
                <a:solidFill>
                  <a:srgbClr val="8B95A7"/>
                </a:solidFill>
                <a:latin typeface="Calibri"/>
              </a:rPr>
              <a:t>Min-max normalize the heatmap and overlay on the original leaf image for visual interpretation.</a:t>
            </a:r>
          </a:p>
        </p:txBody>
      </p:sp>
      <p:sp>
        <p:nvSpPr>
          <p:cNvPr id="43" name="Rectangle 42"/>
          <p:cNvSpPr/>
          <p:nvPr/>
        </p:nvSpPr>
        <p:spPr>
          <a:xfrm>
            <a:off x="8549640" y="1508760"/>
            <a:ext cx="3429000" cy="50749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549640" y="1508760"/>
            <a:ext cx="342900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686800" y="1627632"/>
            <a:ext cx="3108960" cy="320040"/>
          </a:xfrm>
          <a:prstGeom prst="rect">
            <a:avLst/>
          </a:prstGeom>
          <a:noFill/>
        </p:spPr>
        <p:txBody>
          <a:bodyPr wrap="square">
            <a:spAutoFit/>
          </a:bodyPr>
          <a:lstStyle/>
          <a:p>
            <a:pPr algn="l"/>
            <a:r>
              <a:rPr sz="1200" b="1" i="0">
                <a:solidFill>
                  <a:srgbClr val="F59E0B"/>
                </a:solidFill>
                <a:latin typeface="Calibri"/>
              </a:rPr>
              <a:t>Key Code (shap_explainer.py)</a:t>
            </a:r>
          </a:p>
        </p:txBody>
      </p:sp>
      <p:sp>
        <p:nvSpPr>
          <p:cNvPr id="46" name="Rectangle 45"/>
          <p:cNvSpPr/>
          <p:nvPr/>
        </p:nvSpPr>
        <p:spPr>
          <a:xfrm>
            <a:off x="8549640" y="2011680"/>
            <a:ext cx="3429000" cy="4480560"/>
          </a:xfrm>
          <a:prstGeom prst="rect">
            <a:avLst/>
          </a:prstGeom>
          <a:solidFill>
            <a:srgbClr val="0A0E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641080" y="2084832"/>
            <a:ext cx="3246120" cy="4389120"/>
          </a:xfrm>
          <a:prstGeom prst="rect">
            <a:avLst/>
          </a:prstGeom>
          <a:noFill/>
        </p:spPr>
        <p:txBody>
          <a:bodyPr wrap="square">
            <a:spAutoFit/>
          </a:bodyPr>
          <a:lstStyle/>
          <a:p>
            <a:pPr algn="l"/>
            <a:r>
              <a:rPr sz="850" b="0" i="0">
                <a:solidFill>
                  <a:srgbClr val="7DD3FC"/>
                </a:solidFill>
                <a:latin typeface="Courier New"/>
              </a:rPr>
              <a:t># Grid: 8x8 = 64 patches
patch_h = 224 // self.grid_size
patch_w = 224 // self.grid_size
# Baseline model confidence
baseline_prob = softmax(
  model(input))[target_class]
# Systematically occlude each patch
for i in range(self.grid_size):
  for j in range(self.grid_size):
    masked = input.clone()
    r0 = i * patch_h
    r1 = (i+1) * patch_h
    c0 = j * patch_w
    c1 = (j+1) * patch_w
    # Zero out the patch
    masked[:,:,r0:r1,c0:c1] = 0.0
    prob = softmax(
      model(masked))[target]
    # Shapley importance score
    importance = max(
      0.0, baseline_prob - prob)
    heatmap[r0:r1,c0:c1] = importance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00C4CC"/>
                </a:solidFill>
                <a:latin typeface="Calibri"/>
              </a:rPr>
              <a:t>07D</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XAI Comparison &amp; LLM-Powered Explanation Pipeline</a:t>
            </a:r>
          </a:p>
        </p:txBody>
      </p:sp>
      <p:sp>
        <p:nvSpPr>
          <p:cNvPr id="5" name="Rectangle 4"/>
          <p:cNvSpPr/>
          <p:nvPr/>
        </p:nvSpPr>
        <p:spPr>
          <a:xfrm>
            <a:off x="274320" y="1161288"/>
            <a:ext cx="438912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1280160"/>
            <a:ext cx="10972800" cy="320040"/>
          </a:xfrm>
          <a:prstGeom prst="rect">
            <a:avLst/>
          </a:prstGeom>
          <a:noFill/>
        </p:spPr>
        <p:txBody>
          <a:bodyPr wrap="square">
            <a:spAutoFit/>
          </a:bodyPr>
          <a:lstStyle/>
          <a:p>
            <a:pPr algn="l"/>
            <a:r>
              <a:rPr sz="1200" b="0" i="1">
                <a:solidFill>
                  <a:srgbClr val="8B95A7"/>
                </a:solidFill>
                <a:latin typeface="Calibri"/>
              </a:rPr>
              <a:t>Three complementary techniques + Groq LLM → complete explainability coverage</a:t>
            </a:r>
          </a:p>
        </p:txBody>
      </p:sp>
      <p:sp>
        <p:nvSpPr>
          <p:cNvPr id="7" name="TextBox 6"/>
          <p:cNvSpPr txBox="1"/>
          <p:nvPr/>
        </p:nvSpPr>
        <p:spPr>
          <a:xfrm>
            <a:off x="274320" y="1508760"/>
            <a:ext cx="11612880" cy="365760"/>
          </a:xfrm>
          <a:prstGeom prst="rect">
            <a:avLst/>
          </a:prstGeom>
          <a:noFill/>
        </p:spPr>
        <p:txBody>
          <a:bodyPr wrap="square">
            <a:spAutoFit/>
          </a:bodyPr>
          <a:lstStyle/>
          <a:p>
            <a:pPr algn="l"/>
            <a:r>
              <a:rPr sz="1400" b="1" i="0">
                <a:solidFill>
                  <a:srgbClr val="F0F4F8"/>
                </a:solidFill>
                <a:latin typeface="Calibri"/>
              </a:rPr>
              <a:t>Technique Comparison</a:t>
            </a:r>
          </a:p>
        </p:txBody>
      </p:sp>
      <p:sp>
        <p:nvSpPr>
          <p:cNvPr id="8" name="Rectangle 7"/>
          <p:cNvSpPr/>
          <p:nvPr/>
        </p:nvSpPr>
        <p:spPr>
          <a:xfrm>
            <a:off x="274320" y="1920240"/>
            <a:ext cx="2377440" cy="384048"/>
          </a:xfrm>
          <a:prstGeom prst="rect">
            <a:avLst/>
          </a:prstGeom>
          <a:solidFill>
            <a:srgbClr val="1E27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920240"/>
            <a:ext cx="2377440" cy="384048"/>
          </a:xfrm>
          <a:prstGeom prst="rect">
            <a:avLst/>
          </a:prstGeom>
          <a:noFill/>
        </p:spPr>
        <p:txBody>
          <a:bodyPr wrap="square">
            <a:spAutoFit/>
          </a:bodyPr>
          <a:lstStyle/>
          <a:p>
            <a:pPr algn="ctr"/>
            <a:r>
              <a:rPr sz="1100" b="1" i="0">
                <a:solidFill>
                  <a:srgbClr val="F0F4F8"/>
                </a:solidFill>
                <a:latin typeface="Calibri"/>
              </a:rPr>
              <a:t>Criterion</a:t>
            </a:r>
          </a:p>
        </p:txBody>
      </p:sp>
      <p:sp>
        <p:nvSpPr>
          <p:cNvPr id="10" name="Rectangle 9"/>
          <p:cNvSpPr/>
          <p:nvPr/>
        </p:nvSpPr>
        <p:spPr>
          <a:xfrm>
            <a:off x="2743200" y="1920240"/>
            <a:ext cx="2606040" cy="384048"/>
          </a:xfrm>
          <a:prstGeom prst="rect">
            <a:avLst/>
          </a:prstGeom>
          <a:solidFill>
            <a:srgbClr val="1E27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1920240"/>
            <a:ext cx="2606040" cy="384048"/>
          </a:xfrm>
          <a:prstGeom prst="rect">
            <a:avLst/>
          </a:prstGeom>
          <a:noFill/>
        </p:spPr>
        <p:txBody>
          <a:bodyPr wrap="square">
            <a:spAutoFit/>
          </a:bodyPr>
          <a:lstStyle/>
          <a:p>
            <a:pPr algn="ctr"/>
            <a:r>
              <a:rPr sz="1100" b="1" i="0">
                <a:solidFill>
                  <a:srgbClr val="00E67A"/>
                </a:solidFill>
                <a:latin typeface="Calibri"/>
              </a:rPr>
              <a:t>Grad-CAM 🟢</a:t>
            </a:r>
          </a:p>
        </p:txBody>
      </p:sp>
      <p:sp>
        <p:nvSpPr>
          <p:cNvPr id="12" name="Rectangle 11"/>
          <p:cNvSpPr/>
          <p:nvPr/>
        </p:nvSpPr>
        <p:spPr>
          <a:xfrm>
            <a:off x="5440680" y="1920240"/>
            <a:ext cx="2834640" cy="384048"/>
          </a:xfrm>
          <a:prstGeom prst="rect">
            <a:avLst/>
          </a:prstGeom>
          <a:solidFill>
            <a:srgbClr val="1E27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0" y="1920240"/>
            <a:ext cx="2834640" cy="384048"/>
          </a:xfrm>
          <a:prstGeom prst="rect">
            <a:avLst/>
          </a:prstGeom>
          <a:noFill/>
        </p:spPr>
        <p:txBody>
          <a:bodyPr wrap="square">
            <a:spAutoFit/>
          </a:bodyPr>
          <a:lstStyle/>
          <a:p>
            <a:pPr algn="ctr"/>
            <a:r>
              <a:rPr sz="1100" b="1" i="0">
                <a:solidFill>
                  <a:srgbClr val="8B5CF6"/>
                </a:solidFill>
                <a:latin typeface="Calibri"/>
              </a:rPr>
              <a:t>Integrated Gradients 🟣</a:t>
            </a:r>
          </a:p>
        </p:txBody>
      </p:sp>
      <p:sp>
        <p:nvSpPr>
          <p:cNvPr id="14" name="Rectangle 13"/>
          <p:cNvSpPr/>
          <p:nvPr/>
        </p:nvSpPr>
        <p:spPr>
          <a:xfrm>
            <a:off x="8366760" y="1920240"/>
            <a:ext cx="3520440" cy="384048"/>
          </a:xfrm>
          <a:prstGeom prst="rect">
            <a:avLst/>
          </a:prstGeom>
          <a:solidFill>
            <a:srgbClr val="1E27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920240"/>
            <a:ext cx="3520440" cy="384048"/>
          </a:xfrm>
          <a:prstGeom prst="rect">
            <a:avLst/>
          </a:prstGeom>
          <a:noFill/>
        </p:spPr>
        <p:txBody>
          <a:bodyPr wrap="square">
            <a:spAutoFit/>
          </a:bodyPr>
          <a:lstStyle/>
          <a:p>
            <a:pPr algn="ctr"/>
            <a:r>
              <a:rPr sz="1100" b="1" i="0">
                <a:solidFill>
                  <a:srgbClr val="F59E0B"/>
                </a:solidFill>
                <a:latin typeface="Calibri"/>
              </a:rPr>
              <a:t>SHAP Patch 🟠</a:t>
            </a:r>
          </a:p>
        </p:txBody>
      </p:sp>
      <p:sp>
        <p:nvSpPr>
          <p:cNvPr id="16" name="Rectangle 15"/>
          <p:cNvSpPr/>
          <p:nvPr/>
        </p:nvSpPr>
        <p:spPr>
          <a:xfrm>
            <a:off x="274320" y="2359152"/>
            <a:ext cx="23774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2404872"/>
            <a:ext cx="2286000" cy="347472"/>
          </a:xfrm>
          <a:prstGeom prst="rect">
            <a:avLst/>
          </a:prstGeom>
          <a:noFill/>
        </p:spPr>
        <p:txBody>
          <a:bodyPr wrap="square">
            <a:spAutoFit/>
          </a:bodyPr>
          <a:lstStyle/>
          <a:p>
            <a:pPr algn="l"/>
            <a:r>
              <a:rPr sz="1000" b="1" i="0">
                <a:solidFill>
                  <a:srgbClr val="8B95A7"/>
                </a:solidFill>
                <a:latin typeface="Calibri"/>
              </a:rPr>
              <a:t>Resolution</a:t>
            </a:r>
          </a:p>
        </p:txBody>
      </p:sp>
      <p:sp>
        <p:nvSpPr>
          <p:cNvPr id="18" name="Rectangle 17"/>
          <p:cNvSpPr/>
          <p:nvPr/>
        </p:nvSpPr>
        <p:spPr>
          <a:xfrm>
            <a:off x="2743200" y="2359152"/>
            <a:ext cx="26060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788920" y="2404872"/>
            <a:ext cx="2514600" cy="347472"/>
          </a:xfrm>
          <a:prstGeom prst="rect">
            <a:avLst/>
          </a:prstGeom>
          <a:noFill/>
        </p:spPr>
        <p:txBody>
          <a:bodyPr wrap="square">
            <a:spAutoFit/>
          </a:bodyPr>
          <a:lstStyle/>
          <a:p>
            <a:pPr algn="l"/>
            <a:r>
              <a:rPr sz="1000" b="0" i="0">
                <a:solidFill>
                  <a:srgbClr val="00E67A"/>
                </a:solidFill>
                <a:latin typeface="Calibri"/>
              </a:rPr>
              <a:t>Coarse (7×7→224×224)</a:t>
            </a:r>
          </a:p>
        </p:txBody>
      </p:sp>
      <p:sp>
        <p:nvSpPr>
          <p:cNvPr id="20" name="Rectangle 19"/>
          <p:cNvSpPr/>
          <p:nvPr/>
        </p:nvSpPr>
        <p:spPr>
          <a:xfrm>
            <a:off x="5440680" y="2359152"/>
            <a:ext cx="28346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0" y="2404872"/>
            <a:ext cx="2743200" cy="347472"/>
          </a:xfrm>
          <a:prstGeom prst="rect">
            <a:avLst/>
          </a:prstGeom>
          <a:noFill/>
        </p:spPr>
        <p:txBody>
          <a:bodyPr wrap="square">
            <a:spAutoFit/>
          </a:bodyPr>
          <a:lstStyle/>
          <a:p>
            <a:pPr algn="l"/>
            <a:r>
              <a:rPr sz="1000" b="0" i="0">
                <a:solidFill>
                  <a:srgbClr val="8B5CF6"/>
                </a:solidFill>
                <a:latin typeface="Calibri"/>
              </a:rPr>
              <a:t>Fine-grained (per pixel)</a:t>
            </a:r>
          </a:p>
        </p:txBody>
      </p:sp>
      <p:sp>
        <p:nvSpPr>
          <p:cNvPr id="22" name="Rectangle 21"/>
          <p:cNvSpPr/>
          <p:nvPr/>
        </p:nvSpPr>
        <p:spPr>
          <a:xfrm>
            <a:off x="8366760" y="2359152"/>
            <a:ext cx="35204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12480" y="2404872"/>
            <a:ext cx="3429000" cy="347472"/>
          </a:xfrm>
          <a:prstGeom prst="rect">
            <a:avLst/>
          </a:prstGeom>
          <a:noFill/>
        </p:spPr>
        <p:txBody>
          <a:bodyPr wrap="square">
            <a:spAutoFit/>
          </a:bodyPr>
          <a:lstStyle/>
          <a:p>
            <a:pPr algn="l"/>
            <a:r>
              <a:rPr sz="1000" b="0" i="0">
                <a:solidFill>
                  <a:srgbClr val="F59E0B"/>
                </a:solidFill>
                <a:latin typeface="Calibri"/>
              </a:rPr>
              <a:t>Medium (28×28 patches)</a:t>
            </a:r>
          </a:p>
        </p:txBody>
      </p:sp>
      <p:sp>
        <p:nvSpPr>
          <p:cNvPr id="24" name="Rectangle 23"/>
          <p:cNvSpPr/>
          <p:nvPr/>
        </p:nvSpPr>
        <p:spPr>
          <a:xfrm>
            <a:off x="274320" y="2798064"/>
            <a:ext cx="23774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2843784"/>
            <a:ext cx="2286000" cy="347472"/>
          </a:xfrm>
          <a:prstGeom prst="rect">
            <a:avLst/>
          </a:prstGeom>
          <a:noFill/>
        </p:spPr>
        <p:txBody>
          <a:bodyPr wrap="square">
            <a:spAutoFit/>
          </a:bodyPr>
          <a:lstStyle/>
          <a:p>
            <a:pPr algn="l"/>
            <a:r>
              <a:rPr sz="1000" b="1" i="0">
                <a:solidFill>
                  <a:srgbClr val="8B95A7"/>
                </a:solidFill>
                <a:latin typeface="Calibri"/>
              </a:rPr>
              <a:t>Speed</a:t>
            </a:r>
          </a:p>
        </p:txBody>
      </p:sp>
      <p:sp>
        <p:nvSpPr>
          <p:cNvPr id="26" name="Rectangle 25"/>
          <p:cNvSpPr/>
          <p:nvPr/>
        </p:nvSpPr>
        <p:spPr>
          <a:xfrm>
            <a:off x="2743200" y="2798064"/>
            <a:ext cx="26060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88920" y="2843784"/>
            <a:ext cx="2514600" cy="347472"/>
          </a:xfrm>
          <a:prstGeom prst="rect">
            <a:avLst/>
          </a:prstGeom>
          <a:noFill/>
        </p:spPr>
        <p:txBody>
          <a:bodyPr wrap="square">
            <a:spAutoFit/>
          </a:bodyPr>
          <a:lstStyle/>
          <a:p>
            <a:pPr algn="l"/>
            <a:r>
              <a:rPr sz="1000" b="0" i="0">
                <a:solidFill>
                  <a:srgbClr val="00E67A"/>
                </a:solidFill>
                <a:latin typeface="Calibri"/>
              </a:rPr>
              <a:t>&lt; 5ms (fastest)</a:t>
            </a:r>
          </a:p>
        </p:txBody>
      </p:sp>
      <p:sp>
        <p:nvSpPr>
          <p:cNvPr id="28" name="Rectangle 27"/>
          <p:cNvSpPr/>
          <p:nvPr/>
        </p:nvSpPr>
        <p:spPr>
          <a:xfrm>
            <a:off x="5440680" y="2798064"/>
            <a:ext cx="28346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0" y="2843784"/>
            <a:ext cx="2743200" cy="347472"/>
          </a:xfrm>
          <a:prstGeom prst="rect">
            <a:avLst/>
          </a:prstGeom>
          <a:noFill/>
        </p:spPr>
        <p:txBody>
          <a:bodyPr wrap="square">
            <a:spAutoFit/>
          </a:bodyPr>
          <a:lstStyle/>
          <a:p>
            <a:pPr algn="l"/>
            <a:r>
              <a:rPr sz="1000" b="0" i="0">
                <a:solidFill>
                  <a:srgbClr val="8B5CF6"/>
                </a:solidFill>
                <a:latin typeface="Calibri"/>
              </a:rPr>
              <a:t>~200ms (20 steps)</a:t>
            </a:r>
          </a:p>
        </p:txBody>
      </p:sp>
      <p:sp>
        <p:nvSpPr>
          <p:cNvPr id="30" name="Rectangle 29"/>
          <p:cNvSpPr/>
          <p:nvPr/>
        </p:nvSpPr>
        <p:spPr>
          <a:xfrm>
            <a:off x="8366760" y="2798064"/>
            <a:ext cx="35204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2843784"/>
            <a:ext cx="3429000" cy="347472"/>
          </a:xfrm>
          <a:prstGeom prst="rect">
            <a:avLst/>
          </a:prstGeom>
          <a:noFill/>
        </p:spPr>
        <p:txBody>
          <a:bodyPr wrap="square">
            <a:spAutoFit/>
          </a:bodyPr>
          <a:lstStyle/>
          <a:p>
            <a:pPr algn="l"/>
            <a:r>
              <a:rPr sz="1000" b="0" i="0">
                <a:solidFill>
                  <a:srgbClr val="F59E0B"/>
                </a:solidFill>
                <a:latin typeface="Calibri"/>
              </a:rPr>
              <a:t>~300ms (64 passes)</a:t>
            </a:r>
          </a:p>
        </p:txBody>
      </p:sp>
      <p:sp>
        <p:nvSpPr>
          <p:cNvPr id="32" name="Rectangle 31"/>
          <p:cNvSpPr/>
          <p:nvPr/>
        </p:nvSpPr>
        <p:spPr>
          <a:xfrm>
            <a:off x="274320" y="3236976"/>
            <a:ext cx="23774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20040" y="3282696"/>
            <a:ext cx="2286000" cy="347472"/>
          </a:xfrm>
          <a:prstGeom prst="rect">
            <a:avLst/>
          </a:prstGeom>
          <a:noFill/>
        </p:spPr>
        <p:txBody>
          <a:bodyPr wrap="square">
            <a:spAutoFit/>
          </a:bodyPr>
          <a:lstStyle/>
          <a:p>
            <a:pPr algn="l"/>
            <a:r>
              <a:rPr sz="1000" b="1" i="0">
                <a:solidFill>
                  <a:srgbClr val="8B95A7"/>
                </a:solidFill>
                <a:latin typeface="Calibri"/>
              </a:rPr>
              <a:t>Theory Basis</a:t>
            </a:r>
          </a:p>
        </p:txBody>
      </p:sp>
      <p:sp>
        <p:nvSpPr>
          <p:cNvPr id="34" name="Rectangle 33"/>
          <p:cNvSpPr/>
          <p:nvPr/>
        </p:nvSpPr>
        <p:spPr>
          <a:xfrm>
            <a:off x="2743200" y="3236976"/>
            <a:ext cx="26060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88920" y="3282696"/>
            <a:ext cx="2514600" cy="347472"/>
          </a:xfrm>
          <a:prstGeom prst="rect">
            <a:avLst/>
          </a:prstGeom>
          <a:noFill/>
        </p:spPr>
        <p:txBody>
          <a:bodyPr wrap="square">
            <a:spAutoFit/>
          </a:bodyPr>
          <a:lstStyle/>
          <a:p>
            <a:pPr algn="l"/>
            <a:r>
              <a:rPr sz="1000" b="0" i="0">
                <a:solidFill>
                  <a:srgbClr val="00E67A"/>
                </a:solidFill>
                <a:latin typeface="Calibri"/>
              </a:rPr>
              <a:t>Gradient × Activation</a:t>
            </a:r>
          </a:p>
        </p:txBody>
      </p:sp>
      <p:sp>
        <p:nvSpPr>
          <p:cNvPr id="36" name="Rectangle 35"/>
          <p:cNvSpPr/>
          <p:nvPr/>
        </p:nvSpPr>
        <p:spPr>
          <a:xfrm>
            <a:off x="5440680" y="3236976"/>
            <a:ext cx="28346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0" y="3282696"/>
            <a:ext cx="2743200" cy="347472"/>
          </a:xfrm>
          <a:prstGeom prst="rect">
            <a:avLst/>
          </a:prstGeom>
          <a:noFill/>
        </p:spPr>
        <p:txBody>
          <a:bodyPr wrap="square">
            <a:spAutoFit/>
          </a:bodyPr>
          <a:lstStyle/>
          <a:p>
            <a:pPr algn="l"/>
            <a:r>
              <a:rPr sz="1000" b="0" i="0">
                <a:solidFill>
                  <a:srgbClr val="8B5CF6"/>
                </a:solidFill>
                <a:latin typeface="Calibri"/>
              </a:rPr>
              <a:t>Path Integral of Gradients</a:t>
            </a:r>
          </a:p>
        </p:txBody>
      </p:sp>
      <p:sp>
        <p:nvSpPr>
          <p:cNvPr id="38" name="Rectangle 37"/>
          <p:cNvSpPr/>
          <p:nvPr/>
        </p:nvSpPr>
        <p:spPr>
          <a:xfrm>
            <a:off x="8366760" y="3236976"/>
            <a:ext cx="35204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12480" y="3282696"/>
            <a:ext cx="3429000" cy="347472"/>
          </a:xfrm>
          <a:prstGeom prst="rect">
            <a:avLst/>
          </a:prstGeom>
          <a:noFill/>
        </p:spPr>
        <p:txBody>
          <a:bodyPr wrap="square">
            <a:spAutoFit/>
          </a:bodyPr>
          <a:lstStyle/>
          <a:p>
            <a:pPr algn="l"/>
            <a:r>
              <a:rPr sz="1000" b="0" i="0">
                <a:solidFill>
                  <a:srgbClr val="F59E0B"/>
                </a:solidFill>
                <a:latin typeface="Calibri"/>
              </a:rPr>
              <a:t>Game Theory (Shapley)</a:t>
            </a:r>
          </a:p>
        </p:txBody>
      </p:sp>
      <p:sp>
        <p:nvSpPr>
          <p:cNvPr id="40" name="Rectangle 39"/>
          <p:cNvSpPr/>
          <p:nvPr/>
        </p:nvSpPr>
        <p:spPr>
          <a:xfrm>
            <a:off x="274320" y="3675888"/>
            <a:ext cx="23774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040" y="3721608"/>
            <a:ext cx="2286000" cy="347472"/>
          </a:xfrm>
          <a:prstGeom prst="rect">
            <a:avLst/>
          </a:prstGeom>
          <a:noFill/>
        </p:spPr>
        <p:txBody>
          <a:bodyPr wrap="square">
            <a:spAutoFit/>
          </a:bodyPr>
          <a:lstStyle/>
          <a:p>
            <a:pPr algn="l"/>
            <a:r>
              <a:rPr sz="1000" b="1" i="0">
                <a:solidFill>
                  <a:srgbClr val="8B95A7"/>
                </a:solidFill>
                <a:latin typeface="Calibri"/>
              </a:rPr>
              <a:t>Layer Dependency</a:t>
            </a:r>
          </a:p>
        </p:txBody>
      </p:sp>
      <p:sp>
        <p:nvSpPr>
          <p:cNvPr id="42" name="Rectangle 41"/>
          <p:cNvSpPr/>
          <p:nvPr/>
        </p:nvSpPr>
        <p:spPr>
          <a:xfrm>
            <a:off x="2743200" y="3675888"/>
            <a:ext cx="26060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788920" y="3721608"/>
            <a:ext cx="2514600" cy="347472"/>
          </a:xfrm>
          <a:prstGeom prst="rect">
            <a:avLst/>
          </a:prstGeom>
          <a:noFill/>
        </p:spPr>
        <p:txBody>
          <a:bodyPr wrap="square">
            <a:spAutoFit/>
          </a:bodyPr>
          <a:lstStyle/>
          <a:p>
            <a:pPr algn="l"/>
            <a:r>
              <a:rPr sz="1000" b="0" i="0">
                <a:solidFill>
                  <a:srgbClr val="00E67A"/>
                </a:solidFill>
                <a:latin typeface="Calibri"/>
              </a:rPr>
              <a:t>Needs target conv layer</a:t>
            </a:r>
          </a:p>
        </p:txBody>
      </p:sp>
      <p:sp>
        <p:nvSpPr>
          <p:cNvPr id="44" name="Rectangle 43"/>
          <p:cNvSpPr/>
          <p:nvPr/>
        </p:nvSpPr>
        <p:spPr>
          <a:xfrm>
            <a:off x="5440680" y="3675888"/>
            <a:ext cx="28346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486400" y="3721608"/>
            <a:ext cx="2743200" cy="347472"/>
          </a:xfrm>
          <a:prstGeom prst="rect">
            <a:avLst/>
          </a:prstGeom>
          <a:noFill/>
        </p:spPr>
        <p:txBody>
          <a:bodyPr wrap="square">
            <a:spAutoFit/>
          </a:bodyPr>
          <a:lstStyle/>
          <a:p>
            <a:pPr algn="l"/>
            <a:r>
              <a:rPr sz="1000" b="0" i="0">
                <a:solidFill>
                  <a:srgbClr val="8B5CF6"/>
                </a:solidFill>
                <a:latin typeface="Calibri"/>
              </a:rPr>
              <a:t>No layer needed</a:t>
            </a:r>
          </a:p>
        </p:txBody>
      </p:sp>
      <p:sp>
        <p:nvSpPr>
          <p:cNvPr id="46" name="Rectangle 45"/>
          <p:cNvSpPr/>
          <p:nvPr/>
        </p:nvSpPr>
        <p:spPr>
          <a:xfrm>
            <a:off x="8366760" y="3675888"/>
            <a:ext cx="35204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12480" y="3721608"/>
            <a:ext cx="3429000" cy="347472"/>
          </a:xfrm>
          <a:prstGeom prst="rect">
            <a:avLst/>
          </a:prstGeom>
          <a:noFill/>
        </p:spPr>
        <p:txBody>
          <a:bodyPr wrap="square">
            <a:spAutoFit/>
          </a:bodyPr>
          <a:lstStyle/>
          <a:p>
            <a:pPr algn="l"/>
            <a:r>
              <a:rPr sz="1000" b="0" i="0">
                <a:solidFill>
                  <a:srgbClr val="F59E0B"/>
                </a:solidFill>
                <a:latin typeface="Calibri"/>
              </a:rPr>
              <a:t>Model-agnostic</a:t>
            </a:r>
          </a:p>
        </p:txBody>
      </p:sp>
      <p:sp>
        <p:nvSpPr>
          <p:cNvPr id="48" name="Rectangle 47"/>
          <p:cNvSpPr/>
          <p:nvPr/>
        </p:nvSpPr>
        <p:spPr>
          <a:xfrm>
            <a:off x="274320" y="4114800"/>
            <a:ext cx="23774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20040" y="4160520"/>
            <a:ext cx="2286000" cy="347472"/>
          </a:xfrm>
          <a:prstGeom prst="rect">
            <a:avLst/>
          </a:prstGeom>
          <a:noFill/>
        </p:spPr>
        <p:txBody>
          <a:bodyPr wrap="square">
            <a:spAutoFit/>
          </a:bodyPr>
          <a:lstStyle/>
          <a:p>
            <a:pPr algn="l"/>
            <a:r>
              <a:rPr sz="1000" b="1" i="0">
                <a:solidFill>
                  <a:srgbClr val="8B95A7"/>
                </a:solidFill>
                <a:latin typeface="Calibri"/>
              </a:rPr>
              <a:t>Axiom Guarantee</a:t>
            </a:r>
          </a:p>
        </p:txBody>
      </p:sp>
      <p:sp>
        <p:nvSpPr>
          <p:cNvPr id="50" name="Rectangle 49"/>
          <p:cNvSpPr/>
          <p:nvPr/>
        </p:nvSpPr>
        <p:spPr>
          <a:xfrm>
            <a:off x="2743200" y="4114800"/>
            <a:ext cx="26060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88920" y="4160520"/>
            <a:ext cx="2514600" cy="347472"/>
          </a:xfrm>
          <a:prstGeom prst="rect">
            <a:avLst/>
          </a:prstGeom>
          <a:noFill/>
        </p:spPr>
        <p:txBody>
          <a:bodyPr wrap="square">
            <a:spAutoFit/>
          </a:bodyPr>
          <a:lstStyle/>
          <a:p>
            <a:pPr algn="l"/>
            <a:r>
              <a:rPr sz="1000" b="0" i="0">
                <a:solidFill>
                  <a:srgbClr val="00E67A"/>
                </a:solidFill>
                <a:latin typeface="Calibri"/>
              </a:rPr>
              <a:t>None</a:t>
            </a:r>
          </a:p>
        </p:txBody>
      </p:sp>
      <p:sp>
        <p:nvSpPr>
          <p:cNvPr id="52" name="Rectangle 51"/>
          <p:cNvSpPr/>
          <p:nvPr/>
        </p:nvSpPr>
        <p:spPr>
          <a:xfrm>
            <a:off x="5440680" y="4114800"/>
            <a:ext cx="28346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0" y="4160520"/>
            <a:ext cx="2743200" cy="347472"/>
          </a:xfrm>
          <a:prstGeom prst="rect">
            <a:avLst/>
          </a:prstGeom>
          <a:noFill/>
        </p:spPr>
        <p:txBody>
          <a:bodyPr wrap="square">
            <a:spAutoFit/>
          </a:bodyPr>
          <a:lstStyle/>
          <a:p>
            <a:pPr algn="l"/>
            <a:r>
              <a:rPr sz="1000" b="0" i="0">
                <a:solidFill>
                  <a:srgbClr val="8B5CF6"/>
                </a:solidFill>
                <a:latin typeface="Calibri"/>
              </a:rPr>
              <a:t>Completeness axiom ✓</a:t>
            </a:r>
          </a:p>
        </p:txBody>
      </p:sp>
      <p:sp>
        <p:nvSpPr>
          <p:cNvPr id="54" name="Rectangle 53"/>
          <p:cNvSpPr/>
          <p:nvPr/>
        </p:nvSpPr>
        <p:spPr>
          <a:xfrm>
            <a:off x="8366760" y="4114800"/>
            <a:ext cx="35204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12480" y="4160520"/>
            <a:ext cx="3429000" cy="347472"/>
          </a:xfrm>
          <a:prstGeom prst="rect">
            <a:avLst/>
          </a:prstGeom>
          <a:noFill/>
        </p:spPr>
        <p:txBody>
          <a:bodyPr wrap="square">
            <a:spAutoFit/>
          </a:bodyPr>
          <a:lstStyle/>
          <a:p>
            <a:pPr algn="l"/>
            <a:r>
              <a:rPr sz="1000" b="0" i="0">
                <a:solidFill>
                  <a:srgbClr val="F59E0B"/>
                </a:solidFill>
                <a:latin typeface="Calibri"/>
              </a:rPr>
              <a:t>Fairness axiom ✓</a:t>
            </a:r>
          </a:p>
        </p:txBody>
      </p:sp>
      <p:sp>
        <p:nvSpPr>
          <p:cNvPr id="56" name="Rectangle 55"/>
          <p:cNvSpPr/>
          <p:nvPr/>
        </p:nvSpPr>
        <p:spPr>
          <a:xfrm>
            <a:off x="274320" y="4553712"/>
            <a:ext cx="23774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20040" y="4599432"/>
            <a:ext cx="2286000" cy="347472"/>
          </a:xfrm>
          <a:prstGeom prst="rect">
            <a:avLst/>
          </a:prstGeom>
          <a:noFill/>
        </p:spPr>
        <p:txBody>
          <a:bodyPr wrap="square">
            <a:spAutoFit/>
          </a:bodyPr>
          <a:lstStyle/>
          <a:p>
            <a:pPr algn="l"/>
            <a:r>
              <a:rPr sz="1000" b="1" i="0">
                <a:solidFill>
                  <a:srgbClr val="8B95A7"/>
                </a:solidFill>
                <a:latin typeface="Calibri"/>
              </a:rPr>
              <a:t>Best For</a:t>
            </a:r>
          </a:p>
        </p:txBody>
      </p:sp>
      <p:sp>
        <p:nvSpPr>
          <p:cNvPr id="58" name="Rectangle 57"/>
          <p:cNvSpPr/>
          <p:nvPr/>
        </p:nvSpPr>
        <p:spPr>
          <a:xfrm>
            <a:off x="2743200" y="4553712"/>
            <a:ext cx="26060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788920" y="4599432"/>
            <a:ext cx="2514600" cy="347472"/>
          </a:xfrm>
          <a:prstGeom prst="rect">
            <a:avLst/>
          </a:prstGeom>
          <a:noFill/>
        </p:spPr>
        <p:txBody>
          <a:bodyPr wrap="square">
            <a:spAutoFit/>
          </a:bodyPr>
          <a:lstStyle/>
          <a:p>
            <a:pPr algn="l"/>
            <a:r>
              <a:rPr sz="1000" b="0" i="0">
                <a:solidFill>
                  <a:srgbClr val="00E67A"/>
                </a:solidFill>
                <a:latin typeface="Calibri"/>
              </a:rPr>
              <a:t>Quick region detection</a:t>
            </a:r>
          </a:p>
        </p:txBody>
      </p:sp>
      <p:sp>
        <p:nvSpPr>
          <p:cNvPr id="60" name="Rectangle 59"/>
          <p:cNvSpPr/>
          <p:nvPr/>
        </p:nvSpPr>
        <p:spPr>
          <a:xfrm>
            <a:off x="5440680" y="4553712"/>
            <a:ext cx="28346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86400" y="4599432"/>
            <a:ext cx="2743200" cy="347472"/>
          </a:xfrm>
          <a:prstGeom prst="rect">
            <a:avLst/>
          </a:prstGeom>
          <a:noFill/>
        </p:spPr>
        <p:txBody>
          <a:bodyPr wrap="square">
            <a:spAutoFit/>
          </a:bodyPr>
          <a:lstStyle/>
          <a:p>
            <a:pPr algn="l"/>
            <a:r>
              <a:rPr sz="1000" b="0" i="0">
                <a:solidFill>
                  <a:srgbClr val="8B5CF6"/>
                </a:solidFill>
                <a:latin typeface="Calibri"/>
              </a:rPr>
              <a:t>Pixel-level texture/color</a:t>
            </a:r>
          </a:p>
        </p:txBody>
      </p:sp>
      <p:sp>
        <p:nvSpPr>
          <p:cNvPr id="62" name="Rectangle 61"/>
          <p:cNvSpPr/>
          <p:nvPr/>
        </p:nvSpPr>
        <p:spPr>
          <a:xfrm>
            <a:off x="8366760" y="4553712"/>
            <a:ext cx="3520440" cy="420624"/>
          </a:xfrm>
          <a:prstGeom prst="rect">
            <a:avLst/>
          </a:prstGeom>
          <a:solidFill>
            <a:srgbClr val="121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12480" y="4599432"/>
            <a:ext cx="3429000" cy="347472"/>
          </a:xfrm>
          <a:prstGeom prst="rect">
            <a:avLst/>
          </a:prstGeom>
          <a:noFill/>
        </p:spPr>
        <p:txBody>
          <a:bodyPr wrap="square">
            <a:spAutoFit/>
          </a:bodyPr>
          <a:lstStyle/>
          <a:p>
            <a:pPr algn="l"/>
            <a:r>
              <a:rPr sz="1000" b="0" i="0">
                <a:solidFill>
                  <a:srgbClr val="F59E0B"/>
                </a:solidFill>
                <a:latin typeface="Calibri"/>
              </a:rPr>
              <a:t>Critical patch ranking</a:t>
            </a:r>
          </a:p>
        </p:txBody>
      </p:sp>
      <p:sp>
        <p:nvSpPr>
          <p:cNvPr id="64" name="Rectangle 63"/>
          <p:cNvSpPr/>
          <p:nvPr/>
        </p:nvSpPr>
        <p:spPr>
          <a:xfrm>
            <a:off x="274320" y="4992624"/>
            <a:ext cx="23774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20040" y="5038344"/>
            <a:ext cx="2286000" cy="347472"/>
          </a:xfrm>
          <a:prstGeom prst="rect">
            <a:avLst/>
          </a:prstGeom>
          <a:noFill/>
        </p:spPr>
        <p:txBody>
          <a:bodyPr wrap="square">
            <a:spAutoFit/>
          </a:bodyPr>
          <a:lstStyle/>
          <a:p>
            <a:pPr algn="l"/>
            <a:r>
              <a:rPr sz="1000" b="1" i="0">
                <a:solidFill>
                  <a:srgbClr val="8B95A7"/>
                </a:solidFill>
                <a:latin typeface="Calibri"/>
              </a:rPr>
              <a:t>Plant Disease Use</a:t>
            </a:r>
          </a:p>
        </p:txBody>
      </p:sp>
      <p:sp>
        <p:nvSpPr>
          <p:cNvPr id="66" name="Rectangle 65"/>
          <p:cNvSpPr/>
          <p:nvPr/>
        </p:nvSpPr>
        <p:spPr>
          <a:xfrm>
            <a:off x="2743200" y="4992624"/>
            <a:ext cx="26060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788920" y="5038344"/>
            <a:ext cx="2514600" cy="347472"/>
          </a:xfrm>
          <a:prstGeom prst="rect">
            <a:avLst/>
          </a:prstGeom>
          <a:noFill/>
        </p:spPr>
        <p:txBody>
          <a:bodyPr wrap="square">
            <a:spAutoFit/>
          </a:bodyPr>
          <a:lstStyle/>
          <a:p>
            <a:pPr algn="l"/>
            <a:r>
              <a:rPr sz="1000" b="0" i="0">
                <a:solidFill>
                  <a:srgbClr val="00E67A"/>
                </a:solidFill>
                <a:latin typeface="Calibri"/>
              </a:rPr>
              <a:t>Lesion localization</a:t>
            </a:r>
          </a:p>
        </p:txBody>
      </p:sp>
      <p:sp>
        <p:nvSpPr>
          <p:cNvPr id="68" name="Rectangle 67"/>
          <p:cNvSpPr/>
          <p:nvPr/>
        </p:nvSpPr>
        <p:spPr>
          <a:xfrm>
            <a:off x="5440680" y="4992624"/>
            <a:ext cx="28346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486400" y="5038344"/>
            <a:ext cx="2743200" cy="347472"/>
          </a:xfrm>
          <a:prstGeom prst="rect">
            <a:avLst/>
          </a:prstGeom>
          <a:noFill/>
        </p:spPr>
        <p:txBody>
          <a:bodyPr wrap="square">
            <a:spAutoFit/>
          </a:bodyPr>
          <a:lstStyle/>
          <a:p>
            <a:pPr algn="l"/>
            <a:r>
              <a:rPr sz="1000" b="0" i="0">
                <a:solidFill>
                  <a:srgbClr val="8B5CF6"/>
                </a:solidFill>
                <a:latin typeface="Calibri"/>
              </a:rPr>
              <a:t>Chlorotic halo patterns</a:t>
            </a:r>
          </a:p>
        </p:txBody>
      </p:sp>
      <p:sp>
        <p:nvSpPr>
          <p:cNvPr id="70" name="Rectangle 69"/>
          <p:cNvSpPr/>
          <p:nvPr/>
        </p:nvSpPr>
        <p:spPr>
          <a:xfrm>
            <a:off x="8366760" y="4992624"/>
            <a:ext cx="3520440" cy="420624"/>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12480" y="5038344"/>
            <a:ext cx="3429000" cy="347472"/>
          </a:xfrm>
          <a:prstGeom prst="rect">
            <a:avLst/>
          </a:prstGeom>
          <a:noFill/>
        </p:spPr>
        <p:txBody>
          <a:bodyPr wrap="square">
            <a:spAutoFit/>
          </a:bodyPr>
          <a:lstStyle/>
          <a:p>
            <a:pPr algn="l"/>
            <a:r>
              <a:rPr sz="1000" b="0" i="0">
                <a:solidFill>
                  <a:srgbClr val="F59E0B"/>
                </a:solidFill>
                <a:latin typeface="Calibri"/>
              </a:rPr>
              <a:t>Necrosis patch ranking</a:t>
            </a:r>
          </a:p>
        </p:txBody>
      </p:sp>
      <p:sp>
        <p:nvSpPr>
          <p:cNvPr id="72" name="Rectangle 71"/>
          <p:cNvSpPr/>
          <p:nvPr/>
        </p:nvSpPr>
        <p:spPr>
          <a:xfrm>
            <a:off x="274320" y="5486400"/>
            <a:ext cx="11640312" cy="31750"/>
          </a:xfrm>
          <a:prstGeom prst="rect">
            <a:avLst/>
          </a:prstGeom>
          <a:solidFill>
            <a:srgbClr val="8B95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4320" y="5559552"/>
            <a:ext cx="11612880" cy="320040"/>
          </a:xfrm>
          <a:prstGeom prst="rect">
            <a:avLst/>
          </a:prstGeom>
          <a:noFill/>
        </p:spPr>
        <p:txBody>
          <a:bodyPr wrap="square">
            <a:spAutoFit/>
          </a:bodyPr>
          <a:lstStyle/>
          <a:p>
            <a:pPr algn="l"/>
            <a:r>
              <a:rPr sz="1100" b="1" i="0">
                <a:solidFill>
                  <a:srgbClr val="F0F4F8"/>
                </a:solidFill>
                <a:latin typeface="Calibri"/>
              </a:rPr>
              <a:t>Groq LLM Explanation Pipeline — How all three XAI methods feed into natural-language reports:</a:t>
            </a:r>
          </a:p>
        </p:txBody>
      </p:sp>
      <p:sp>
        <p:nvSpPr>
          <p:cNvPr id="74" name="Rectangle 73"/>
          <p:cNvSpPr/>
          <p:nvPr/>
        </p:nvSpPr>
        <p:spPr>
          <a:xfrm>
            <a:off x="274320" y="5943600"/>
            <a:ext cx="1737360" cy="74980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74320" y="5943600"/>
            <a:ext cx="173736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74320" y="6016752"/>
            <a:ext cx="1737360" cy="274320"/>
          </a:xfrm>
          <a:prstGeom prst="rect">
            <a:avLst/>
          </a:prstGeom>
          <a:noFill/>
        </p:spPr>
        <p:txBody>
          <a:bodyPr wrap="square">
            <a:spAutoFit/>
          </a:bodyPr>
          <a:lstStyle/>
          <a:p>
            <a:pPr algn="ctr"/>
            <a:r>
              <a:rPr sz="1000" b="1" i="0">
                <a:solidFill>
                  <a:srgbClr val="00E67A"/>
                </a:solidFill>
                <a:latin typeface="Calibri"/>
              </a:rPr>
              <a:t>🔬 Prediction</a:t>
            </a:r>
          </a:p>
        </p:txBody>
      </p:sp>
      <p:sp>
        <p:nvSpPr>
          <p:cNvPr id="77" name="TextBox 76"/>
          <p:cNvSpPr txBox="1"/>
          <p:nvPr/>
        </p:nvSpPr>
        <p:spPr>
          <a:xfrm>
            <a:off x="274320" y="6291072"/>
            <a:ext cx="1737360" cy="384048"/>
          </a:xfrm>
          <a:prstGeom prst="rect">
            <a:avLst/>
          </a:prstGeom>
          <a:noFill/>
        </p:spPr>
        <p:txBody>
          <a:bodyPr wrap="square">
            <a:spAutoFit/>
          </a:bodyPr>
          <a:lstStyle/>
          <a:p>
            <a:pPr algn="ctr"/>
            <a:r>
              <a:rPr sz="900" b="0" i="0">
                <a:solidFill>
                  <a:srgbClr val="8B95A7"/>
                </a:solidFill>
                <a:latin typeface="Calibri"/>
              </a:rPr>
              <a:t>Disease class
+ Confidence %</a:t>
            </a:r>
          </a:p>
        </p:txBody>
      </p:sp>
      <p:sp>
        <p:nvSpPr>
          <p:cNvPr id="78" name="TextBox 77"/>
          <p:cNvSpPr txBox="1"/>
          <p:nvPr/>
        </p:nvSpPr>
        <p:spPr>
          <a:xfrm>
            <a:off x="2011680" y="6199632"/>
            <a:ext cx="201168" cy="274320"/>
          </a:xfrm>
          <a:prstGeom prst="rect">
            <a:avLst/>
          </a:prstGeom>
          <a:noFill/>
        </p:spPr>
        <p:txBody>
          <a:bodyPr wrap="square">
            <a:spAutoFit/>
          </a:bodyPr>
          <a:lstStyle/>
          <a:p>
            <a:pPr algn="ctr"/>
            <a:r>
              <a:rPr sz="1200" b="0" i="0">
                <a:solidFill>
                  <a:srgbClr val="00E67A"/>
                </a:solidFill>
                <a:latin typeface="Calibri"/>
              </a:rPr>
              <a:t>→</a:t>
            </a:r>
          </a:p>
        </p:txBody>
      </p:sp>
      <p:sp>
        <p:nvSpPr>
          <p:cNvPr id="79" name="Rectangle 78"/>
          <p:cNvSpPr/>
          <p:nvPr/>
        </p:nvSpPr>
        <p:spPr>
          <a:xfrm>
            <a:off x="2212848" y="5943600"/>
            <a:ext cx="1737360" cy="74980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2212848" y="5943600"/>
            <a:ext cx="173736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212848" y="6016752"/>
            <a:ext cx="1737360" cy="274320"/>
          </a:xfrm>
          <a:prstGeom prst="rect">
            <a:avLst/>
          </a:prstGeom>
          <a:noFill/>
        </p:spPr>
        <p:txBody>
          <a:bodyPr wrap="square">
            <a:spAutoFit/>
          </a:bodyPr>
          <a:lstStyle/>
          <a:p>
            <a:pPr algn="ctr"/>
            <a:r>
              <a:rPr sz="1000" b="1" i="0">
                <a:solidFill>
                  <a:srgbClr val="00E67A"/>
                </a:solidFill>
                <a:latin typeface="Calibri"/>
              </a:rPr>
              <a:t>🟢 Grad-CAM</a:t>
            </a:r>
          </a:p>
        </p:txBody>
      </p:sp>
      <p:sp>
        <p:nvSpPr>
          <p:cNvPr id="82" name="TextBox 81"/>
          <p:cNvSpPr txBox="1"/>
          <p:nvPr/>
        </p:nvSpPr>
        <p:spPr>
          <a:xfrm>
            <a:off x="2212848" y="6291072"/>
            <a:ext cx="1737360" cy="384048"/>
          </a:xfrm>
          <a:prstGeom prst="rect">
            <a:avLst/>
          </a:prstGeom>
          <a:noFill/>
        </p:spPr>
        <p:txBody>
          <a:bodyPr wrap="square">
            <a:spAutoFit/>
          </a:bodyPr>
          <a:lstStyle/>
          <a:p>
            <a:pPr algn="ctr"/>
            <a:r>
              <a:rPr sz="900" b="0" i="0">
                <a:solidFill>
                  <a:srgbClr val="8B95A7"/>
                </a:solidFill>
                <a:latin typeface="Calibri"/>
              </a:rPr>
              <a:t>Region heatmap
(lesion location)</a:t>
            </a:r>
          </a:p>
        </p:txBody>
      </p:sp>
      <p:sp>
        <p:nvSpPr>
          <p:cNvPr id="83" name="TextBox 82"/>
          <p:cNvSpPr txBox="1"/>
          <p:nvPr/>
        </p:nvSpPr>
        <p:spPr>
          <a:xfrm>
            <a:off x="3950208" y="6199632"/>
            <a:ext cx="201168" cy="274320"/>
          </a:xfrm>
          <a:prstGeom prst="rect">
            <a:avLst/>
          </a:prstGeom>
          <a:noFill/>
        </p:spPr>
        <p:txBody>
          <a:bodyPr wrap="square">
            <a:spAutoFit/>
          </a:bodyPr>
          <a:lstStyle/>
          <a:p>
            <a:pPr algn="ctr"/>
            <a:r>
              <a:rPr sz="1200" b="0" i="0">
                <a:solidFill>
                  <a:srgbClr val="00E67A"/>
                </a:solidFill>
                <a:latin typeface="Calibri"/>
              </a:rPr>
              <a:t>→</a:t>
            </a:r>
          </a:p>
        </p:txBody>
      </p:sp>
      <p:sp>
        <p:nvSpPr>
          <p:cNvPr id="84" name="Rectangle 83"/>
          <p:cNvSpPr/>
          <p:nvPr/>
        </p:nvSpPr>
        <p:spPr>
          <a:xfrm>
            <a:off x="4151376" y="5943600"/>
            <a:ext cx="1737360" cy="74980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151376" y="5943600"/>
            <a:ext cx="173736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151376" y="6016752"/>
            <a:ext cx="1737360" cy="274320"/>
          </a:xfrm>
          <a:prstGeom prst="rect">
            <a:avLst/>
          </a:prstGeom>
          <a:noFill/>
        </p:spPr>
        <p:txBody>
          <a:bodyPr wrap="square">
            <a:spAutoFit/>
          </a:bodyPr>
          <a:lstStyle/>
          <a:p>
            <a:pPr algn="ctr"/>
            <a:r>
              <a:rPr sz="1000" b="1" i="0">
                <a:solidFill>
                  <a:srgbClr val="8B5CF6"/>
                </a:solidFill>
                <a:latin typeface="Calibri"/>
              </a:rPr>
              <a:t>🟣 IG Map</a:t>
            </a:r>
          </a:p>
        </p:txBody>
      </p:sp>
      <p:sp>
        <p:nvSpPr>
          <p:cNvPr id="87" name="TextBox 86"/>
          <p:cNvSpPr txBox="1"/>
          <p:nvPr/>
        </p:nvSpPr>
        <p:spPr>
          <a:xfrm>
            <a:off x="4151376" y="6291072"/>
            <a:ext cx="1737360" cy="384048"/>
          </a:xfrm>
          <a:prstGeom prst="rect">
            <a:avLst/>
          </a:prstGeom>
          <a:noFill/>
        </p:spPr>
        <p:txBody>
          <a:bodyPr wrap="square">
            <a:spAutoFit/>
          </a:bodyPr>
          <a:lstStyle/>
          <a:p>
            <a:pPr algn="ctr"/>
            <a:r>
              <a:rPr sz="900" b="0" i="0">
                <a:solidFill>
                  <a:srgbClr val="8B95A7"/>
                </a:solidFill>
                <a:latin typeface="Calibri"/>
              </a:rPr>
              <a:t>Pixel attribution
(texture patterns)</a:t>
            </a:r>
          </a:p>
        </p:txBody>
      </p:sp>
      <p:sp>
        <p:nvSpPr>
          <p:cNvPr id="88" name="TextBox 87"/>
          <p:cNvSpPr txBox="1"/>
          <p:nvPr/>
        </p:nvSpPr>
        <p:spPr>
          <a:xfrm>
            <a:off x="5888736" y="6199632"/>
            <a:ext cx="201168" cy="274320"/>
          </a:xfrm>
          <a:prstGeom prst="rect">
            <a:avLst/>
          </a:prstGeom>
          <a:noFill/>
        </p:spPr>
        <p:txBody>
          <a:bodyPr wrap="square">
            <a:spAutoFit/>
          </a:bodyPr>
          <a:lstStyle/>
          <a:p>
            <a:pPr algn="ctr"/>
            <a:r>
              <a:rPr sz="1200" b="0" i="0">
                <a:solidFill>
                  <a:srgbClr val="00E67A"/>
                </a:solidFill>
                <a:latin typeface="Calibri"/>
              </a:rPr>
              <a:t>→</a:t>
            </a:r>
          </a:p>
        </p:txBody>
      </p:sp>
      <p:sp>
        <p:nvSpPr>
          <p:cNvPr id="89" name="Rectangle 88"/>
          <p:cNvSpPr/>
          <p:nvPr/>
        </p:nvSpPr>
        <p:spPr>
          <a:xfrm>
            <a:off x="6089904" y="5943600"/>
            <a:ext cx="1737360" cy="74980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6089904" y="5943600"/>
            <a:ext cx="173736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089904" y="6016752"/>
            <a:ext cx="1737360" cy="274320"/>
          </a:xfrm>
          <a:prstGeom prst="rect">
            <a:avLst/>
          </a:prstGeom>
          <a:noFill/>
        </p:spPr>
        <p:txBody>
          <a:bodyPr wrap="square">
            <a:spAutoFit/>
          </a:bodyPr>
          <a:lstStyle/>
          <a:p>
            <a:pPr algn="ctr"/>
            <a:r>
              <a:rPr sz="1000" b="1" i="0">
                <a:solidFill>
                  <a:srgbClr val="F59E0B"/>
                </a:solidFill>
                <a:latin typeface="Calibri"/>
              </a:rPr>
              <a:t>🟠 SHAP Map</a:t>
            </a:r>
          </a:p>
        </p:txBody>
      </p:sp>
      <p:sp>
        <p:nvSpPr>
          <p:cNvPr id="92" name="TextBox 91"/>
          <p:cNvSpPr txBox="1"/>
          <p:nvPr/>
        </p:nvSpPr>
        <p:spPr>
          <a:xfrm>
            <a:off x="6089904" y="6291072"/>
            <a:ext cx="1737360" cy="384048"/>
          </a:xfrm>
          <a:prstGeom prst="rect">
            <a:avLst/>
          </a:prstGeom>
          <a:noFill/>
        </p:spPr>
        <p:txBody>
          <a:bodyPr wrap="square">
            <a:spAutoFit/>
          </a:bodyPr>
          <a:lstStyle/>
          <a:p>
            <a:pPr algn="ctr"/>
            <a:r>
              <a:rPr sz="900" b="0" i="0">
                <a:solidFill>
                  <a:srgbClr val="8B95A7"/>
                </a:solidFill>
                <a:latin typeface="Calibri"/>
              </a:rPr>
              <a:t>Patch scores
(critical regions)</a:t>
            </a:r>
          </a:p>
        </p:txBody>
      </p:sp>
      <p:sp>
        <p:nvSpPr>
          <p:cNvPr id="93" name="TextBox 92"/>
          <p:cNvSpPr txBox="1"/>
          <p:nvPr/>
        </p:nvSpPr>
        <p:spPr>
          <a:xfrm>
            <a:off x="7827264" y="6199632"/>
            <a:ext cx="201168" cy="274320"/>
          </a:xfrm>
          <a:prstGeom prst="rect">
            <a:avLst/>
          </a:prstGeom>
          <a:noFill/>
        </p:spPr>
        <p:txBody>
          <a:bodyPr wrap="square">
            <a:spAutoFit/>
          </a:bodyPr>
          <a:lstStyle/>
          <a:p>
            <a:pPr algn="ctr"/>
            <a:r>
              <a:rPr sz="1200" b="0" i="0">
                <a:solidFill>
                  <a:srgbClr val="00E67A"/>
                </a:solidFill>
                <a:latin typeface="Calibri"/>
              </a:rPr>
              <a:t>→</a:t>
            </a:r>
          </a:p>
        </p:txBody>
      </p:sp>
      <p:sp>
        <p:nvSpPr>
          <p:cNvPr id="94" name="Rectangle 93"/>
          <p:cNvSpPr/>
          <p:nvPr/>
        </p:nvSpPr>
        <p:spPr>
          <a:xfrm>
            <a:off x="8028432" y="5943600"/>
            <a:ext cx="1737360" cy="74980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8028432" y="5943600"/>
            <a:ext cx="1737360" cy="3175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28432" y="6016752"/>
            <a:ext cx="1737360" cy="274320"/>
          </a:xfrm>
          <a:prstGeom prst="rect">
            <a:avLst/>
          </a:prstGeom>
          <a:noFill/>
        </p:spPr>
        <p:txBody>
          <a:bodyPr wrap="square">
            <a:spAutoFit/>
          </a:bodyPr>
          <a:lstStyle/>
          <a:p>
            <a:pPr algn="ctr"/>
            <a:r>
              <a:rPr sz="1000" b="1" i="0">
                <a:solidFill>
                  <a:srgbClr val="EC4899"/>
                </a:solidFill>
                <a:latin typeface="Calibri"/>
              </a:rPr>
              <a:t>🤖 Groq LLM</a:t>
            </a:r>
          </a:p>
        </p:txBody>
      </p:sp>
      <p:sp>
        <p:nvSpPr>
          <p:cNvPr id="97" name="TextBox 96"/>
          <p:cNvSpPr txBox="1"/>
          <p:nvPr/>
        </p:nvSpPr>
        <p:spPr>
          <a:xfrm>
            <a:off x="8028432" y="6291072"/>
            <a:ext cx="1737360" cy="384048"/>
          </a:xfrm>
          <a:prstGeom prst="rect">
            <a:avLst/>
          </a:prstGeom>
          <a:noFill/>
        </p:spPr>
        <p:txBody>
          <a:bodyPr wrap="square">
            <a:spAutoFit/>
          </a:bodyPr>
          <a:lstStyle/>
          <a:p>
            <a:pPr algn="ctr"/>
            <a:r>
              <a:rPr sz="900" b="0" i="0">
                <a:solidFill>
                  <a:srgbClr val="8B95A7"/>
                </a:solidFill>
                <a:latin typeface="Calibri"/>
              </a:rPr>
              <a:t>llama-3.3-70b
NL Report</a:t>
            </a:r>
          </a:p>
        </p:txBody>
      </p:sp>
      <p:sp>
        <p:nvSpPr>
          <p:cNvPr id="98" name="TextBox 97"/>
          <p:cNvSpPr txBox="1"/>
          <p:nvPr/>
        </p:nvSpPr>
        <p:spPr>
          <a:xfrm>
            <a:off x="9765792" y="6199632"/>
            <a:ext cx="201168" cy="274320"/>
          </a:xfrm>
          <a:prstGeom prst="rect">
            <a:avLst/>
          </a:prstGeom>
          <a:noFill/>
        </p:spPr>
        <p:txBody>
          <a:bodyPr wrap="square">
            <a:spAutoFit/>
          </a:bodyPr>
          <a:lstStyle/>
          <a:p>
            <a:pPr algn="ctr"/>
            <a:r>
              <a:rPr sz="1200" b="0" i="0">
                <a:solidFill>
                  <a:srgbClr val="00E67A"/>
                </a:solidFill>
                <a:latin typeface="Calibri"/>
              </a:rPr>
              <a:t>→</a:t>
            </a:r>
          </a:p>
        </p:txBody>
      </p:sp>
      <p:sp>
        <p:nvSpPr>
          <p:cNvPr id="99" name="Rectangle 98"/>
          <p:cNvSpPr/>
          <p:nvPr/>
        </p:nvSpPr>
        <p:spPr>
          <a:xfrm>
            <a:off x="9966960" y="5943600"/>
            <a:ext cx="1737360" cy="749808"/>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966960" y="5943600"/>
            <a:ext cx="173736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966960" y="6016752"/>
            <a:ext cx="1737360" cy="274320"/>
          </a:xfrm>
          <a:prstGeom prst="rect">
            <a:avLst/>
          </a:prstGeom>
          <a:noFill/>
        </p:spPr>
        <p:txBody>
          <a:bodyPr wrap="square">
            <a:spAutoFit/>
          </a:bodyPr>
          <a:lstStyle/>
          <a:p>
            <a:pPr algn="ctr"/>
            <a:r>
              <a:rPr sz="1000" b="1" i="0">
                <a:solidFill>
                  <a:srgbClr val="00C4CC"/>
                </a:solidFill>
                <a:latin typeface="Calibri"/>
              </a:rPr>
              <a:t>📋 Output</a:t>
            </a:r>
          </a:p>
        </p:txBody>
      </p:sp>
      <p:sp>
        <p:nvSpPr>
          <p:cNvPr id="102" name="TextBox 101"/>
          <p:cNvSpPr txBox="1"/>
          <p:nvPr/>
        </p:nvSpPr>
        <p:spPr>
          <a:xfrm>
            <a:off x="9966960" y="6291072"/>
            <a:ext cx="1737360" cy="384048"/>
          </a:xfrm>
          <a:prstGeom prst="rect">
            <a:avLst/>
          </a:prstGeom>
          <a:noFill/>
        </p:spPr>
        <p:txBody>
          <a:bodyPr wrap="square">
            <a:spAutoFit/>
          </a:bodyPr>
          <a:lstStyle/>
          <a:p>
            <a:pPr algn="ctr"/>
            <a:r>
              <a:rPr sz="900" b="0" i="0">
                <a:solidFill>
                  <a:srgbClr val="8B95A7"/>
                </a:solidFill>
                <a:latin typeface="Calibri"/>
              </a:rPr>
              <a:t>Disease + XAI
explanation + cure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00E67A"/>
                </a:solidFill>
                <a:latin typeface="Calibri"/>
              </a:rPr>
              <a:t>08</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Results &amp; Performance Metrics</a:t>
            </a:r>
          </a:p>
        </p:txBody>
      </p:sp>
      <p:sp>
        <p:nvSpPr>
          <p:cNvPr id="5" name="Rectangle 4"/>
          <p:cNvSpPr/>
          <p:nvPr/>
        </p:nvSpPr>
        <p:spPr>
          <a:xfrm>
            <a:off x="274320" y="1161288"/>
            <a:ext cx="438912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2834640" cy="13258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283464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572768"/>
            <a:ext cx="2834640" cy="685800"/>
          </a:xfrm>
          <a:prstGeom prst="rect">
            <a:avLst/>
          </a:prstGeom>
          <a:noFill/>
        </p:spPr>
        <p:txBody>
          <a:bodyPr wrap="square">
            <a:spAutoFit/>
          </a:bodyPr>
          <a:lstStyle/>
          <a:p>
            <a:pPr algn="ctr"/>
            <a:r>
              <a:rPr sz="3400" b="1" i="0">
                <a:solidFill>
                  <a:srgbClr val="00E67A"/>
                </a:solidFill>
                <a:latin typeface="Calibri"/>
              </a:rPr>
              <a:t>99.48%</a:t>
            </a:r>
          </a:p>
        </p:txBody>
      </p:sp>
      <p:sp>
        <p:nvSpPr>
          <p:cNvPr id="9" name="TextBox 8"/>
          <p:cNvSpPr txBox="1"/>
          <p:nvPr/>
        </p:nvSpPr>
        <p:spPr>
          <a:xfrm>
            <a:off x="274320" y="2240280"/>
            <a:ext cx="2834640" cy="365760"/>
          </a:xfrm>
          <a:prstGeom prst="rect">
            <a:avLst/>
          </a:prstGeom>
          <a:noFill/>
        </p:spPr>
        <p:txBody>
          <a:bodyPr wrap="square">
            <a:spAutoFit/>
          </a:bodyPr>
          <a:lstStyle/>
          <a:p>
            <a:pPr algn="ctr"/>
            <a:r>
              <a:rPr sz="1200" b="0" i="0">
                <a:solidFill>
                  <a:srgbClr val="8B95A7"/>
                </a:solidFill>
                <a:latin typeface="Calibri"/>
              </a:rPr>
              <a:t>Test Accuracy</a:t>
            </a:r>
          </a:p>
        </p:txBody>
      </p:sp>
      <p:sp>
        <p:nvSpPr>
          <p:cNvPr id="10" name="Rectangle 9"/>
          <p:cNvSpPr/>
          <p:nvPr/>
        </p:nvSpPr>
        <p:spPr>
          <a:xfrm>
            <a:off x="3273552" y="1463040"/>
            <a:ext cx="2834640" cy="13258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73552" y="1463040"/>
            <a:ext cx="283464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73552" y="1572768"/>
            <a:ext cx="2834640" cy="685800"/>
          </a:xfrm>
          <a:prstGeom prst="rect">
            <a:avLst/>
          </a:prstGeom>
          <a:noFill/>
        </p:spPr>
        <p:txBody>
          <a:bodyPr wrap="square">
            <a:spAutoFit/>
          </a:bodyPr>
          <a:lstStyle/>
          <a:p>
            <a:pPr algn="ctr"/>
            <a:r>
              <a:rPr sz="3400" b="1" i="0">
                <a:solidFill>
                  <a:srgbClr val="00C4CC"/>
                </a:solidFill>
                <a:latin typeface="Calibri"/>
              </a:rPr>
              <a:t>99.48%</a:t>
            </a:r>
          </a:p>
        </p:txBody>
      </p:sp>
      <p:sp>
        <p:nvSpPr>
          <p:cNvPr id="13" name="TextBox 12"/>
          <p:cNvSpPr txBox="1"/>
          <p:nvPr/>
        </p:nvSpPr>
        <p:spPr>
          <a:xfrm>
            <a:off x="3273552" y="2240280"/>
            <a:ext cx="2834640" cy="365760"/>
          </a:xfrm>
          <a:prstGeom prst="rect">
            <a:avLst/>
          </a:prstGeom>
          <a:noFill/>
        </p:spPr>
        <p:txBody>
          <a:bodyPr wrap="square">
            <a:spAutoFit/>
          </a:bodyPr>
          <a:lstStyle/>
          <a:p>
            <a:pPr algn="ctr"/>
            <a:r>
              <a:rPr sz="1200" b="0" i="0">
                <a:solidFill>
                  <a:srgbClr val="8B95A7"/>
                </a:solidFill>
                <a:latin typeface="Calibri"/>
              </a:rPr>
              <a:t>Precision</a:t>
            </a:r>
          </a:p>
        </p:txBody>
      </p:sp>
      <p:sp>
        <p:nvSpPr>
          <p:cNvPr id="14" name="Rectangle 13"/>
          <p:cNvSpPr/>
          <p:nvPr/>
        </p:nvSpPr>
        <p:spPr>
          <a:xfrm>
            <a:off x="6272784" y="1463040"/>
            <a:ext cx="2834640" cy="13258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72784" y="1463040"/>
            <a:ext cx="2834640" cy="3175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2784" y="1572768"/>
            <a:ext cx="2834640" cy="685800"/>
          </a:xfrm>
          <a:prstGeom prst="rect">
            <a:avLst/>
          </a:prstGeom>
          <a:noFill/>
        </p:spPr>
        <p:txBody>
          <a:bodyPr wrap="square">
            <a:spAutoFit/>
          </a:bodyPr>
          <a:lstStyle/>
          <a:p>
            <a:pPr algn="ctr"/>
            <a:r>
              <a:rPr sz="3400" b="1" i="0">
                <a:solidFill>
                  <a:srgbClr val="8B5CF6"/>
                </a:solidFill>
                <a:latin typeface="Calibri"/>
              </a:rPr>
              <a:t>99.48%</a:t>
            </a:r>
          </a:p>
        </p:txBody>
      </p:sp>
      <p:sp>
        <p:nvSpPr>
          <p:cNvPr id="17" name="TextBox 16"/>
          <p:cNvSpPr txBox="1"/>
          <p:nvPr/>
        </p:nvSpPr>
        <p:spPr>
          <a:xfrm>
            <a:off x="6272784" y="2240280"/>
            <a:ext cx="2834640" cy="365760"/>
          </a:xfrm>
          <a:prstGeom prst="rect">
            <a:avLst/>
          </a:prstGeom>
          <a:noFill/>
        </p:spPr>
        <p:txBody>
          <a:bodyPr wrap="square">
            <a:spAutoFit/>
          </a:bodyPr>
          <a:lstStyle/>
          <a:p>
            <a:pPr algn="ctr"/>
            <a:r>
              <a:rPr sz="1200" b="0" i="0">
                <a:solidFill>
                  <a:srgbClr val="8B95A7"/>
                </a:solidFill>
                <a:latin typeface="Calibri"/>
              </a:rPr>
              <a:t>Recall</a:t>
            </a:r>
          </a:p>
        </p:txBody>
      </p:sp>
      <p:sp>
        <p:nvSpPr>
          <p:cNvPr id="18" name="Rectangle 17"/>
          <p:cNvSpPr/>
          <p:nvPr/>
        </p:nvSpPr>
        <p:spPr>
          <a:xfrm>
            <a:off x="9272016" y="1463040"/>
            <a:ext cx="2834640" cy="132588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72016" y="1463040"/>
            <a:ext cx="283464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72016" y="1572768"/>
            <a:ext cx="2834640" cy="685800"/>
          </a:xfrm>
          <a:prstGeom prst="rect">
            <a:avLst/>
          </a:prstGeom>
          <a:noFill/>
        </p:spPr>
        <p:txBody>
          <a:bodyPr wrap="square">
            <a:spAutoFit/>
          </a:bodyPr>
          <a:lstStyle/>
          <a:p>
            <a:pPr algn="ctr"/>
            <a:r>
              <a:rPr sz="3400" b="1" i="0">
                <a:solidFill>
                  <a:srgbClr val="F59E0B"/>
                </a:solidFill>
                <a:latin typeface="Calibri"/>
              </a:rPr>
              <a:t>99.48%</a:t>
            </a:r>
          </a:p>
        </p:txBody>
      </p:sp>
      <p:sp>
        <p:nvSpPr>
          <p:cNvPr id="21" name="TextBox 20"/>
          <p:cNvSpPr txBox="1"/>
          <p:nvPr/>
        </p:nvSpPr>
        <p:spPr>
          <a:xfrm>
            <a:off x="9272016" y="2240280"/>
            <a:ext cx="2834640" cy="365760"/>
          </a:xfrm>
          <a:prstGeom prst="rect">
            <a:avLst/>
          </a:prstGeom>
          <a:noFill/>
        </p:spPr>
        <p:txBody>
          <a:bodyPr wrap="square">
            <a:spAutoFit/>
          </a:bodyPr>
          <a:lstStyle/>
          <a:p>
            <a:pPr algn="ctr"/>
            <a:r>
              <a:rPr sz="1200" b="0" i="0">
                <a:solidFill>
                  <a:srgbClr val="8B95A7"/>
                </a:solidFill>
                <a:latin typeface="Calibri"/>
              </a:rPr>
              <a:t>F1-Score</a:t>
            </a:r>
          </a:p>
        </p:txBody>
      </p:sp>
      <p:sp>
        <p:nvSpPr>
          <p:cNvPr id="22" name="TextBox 21"/>
          <p:cNvSpPr txBox="1"/>
          <p:nvPr/>
        </p:nvSpPr>
        <p:spPr>
          <a:xfrm>
            <a:off x="274320" y="2926080"/>
            <a:ext cx="4572000" cy="347472"/>
          </a:xfrm>
          <a:prstGeom prst="rect">
            <a:avLst/>
          </a:prstGeom>
          <a:noFill/>
        </p:spPr>
        <p:txBody>
          <a:bodyPr wrap="square">
            <a:spAutoFit/>
          </a:bodyPr>
          <a:lstStyle/>
          <a:p>
            <a:pPr algn="l"/>
            <a:r>
              <a:rPr sz="1500" b="1" i="0">
                <a:solidFill>
                  <a:srgbClr val="F0F4F8"/>
                </a:solidFill>
                <a:latin typeface="Calibri"/>
              </a:rPr>
              <a:t>Per-Class Accuracy</a:t>
            </a:r>
          </a:p>
        </p:txBody>
      </p:sp>
      <p:sp>
        <p:nvSpPr>
          <p:cNvPr id="23" name="Rectangle 22"/>
          <p:cNvSpPr/>
          <p:nvPr/>
        </p:nvSpPr>
        <p:spPr>
          <a:xfrm>
            <a:off x="274320" y="3730752"/>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74320" y="3730752"/>
            <a:ext cx="3749039" cy="164592"/>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3383280"/>
            <a:ext cx="2924250" cy="347472"/>
          </a:xfrm>
          <a:prstGeom prst="rect">
            <a:avLst/>
          </a:prstGeom>
          <a:noFill/>
        </p:spPr>
        <p:txBody>
          <a:bodyPr wrap="square">
            <a:spAutoFit/>
          </a:bodyPr>
          <a:lstStyle/>
          <a:p>
            <a:pPr algn="l"/>
            <a:r>
              <a:rPr sz="1000" b="0" i="0">
                <a:solidFill>
                  <a:srgbClr val="8B95A7"/>
                </a:solidFill>
                <a:latin typeface="Calibri"/>
              </a:rPr>
              <a:t>Pepper — Bacterial Spot</a:t>
            </a:r>
          </a:p>
        </p:txBody>
      </p:sp>
      <p:sp>
        <p:nvSpPr>
          <p:cNvPr id="26" name="TextBox 25"/>
          <p:cNvSpPr txBox="1"/>
          <p:nvPr/>
        </p:nvSpPr>
        <p:spPr>
          <a:xfrm>
            <a:off x="3273551" y="3383280"/>
            <a:ext cx="749807" cy="347472"/>
          </a:xfrm>
          <a:prstGeom prst="rect">
            <a:avLst/>
          </a:prstGeom>
          <a:noFill/>
        </p:spPr>
        <p:txBody>
          <a:bodyPr wrap="square">
            <a:spAutoFit/>
          </a:bodyPr>
          <a:lstStyle/>
          <a:p>
            <a:pPr algn="r"/>
            <a:r>
              <a:rPr sz="1000" b="1" i="0">
                <a:solidFill>
                  <a:srgbClr val="00E67A"/>
                </a:solidFill>
                <a:latin typeface="Calibri"/>
              </a:rPr>
              <a:t>100.0%</a:t>
            </a:r>
          </a:p>
        </p:txBody>
      </p:sp>
      <p:sp>
        <p:nvSpPr>
          <p:cNvPr id="27" name="Rectangle 26"/>
          <p:cNvSpPr/>
          <p:nvPr/>
        </p:nvSpPr>
        <p:spPr>
          <a:xfrm>
            <a:off x="4251959" y="3730752"/>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51959" y="3730752"/>
            <a:ext cx="3749039" cy="164592"/>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51959" y="3383280"/>
            <a:ext cx="2924250" cy="347472"/>
          </a:xfrm>
          <a:prstGeom prst="rect">
            <a:avLst/>
          </a:prstGeom>
          <a:noFill/>
        </p:spPr>
        <p:txBody>
          <a:bodyPr wrap="square">
            <a:spAutoFit/>
          </a:bodyPr>
          <a:lstStyle/>
          <a:p>
            <a:pPr algn="l"/>
            <a:r>
              <a:rPr sz="1000" b="0" i="0">
                <a:solidFill>
                  <a:srgbClr val="8B95A7"/>
                </a:solidFill>
                <a:latin typeface="Calibri"/>
              </a:rPr>
              <a:t>Pepper — Healthy</a:t>
            </a:r>
          </a:p>
        </p:txBody>
      </p:sp>
      <p:sp>
        <p:nvSpPr>
          <p:cNvPr id="30" name="TextBox 29"/>
          <p:cNvSpPr txBox="1"/>
          <p:nvPr/>
        </p:nvSpPr>
        <p:spPr>
          <a:xfrm>
            <a:off x="7251190" y="3383280"/>
            <a:ext cx="749807" cy="347472"/>
          </a:xfrm>
          <a:prstGeom prst="rect">
            <a:avLst/>
          </a:prstGeom>
          <a:noFill/>
        </p:spPr>
        <p:txBody>
          <a:bodyPr wrap="square">
            <a:spAutoFit/>
          </a:bodyPr>
          <a:lstStyle/>
          <a:p>
            <a:pPr algn="r"/>
            <a:r>
              <a:rPr sz="1000" b="1" i="0">
                <a:solidFill>
                  <a:srgbClr val="00E67A"/>
                </a:solidFill>
                <a:latin typeface="Calibri"/>
              </a:rPr>
              <a:t>100.0%</a:t>
            </a:r>
          </a:p>
        </p:txBody>
      </p:sp>
      <p:sp>
        <p:nvSpPr>
          <p:cNvPr id="31" name="Rectangle 30"/>
          <p:cNvSpPr/>
          <p:nvPr/>
        </p:nvSpPr>
        <p:spPr>
          <a:xfrm>
            <a:off x="8229598" y="3730752"/>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29598" y="3730752"/>
            <a:ext cx="3749039" cy="164592"/>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598" y="3383280"/>
            <a:ext cx="2924250" cy="347472"/>
          </a:xfrm>
          <a:prstGeom prst="rect">
            <a:avLst/>
          </a:prstGeom>
          <a:noFill/>
        </p:spPr>
        <p:txBody>
          <a:bodyPr wrap="square">
            <a:spAutoFit/>
          </a:bodyPr>
          <a:lstStyle/>
          <a:p>
            <a:pPr algn="l"/>
            <a:r>
              <a:rPr sz="1000" b="0" i="0">
                <a:solidFill>
                  <a:srgbClr val="8B95A7"/>
                </a:solidFill>
                <a:latin typeface="Calibri"/>
              </a:rPr>
              <a:t>Potato — Early Blight</a:t>
            </a:r>
          </a:p>
        </p:txBody>
      </p:sp>
      <p:sp>
        <p:nvSpPr>
          <p:cNvPr id="34" name="TextBox 33"/>
          <p:cNvSpPr txBox="1"/>
          <p:nvPr/>
        </p:nvSpPr>
        <p:spPr>
          <a:xfrm>
            <a:off x="11228829" y="3383280"/>
            <a:ext cx="749807" cy="347472"/>
          </a:xfrm>
          <a:prstGeom prst="rect">
            <a:avLst/>
          </a:prstGeom>
          <a:noFill/>
        </p:spPr>
        <p:txBody>
          <a:bodyPr wrap="square">
            <a:spAutoFit/>
          </a:bodyPr>
          <a:lstStyle/>
          <a:p>
            <a:pPr algn="r"/>
            <a:r>
              <a:rPr sz="1000" b="1" i="0">
                <a:solidFill>
                  <a:srgbClr val="00E67A"/>
                </a:solidFill>
                <a:latin typeface="Calibri"/>
              </a:rPr>
              <a:t>100.0%</a:t>
            </a:r>
          </a:p>
        </p:txBody>
      </p:sp>
      <p:sp>
        <p:nvSpPr>
          <p:cNvPr id="35" name="Rectangle 34"/>
          <p:cNvSpPr/>
          <p:nvPr/>
        </p:nvSpPr>
        <p:spPr>
          <a:xfrm>
            <a:off x="274320" y="4389120"/>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 y="4389120"/>
            <a:ext cx="3711548" cy="16459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4041648"/>
            <a:ext cx="2924250" cy="347472"/>
          </a:xfrm>
          <a:prstGeom prst="rect">
            <a:avLst/>
          </a:prstGeom>
          <a:noFill/>
        </p:spPr>
        <p:txBody>
          <a:bodyPr wrap="square">
            <a:spAutoFit/>
          </a:bodyPr>
          <a:lstStyle/>
          <a:p>
            <a:pPr algn="l"/>
            <a:r>
              <a:rPr sz="1000" b="0" i="0">
                <a:solidFill>
                  <a:srgbClr val="8B95A7"/>
                </a:solidFill>
                <a:latin typeface="Calibri"/>
              </a:rPr>
              <a:t>Potato — Late Blight</a:t>
            </a:r>
          </a:p>
        </p:txBody>
      </p:sp>
      <p:sp>
        <p:nvSpPr>
          <p:cNvPr id="38" name="TextBox 37"/>
          <p:cNvSpPr txBox="1"/>
          <p:nvPr/>
        </p:nvSpPr>
        <p:spPr>
          <a:xfrm>
            <a:off x="3273551" y="4041648"/>
            <a:ext cx="749807" cy="347472"/>
          </a:xfrm>
          <a:prstGeom prst="rect">
            <a:avLst/>
          </a:prstGeom>
          <a:noFill/>
        </p:spPr>
        <p:txBody>
          <a:bodyPr wrap="square">
            <a:spAutoFit/>
          </a:bodyPr>
          <a:lstStyle/>
          <a:p>
            <a:pPr algn="r"/>
            <a:r>
              <a:rPr sz="1000" b="1" i="0">
                <a:solidFill>
                  <a:srgbClr val="00C4CC"/>
                </a:solidFill>
                <a:latin typeface="Calibri"/>
              </a:rPr>
              <a:t>99.0%</a:t>
            </a:r>
          </a:p>
        </p:txBody>
      </p:sp>
      <p:sp>
        <p:nvSpPr>
          <p:cNvPr id="39" name="Rectangle 38"/>
          <p:cNvSpPr/>
          <p:nvPr/>
        </p:nvSpPr>
        <p:spPr>
          <a:xfrm>
            <a:off x="4251959" y="4389120"/>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51959" y="4389120"/>
            <a:ext cx="3589329"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51959" y="4041648"/>
            <a:ext cx="2924250" cy="347472"/>
          </a:xfrm>
          <a:prstGeom prst="rect">
            <a:avLst/>
          </a:prstGeom>
          <a:noFill/>
        </p:spPr>
        <p:txBody>
          <a:bodyPr wrap="square">
            <a:spAutoFit/>
          </a:bodyPr>
          <a:lstStyle/>
          <a:p>
            <a:pPr algn="l"/>
            <a:r>
              <a:rPr sz="1000" b="0" i="0">
                <a:solidFill>
                  <a:srgbClr val="8B95A7"/>
                </a:solidFill>
                <a:latin typeface="Calibri"/>
              </a:rPr>
              <a:t>Potato — Healthy</a:t>
            </a:r>
          </a:p>
        </p:txBody>
      </p:sp>
      <p:sp>
        <p:nvSpPr>
          <p:cNvPr id="42" name="TextBox 41"/>
          <p:cNvSpPr txBox="1"/>
          <p:nvPr/>
        </p:nvSpPr>
        <p:spPr>
          <a:xfrm>
            <a:off x="7251190" y="4041648"/>
            <a:ext cx="749807" cy="347472"/>
          </a:xfrm>
          <a:prstGeom prst="rect">
            <a:avLst/>
          </a:prstGeom>
          <a:noFill/>
        </p:spPr>
        <p:txBody>
          <a:bodyPr wrap="square">
            <a:spAutoFit/>
          </a:bodyPr>
          <a:lstStyle/>
          <a:p>
            <a:pPr algn="r"/>
            <a:r>
              <a:rPr sz="1000" b="1" i="0">
                <a:solidFill>
                  <a:srgbClr val="F59E0B"/>
                </a:solidFill>
                <a:latin typeface="Calibri"/>
              </a:rPr>
              <a:t>95.7%</a:t>
            </a:r>
          </a:p>
        </p:txBody>
      </p:sp>
      <p:sp>
        <p:nvSpPr>
          <p:cNvPr id="43" name="Rectangle 42"/>
          <p:cNvSpPr/>
          <p:nvPr/>
        </p:nvSpPr>
        <p:spPr>
          <a:xfrm>
            <a:off x="8229598" y="4389120"/>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229598" y="4389120"/>
            <a:ext cx="3725420" cy="16459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229598" y="4041648"/>
            <a:ext cx="2924250" cy="347472"/>
          </a:xfrm>
          <a:prstGeom prst="rect">
            <a:avLst/>
          </a:prstGeom>
          <a:noFill/>
        </p:spPr>
        <p:txBody>
          <a:bodyPr wrap="square">
            <a:spAutoFit/>
          </a:bodyPr>
          <a:lstStyle/>
          <a:p>
            <a:pPr algn="l"/>
            <a:r>
              <a:rPr sz="1000" b="0" i="0">
                <a:solidFill>
                  <a:srgbClr val="8B95A7"/>
                </a:solidFill>
                <a:latin typeface="Calibri"/>
              </a:rPr>
              <a:t>Tomato — Bacterial Spot</a:t>
            </a:r>
          </a:p>
        </p:txBody>
      </p:sp>
      <p:sp>
        <p:nvSpPr>
          <p:cNvPr id="46" name="TextBox 45"/>
          <p:cNvSpPr txBox="1"/>
          <p:nvPr/>
        </p:nvSpPr>
        <p:spPr>
          <a:xfrm>
            <a:off x="11228829" y="4041648"/>
            <a:ext cx="749807" cy="347472"/>
          </a:xfrm>
          <a:prstGeom prst="rect">
            <a:avLst/>
          </a:prstGeom>
          <a:noFill/>
        </p:spPr>
        <p:txBody>
          <a:bodyPr wrap="square">
            <a:spAutoFit/>
          </a:bodyPr>
          <a:lstStyle/>
          <a:p>
            <a:pPr algn="r"/>
            <a:r>
              <a:rPr sz="1000" b="1" i="0">
                <a:solidFill>
                  <a:srgbClr val="00C4CC"/>
                </a:solidFill>
                <a:latin typeface="Calibri"/>
              </a:rPr>
              <a:t>99.4%</a:t>
            </a:r>
          </a:p>
        </p:txBody>
      </p:sp>
      <p:sp>
        <p:nvSpPr>
          <p:cNvPr id="47" name="Rectangle 46"/>
          <p:cNvSpPr/>
          <p:nvPr/>
        </p:nvSpPr>
        <p:spPr>
          <a:xfrm>
            <a:off x="274320" y="5047488"/>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274320" y="5047488"/>
            <a:ext cx="368643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74320" y="4700016"/>
            <a:ext cx="2924250" cy="347472"/>
          </a:xfrm>
          <a:prstGeom prst="rect">
            <a:avLst/>
          </a:prstGeom>
          <a:noFill/>
        </p:spPr>
        <p:txBody>
          <a:bodyPr wrap="square">
            <a:spAutoFit/>
          </a:bodyPr>
          <a:lstStyle/>
          <a:p>
            <a:pPr algn="l"/>
            <a:r>
              <a:rPr sz="1000" b="0" i="0">
                <a:solidFill>
                  <a:srgbClr val="8B95A7"/>
                </a:solidFill>
                <a:latin typeface="Calibri"/>
              </a:rPr>
              <a:t>Tomato — Early Blight</a:t>
            </a:r>
          </a:p>
        </p:txBody>
      </p:sp>
      <p:sp>
        <p:nvSpPr>
          <p:cNvPr id="50" name="TextBox 49"/>
          <p:cNvSpPr txBox="1"/>
          <p:nvPr/>
        </p:nvSpPr>
        <p:spPr>
          <a:xfrm>
            <a:off x="3273551" y="4700016"/>
            <a:ext cx="749807" cy="347472"/>
          </a:xfrm>
          <a:prstGeom prst="rect">
            <a:avLst/>
          </a:prstGeom>
          <a:noFill/>
        </p:spPr>
        <p:txBody>
          <a:bodyPr wrap="square">
            <a:spAutoFit/>
          </a:bodyPr>
          <a:lstStyle/>
          <a:p>
            <a:pPr algn="r"/>
            <a:r>
              <a:rPr sz="1000" b="1" i="0">
                <a:solidFill>
                  <a:srgbClr val="F59E0B"/>
                </a:solidFill>
                <a:latin typeface="Calibri"/>
              </a:rPr>
              <a:t>98.3%</a:t>
            </a:r>
          </a:p>
        </p:txBody>
      </p:sp>
      <p:sp>
        <p:nvSpPr>
          <p:cNvPr id="51" name="Rectangle 50"/>
          <p:cNvSpPr/>
          <p:nvPr/>
        </p:nvSpPr>
        <p:spPr>
          <a:xfrm>
            <a:off x="4251959" y="5047488"/>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251959" y="5047488"/>
            <a:ext cx="3709674"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251959" y="4700016"/>
            <a:ext cx="2924250" cy="347472"/>
          </a:xfrm>
          <a:prstGeom prst="rect">
            <a:avLst/>
          </a:prstGeom>
          <a:noFill/>
        </p:spPr>
        <p:txBody>
          <a:bodyPr wrap="square">
            <a:spAutoFit/>
          </a:bodyPr>
          <a:lstStyle/>
          <a:p>
            <a:pPr algn="l"/>
            <a:r>
              <a:rPr sz="1000" b="0" i="0">
                <a:solidFill>
                  <a:srgbClr val="8B95A7"/>
                </a:solidFill>
                <a:latin typeface="Calibri"/>
              </a:rPr>
              <a:t>Tomato — Late Blight</a:t>
            </a:r>
          </a:p>
        </p:txBody>
      </p:sp>
      <p:sp>
        <p:nvSpPr>
          <p:cNvPr id="54" name="TextBox 53"/>
          <p:cNvSpPr txBox="1"/>
          <p:nvPr/>
        </p:nvSpPr>
        <p:spPr>
          <a:xfrm>
            <a:off x="7251190" y="4700016"/>
            <a:ext cx="749807" cy="347472"/>
          </a:xfrm>
          <a:prstGeom prst="rect">
            <a:avLst/>
          </a:prstGeom>
          <a:noFill/>
        </p:spPr>
        <p:txBody>
          <a:bodyPr wrap="square">
            <a:spAutoFit/>
          </a:bodyPr>
          <a:lstStyle/>
          <a:p>
            <a:pPr algn="r"/>
            <a:r>
              <a:rPr sz="1000" b="1" i="0">
                <a:solidFill>
                  <a:srgbClr val="F59E0B"/>
                </a:solidFill>
                <a:latin typeface="Calibri"/>
              </a:rPr>
              <a:t>99.0%</a:t>
            </a:r>
          </a:p>
        </p:txBody>
      </p:sp>
      <p:sp>
        <p:nvSpPr>
          <p:cNvPr id="55" name="Rectangle 54"/>
          <p:cNvSpPr/>
          <p:nvPr/>
        </p:nvSpPr>
        <p:spPr>
          <a:xfrm>
            <a:off x="8229598" y="5047488"/>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229598" y="5047488"/>
            <a:ext cx="3749039" cy="164592"/>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598" y="4700016"/>
            <a:ext cx="2924250" cy="347472"/>
          </a:xfrm>
          <a:prstGeom prst="rect">
            <a:avLst/>
          </a:prstGeom>
          <a:noFill/>
        </p:spPr>
        <p:txBody>
          <a:bodyPr wrap="square">
            <a:spAutoFit/>
          </a:bodyPr>
          <a:lstStyle/>
          <a:p>
            <a:pPr algn="l"/>
            <a:r>
              <a:rPr sz="1000" b="0" i="0">
                <a:solidFill>
                  <a:srgbClr val="8B95A7"/>
                </a:solidFill>
                <a:latin typeface="Calibri"/>
              </a:rPr>
              <a:t>Tomato — Leaf Mold</a:t>
            </a:r>
          </a:p>
        </p:txBody>
      </p:sp>
      <p:sp>
        <p:nvSpPr>
          <p:cNvPr id="58" name="TextBox 57"/>
          <p:cNvSpPr txBox="1"/>
          <p:nvPr/>
        </p:nvSpPr>
        <p:spPr>
          <a:xfrm>
            <a:off x="11228829" y="4700016"/>
            <a:ext cx="749807" cy="347472"/>
          </a:xfrm>
          <a:prstGeom prst="rect">
            <a:avLst/>
          </a:prstGeom>
          <a:noFill/>
        </p:spPr>
        <p:txBody>
          <a:bodyPr wrap="square">
            <a:spAutoFit/>
          </a:bodyPr>
          <a:lstStyle/>
          <a:p>
            <a:pPr algn="r"/>
            <a:r>
              <a:rPr sz="1000" b="1" i="0">
                <a:solidFill>
                  <a:srgbClr val="00E67A"/>
                </a:solidFill>
                <a:latin typeface="Calibri"/>
              </a:rPr>
              <a:t>100.0%</a:t>
            </a:r>
          </a:p>
        </p:txBody>
      </p:sp>
      <p:sp>
        <p:nvSpPr>
          <p:cNvPr id="59" name="Rectangle 58"/>
          <p:cNvSpPr/>
          <p:nvPr/>
        </p:nvSpPr>
        <p:spPr>
          <a:xfrm>
            <a:off x="274320" y="5705856"/>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274320" y="5705856"/>
            <a:ext cx="3734792" cy="16459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4320" y="5358384"/>
            <a:ext cx="2924250" cy="347472"/>
          </a:xfrm>
          <a:prstGeom prst="rect">
            <a:avLst/>
          </a:prstGeom>
          <a:noFill/>
        </p:spPr>
        <p:txBody>
          <a:bodyPr wrap="square">
            <a:spAutoFit/>
          </a:bodyPr>
          <a:lstStyle/>
          <a:p>
            <a:pPr algn="l"/>
            <a:r>
              <a:rPr sz="1000" b="0" i="0">
                <a:solidFill>
                  <a:srgbClr val="8B95A7"/>
                </a:solidFill>
                <a:latin typeface="Calibri"/>
              </a:rPr>
              <a:t>Tomato — Septoria Leaf Spot</a:t>
            </a:r>
          </a:p>
        </p:txBody>
      </p:sp>
      <p:sp>
        <p:nvSpPr>
          <p:cNvPr id="62" name="TextBox 61"/>
          <p:cNvSpPr txBox="1"/>
          <p:nvPr/>
        </p:nvSpPr>
        <p:spPr>
          <a:xfrm>
            <a:off x="3273551" y="5358384"/>
            <a:ext cx="749807" cy="347472"/>
          </a:xfrm>
          <a:prstGeom prst="rect">
            <a:avLst/>
          </a:prstGeom>
          <a:noFill/>
        </p:spPr>
        <p:txBody>
          <a:bodyPr wrap="square">
            <a:spAutoFit/>
          </a:bodyPr>
          <a:lstStyle/>
          <a:p>
            <a:pPr algn="r"/>
            <a:r>
              <a:rPr sz="1000" b="1" i="0">
                <a:solidFill>
                  <a:srgbClr val="00C4CC"/>
                </a:solidFill>
                <a:latin typeface="Calibri"/>
              </a:rPr>
              <a:t>99.6%</a:t>
            </a:r>
          </a:p>
        </p:txBody>
      </p:sp>
      <p:sp>
        <p:nvSpPr>
          <p:cNvPr id="63" name="Rectangle 62"/>
          <p:cNvSpPr/>
          <p:nvPr/>
        </p:nvSpPr>
        <p:spPr>
          <a:xfrm>
            <a:off x="4251959" y="5705856"/>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251959" y="5705856"/>
            <a:ext cx="3741540" cy="16459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251959" y="5358384"/>
            <a:ext cx="2924250" cy="347472"/>
          </a:xfrm>
          <a:prstGeom prst="rect">
            <a:avLst/>
          </a:prstGeom>
          <a:noFill/>
        </p:spPr>
        <p:txBody>
          <a:bodyPr wrap="square">
            <a:spAutoFit/>
          </a:bodyPr>
          <a:lstStyle/>
          <a:p>
            <a:pPr algn="l"/>
            <a:r>
              <a:rPr sz="1000" b="0" i="0">
                <a:solidFill>
                  <a:srgbClr val="8B95A7"/>
                </a:solidFill>
                <a:latin typeface="Calibri"/>
              </a:rPr>
              <a:t>Tomato — Spider Mites</a:t>
            </a:r>
          </a:p>
        </p:txBody>
      </p:sp>
      <p:sp>
        <p:nvSpPr>
          <p:cNvPr id="66" name="TextBox 65"/>
          <p:cNvSpPr txBox="1"/>
          <p:nvPr/>
        </p:nvSpPr>
        <p:spPr>
          <a:xfrm>
            <a:off x="7251190" y="5358384"/>
            <a:ext cx="749807" cy="347472"/>
          </a:xfrm>
          <a:prstGeom prst="rect">
            <a:avLst/>
          </a:prstGeom>
          <a:noFill/>
        </p:spPr>
        <p:txBody>
          <a:bodyPr wrap="square">
            <a:spAutoFit/>
          </a:bodyPr>
          <a:lstStyle/>
          <a:p>
            <a:pPr algn="r"/>
            <a:r>
              <a:rPr sz="1000" b="1" i="0">
                <a:solidFill>
                  <a:srgbClr val="00C4CC"/>
                </a:solidFill>
                <a:latin typeface="Calibri"/>
              </a:rPr>
              <a:t>99.8%</a:t>
            </a:r>
          </a:p>
        </p:txBody>
      </p:sp>
      <p:sp>
        <p:nvSpPr>
          <p:cNvPr id="67" name="Rectangle 66"/>
          <p:cNvSpPr/>
          <p:nvPr/>
        </p:nvSpPr>
        <p:spPr>
          <a:xfrm>
            <a:off x="8229598" y="5705856"/>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229598" y="5705856"/>
            <a:ext cx="370480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229598" y="5358384"/>
            <a:ext cx="2924250" cy="347472"/>
          </a:xfrm>
          <a:prstGeom prst="rect">
            <a:avLst/>
          </a:prstGeom>
          <a:noFill/>
        </p:spPr>
        <p:txBody>
          <a:bodyPr wrap="square">
            <a:spAutoFit/>
          </a:bodyPr>
          <a:lstStyle/>
          <a:p>
            <a:pPr algn="l"/>
            <a:r>
              <a:rPr sz="1000" b="0" i="0">
                <a:solidFill>
                  <a:srgbClr val="8B95A7"/>
                </a:solidFill>
                <a:latin typeface="Calibri"/>
              </a:rPr>
              <a:t>Tomato — Target Spot</a:t>
            </a:r>
          </a:p>
        </p:txBody>
      </p:sp>
      <p:sp>
        <p:nvSpPr>
          <p:cNvPr id="70" name="TextBox 69"/>
          <p:cNvSpPr txBox="1"/>
          <p:nvPr/>
        </p:nvSpPr>
        <p:spPr>
          <a:xfrm>
            <a:off x="11228829" y="5358384"/>
            <a:ext cx="749807" cy="347472"/>
          </a:xfrm>
          <a:prstGeom prst="rect">
            <a:avLst/>
          </a:prstGeom>
          <a:noFill/>
        </p:spPr>
        <p:txBody>
          <a:bodyPr wrap="square">
            <a:spAutoFit/>
          </a:bodyPr>
          <a:lstStyle/>
          <a:p>
            <a:pPr algn="r"/>
            <a:r>
              <a:rPr sz="1000" b="1" i="0">
                <a:solidFill>
                  <a:srgbClr val="F59E0B"/>
                </a:solidFill>
                <a:latin typeface="Calibri"/>
              </a:rPr>
              <a:t>98.8%</a:t>
            </a:r>
          </a:p>
        </p:txBody>
      </p:sp>
      <p:sp>
        <p:nvSpPr>
          <p:cNvPr id="71" name="Rectangle 70"/>
          <p:cNvSpPr/>
          <p:nvPr/>
        </p:nvSpPr>
        <p:spPr>
          <a:xfrm>
            <a:off x="274320" y="6364224"/>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274320" y="6364224"/>
            <a:ext cx="3733293" cy="164592"/>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74320" y="6016752"/>
            <a:ext cx="2924250" cy="347472"/>
          </a:xfrm>
          <a:prstGeom prst="rect">
            <a:avLst/>
          </a:prstGeom>
          <a:noFill/>
        </p:spPr>
        <p:txBody>
          <a:bodyPr wrap="square">
            <a:spAutoFit/>
          </a:bodyPr>
          <a:lstStyle/>
          <a:p>
            <a:pPr algn="l"/>
            <a:r>
              <a:rPr sz="1000" b="0" i="0">
                <a:solidFill>
                  <a:srgbClr val="8B95A7"/>
                </a:solidFill>
                <a:latin typeface="Calibri"/>
              </a:rPr>
              <a:t>Tomato — Yellow Leaf Curl</a:t>
            </a:r>
          </a:p>
        </p:txBody>
      </p:sp>
      <p:sp>
        <p:nvSpPr>
          <p:cNvPr id="74" name="TextBox 73"/>
          <p:cNvSpPr txBox="1"/>
          <p:nvPr/>
        </p:nvSpPr>
        <p:spPr>
          <a:xfrm>
            <a:off x="3273551" y="6016752"/>
            <a:ext cx="749807" cy="347472"/>
          </a:xfrm>
          <a:prstGeom prst="rect">
            <a:avLst/>
          </a:prstGeom>
          <a:noFill/>
        </p:spPr>
        <p:txBody>
          <a:bodyPr wrap="square">
            <a:spAutoFit/>
          </a:bodyPr>
          <a:lstStyle/>
          <a:p>
            <a:pPr algn="r"/>
            <a:r>
              <a:rPr sz="1000" b="1" i="0">
                <a:solidFill>
                  <a:srgbClr val="00C4CC"/>
                </a:solidFill>
                <a:latin typeface="Calibri"/>
              </a:rPr>
              <a:t>99.6%</a:t>
            </a:r>
          </a:p>
        </p:txBody>
      </p:sp>
      <p:sp>
        <p:nvSpPr>
          <p:cNvPr id="75" name="Rectangle 74"/>
          <p:cNvSpPr/>
          <p:nvPr/>
        </p:nvSpPr>
        <p:spPr>
          <a:xfrm>
            <a:off x="4251959" y="6364224"/>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4251959" y="6364224"/>
            <a:ext cx="3749039" cy="164592"/>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251959" y="6016752"/>
            <a:ext cx="2924250" cy="347472"/>
          </a:xfrm>
          <a:prstGeom prst="rect">
            <a:avLst/>
          </a:prstGeom>
          <a:noFill/>
        </p:spPr>
        <p:txBody>
          <a:bodyPr wrap="square">
            <a:spAutoFit/>
          </a:bodyPr>
          <a:lstStyle/>
          <a:p>
            <a:pPr algn="l"/>
            <a:r>
              <a:rPr sz="1000" b="0" i="0">
                <a:solidFill>
                  <a:srgbClr val="8B95A7"/>
                </a:solidFill>
                <a:latin typeface="Calibri"/>
              </a:rPr>
              <a:t>Tomato — Mosaic Virus</a:t>
            </a:r>
          </a:p>
        </p:txBody>
      </p:sp>
      <p:sp>
        <p:nvSpPr>
          <p:cNvPr id="78" name="TextBox 77"/>
          <p:cNvSpPr txBox="1"/>
          <p:nvPr/>
        </p:nvSpPr>
        <p:spPr>
          <a:xfrm>
            <a:off x="7251190" y="6016752"/>
            <a:ext cx="749807" cy="347472"/>
          </a:xfrm>
          <a:prstGeom prst="rect">
            <a:avLst/>
          </a:prstGeom>
          <a:noFill/>
        </p:spPr>
        <p:txBody>
          <a:bodyPr wrap="square">
            <a:spAutoFit/>
          </a:bodyPr>
          <a:lstStyle/>
          <a:p>
            <a:pPr algn="r"/>
            <a:r>
              <a:rPr sz="1000" b="1" i="0">
                <a:solidFill>
                  <a:srgbClr val="00E67A"/>
                </a:solidFill>
                <a:latin typeface="Calibri"/>
              </a:rPr>
              <a:t>100.0%</a:t>
            </a:r>
          </a:p>
        </p:txBody>
      </p:sp>
      <p:sp>
        <p:nvSpPr>
          <p:cNvPr id="79" name="Rectangle 78"/>
          <p:cNvSpPr/>
          <p:nvPr/>
        </p:nvSpPr>
        <p:spPr>
          <a:xfrm>
            <a:off x="8229598" y="6364224"/>
            <a:ext cx="3749039" cy="164592"/>
          </a:xfrm>
          <a:prstGeom prst="rect">
            <a:avLst/>
          </a:prstGeom>
          <a:solidFill>
            <a:srgbClr val="2A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8229598" y="6364224"/>
            <a:ext cx="3749039" cy="164592"/>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229598" y="6016752"/>
            <a:ext cx="2924250" cy="347472"/>
          </a:xfrm>
          <a:prstGeom prst="rect">
            <a:avLst/>
          </a:prstGeom>
          <a:noFill/>
        </p:spPr>
        <p:txBody>
          <a:bodyPr wrap="square">
            <a:spAutoFit/>
          </a:bodyPr>
          <a:lstStyle/>
          <a:p>
            <a:pPr algn="l"/>
            <a:r>
              <a:rPr sz="1000" b="0" i="0">
                <a:solidFill>
                  <a:srgbClr val="8B95A7"/>
                </a:solidFill>
                <a:latin typeface="Calibri"/>
              </a:rPr>
              <a:t>Tomato — Healthy</a:t>
            </a:r>
          </a:p>
        </p:txBody>
      </p:sp>
      <p:sp>
        <p:nvSpPr>
          <p:cNvPr id="82" name="TextBox 81"/>
          <p:cNvSpPr txBox="1"/>
          <p:nvPr/>
        </p:nvSpPr>
        <p:spPr>
          <a:xfrm>
            <a:off x="11228829" y="6016752"/>
            <a:ext cx="749807" cy="347472"/>
          </a:xfrm>
          <a:prstGeom prst="rect">
            <a:avLst/>
          </a:prstGeom>
          <a:noFill/>
        </p:spPr>
        <p:txBody>
          <a:bodyPr wrap="square">
            <a:spAutoFit/>
          </a:bodyPr>
          <a:lstStyle/>
          <a:p>
            <a:pPr algn="r"/>
            <a:r>
              <a:rPr sz="1000" b="1" i="0">
                <a:solidFill>
                  <a:srgbClr val="00E67A"/>
                </a:solidFill>
                <a:latin typeface="Calibri"/>
              </a:rPr>
              <a:t>100.0%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00C4CC"/>
                </a:solidFill>
                <a:latin typeface="Calibri"/>
              </a:rPr>
              <a:t>09</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API &amp; Frontend Application</a:t>
            </a:r>
          </a:p>
        </p:txBody>
      </p:sp>
      <p:sp>
        <p:nvSpPr>
          <p:cNvPr id="5" name="Rectangle 4"/>
          <p:cNvSpPr/>
          <p:nvPr/>
        </p:nvSpPr>
        <p:spPr>
          <a:xfrm>
            <a:off x="274320" y="1161288"/>
            <a:ext cx="4389120" cy="31750"/>
          </a:xfrm>
          <a:prstGeom prst="rect">
            <a:avLst/>
          </a:prstGeom>
          <a:solidFill>
            <a:srgbClr val="00C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5577840" cy="51206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5577840" cy="3175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00200"/>
            <a:ext cx="5212080" cy="365760"/>
          </a:xfrm>
          <a:prstGeom prst="rect">
            <a:avLst/>
          </a:prstGeom>
          <a:noFill/>
        </p:spPr>
        <p:txBody>
          <a:bodyPr wrap="square">
            <a:spAutoFit/>
          </a:bodyPr>
          <a:lstStyle/>
          <a:p>
            <a:pPr algn="l"/>
            <a:r>
              <a:rPr sz="1500" b="1" i="0">
                <a:solidFill>
                  <a:srgbClr val="009688"/>
                </a:solidFill>
                <a:latin typeface="Calibri"/>
              </a:rPr>
              <a:t>⚡  FastAPI Backend</a:t>
            </a:r>
          </a:p>
        </p:txBody>
      </p:sp>
      <p:sp>
        <p:nvSpPr>
          <p:cNvPr id="9" name="TextBox 8"/>
          <p:cNvSpPr txBox="1"/>
          <p:nvPr/>
        </p:nvSpPr>
        <p:spPr>
          <a:xfrm>
            <a:off x="457200" y="2103120"/>
            <a:ext cx="1828800" cy="274320"/>
          </a:xfrm>
          <a:prstGeom prst="rect">
            <a:avLst/>
          </a:prstGeom>
          <a:noFill/>
        </p:spPr>
        <p:txBody>
          <a:bodyPr wrap="square">
            <a:spAutoFit/>
          </a:bodyPr>
          <a:lstStyle/>
          <a:p>
            <a:pPr algn="l"/>
            <a:r>
              <a:rPr sz="1050" b="1" i="0">
                <a:solidFill>
                  <a:srgbClr val="00C4CC"/>
                </a:solidFill>
                <a:latin typeface="Calibri"/>
              </a:rPr>
              <a:t>POST /predict</a:t>
            </a:r>
          </a:p>
        </p:txBody>
      </p:sp>
      <p:sp>
        <p:nvSpPr>
          <p:cNvPr id="10" name="TextBox 9"/>
          <p:cNvSpPr txBox="1"/>
          <p:nvPr/>
        </p:nvSpPr>
        <p:spPr>
          <a:xfrm>
            <a:off x="2423160" y="2103120"/>
            <a:ext cx="3291840" cy="502920"/>
          </a:xfrm>
          <a:prstGeom prst="rect">
            <a:avLst/>
          </a:prstGeom>
          <a:noFill/>
        </p:spPr>
        <p:txBody>
          <a:bodyPr wrap="square">
            <a:spAutoFit/>
          </a:bodyPr>
          <a:lstStyle/>
          <a:p>
            <a:pPr algn="l"/>
            <a:r>
              <a:rPr sz="1000" b="0" i="0">
                <a:solidFill>
                  <a:srgbClr val="8B95A7"/>
                </a:solidFill>
                <a:latin typeface="Calibri"/>
              </a:rPr>
              <a:t>Accepts multipart image → returns disease class, confidence, Grad-CAM/IG/SHAP heatmaps &amp; LLM explanation.</a:t>
            </a:r>
          </a:p>
        </p:txBody>
      </p:sp>
      <p:sp>
        <p:nvSpPr>
          <p:cNvPr id="11" name="TextBox 10"/>
          <p:cNvSpPr txBox="1"/>
          <p:nvPr/>
        </p:nvSpPr>
        <p:spPr>
          <a:xfrm>
            <a:off x="457200" y="2651760"/>
            <a:ext cx="1828800" cy="274320"/>
          </a:xfrm>
          <a:prstGeom prst="rect">
            <a:avLst/>
          </a:prstGeom>
          <a:noFill/>
        </p:spPr>
        <p:txBody>
          <a:bodyPr wrap="square">
            <a:spAutoFit/>
          </a:bodyPr>
          <a:lstStyle/>
          <a:p>
            <a:pPr algn="l"/>
            <a:r>
              <a:rPr sz="1050" b="1" i="0">
                <a:solidFill>
                  <a:srgbClr val="00C4CC"/>
                </a:solidFill>
                <a:latin typeface="Calibri"/>
              </a:rPr>
              <a:t>GET /classes</a:t>
            </a:r>
          </a:p>
        </p:txBody>
      </p:sp>
      <p:sp>
        <p:nvSpPr>
          <p:cNvPr id="12" name="TextBox 11"/>
          <p:cNvSpPr txBox="1"/>
          <p:nvPr/>
        </p:nvSpPr>
        <p:spPr>
          <a:xfrm>
            <a:off x="2423160" y="2651760"/>
            <a:ext cx="3291840" cy="502920"/>
          </a:xfrm>
          <a:prstGeom prst="rect">
            <a:avLst/>
          </a:prstGeom>
          <a:noFill/>
        </p:spPr>
        <p:txBody>
          <a:bodyPr wrap="square">
            <a:spAutoFit/>
          </a:bodyPr>
          <a:lstStyle/>
          <a:p>
            <a:pPr algn="l"/>
            <a:r>
              <a:rPr sz="1000" b="0" i="0">
                <a:solidFill>
                  <a:srgbClr val="8B95A7"/>
                </a:solidFill>
                <a:latin typeface="Calibri"/>
              </a:rPr>
              <a:t>Returns list of 15 supported disease classes with metadata.</a:t>
            </a:r>
          </a:p>
        </p:txBody>
      </p:sp>
      <p:sp>
        <p:nvSpPr>
          <p:cNvPr id="13" name="TextBox 12"/>
          <p:cNvSpPr txBox="1"/>
          <p:nvPr/>
        </p:nvSpPr>
        <p:spPr>
          <a:xfrm>
            <a:off x="457200" y="3200400"/>
            <a:ext cx="1828800" cy="274320"/>
          </a:xfrm>
          <a:prstGeom prst="rect">
            <a:avLst/>
          </a:prstGeom>
          <a:noFill/>
        </p:spPr>
        <p:txBody>
          <a:bodyPr wrap="square">
            <a:spAutoFit/>
          </a:bodyPr>
          <a:lstStyle/>
          <a:p>
            <a:pPr algn="l"/>
            <a:r>
              <a:rPr sz="1050" b="1" i="0">
                <a:solidFill>
                  <a:srgbClr val="00C4CC"/>
                </a:solidFill>
                <a:latin typeface="Calibri"/>
              </a:rPr>
              <a:t>GET /health</a:t>
            </a:r>
          </a:p>
        </p:txBody>
      </p:sp>
      <p:sp>
        <p:nvSpPr>
          <p:cNvPr id="14" name="TextBox 13"/>
          <p:cNvSpPr txBox="1"/>
          <p:nvPr/>
        </p:nvSpPr>
        <p:spPr>
          <a:xfrm>
            <a:off x="2423160" y="3200400"/>
            <a:ext cx="3291840" cy="502920"/>
          </a:xfrm>
          <a:prstGeom prst="rect">
            <a:avLst/>
          </a:prstGeom>
          <a:noFill/>
        </p:spPr>
        <p:txBody>
          <a:bodyPr wrap="square">
            <a:spAutoFit/>
          </a:bodyPr>
          <a:lstStyle/>
          <a:p>
            <a:pPr algn="l"/>
            <a:r>
              <a:rPr sz="1000" b="0" i="0">
                <a:solidFill>
                  <a:srgbClr val="8B95A7"/>
                </a:solidFill>
                <a:latin typeface="Calibri"/>
              </a:rPr>
              <a:t>Health check endpoint for container orchestration.</a:t>
            </a:r>
          </a:p>
        </p:txBody>
      </p:sp>
      <p:sp>
        <p:nvSpPr>
          <p:cNvPr id="15" name="TextBox 14"/>
          <p:cNvSpPr txBox="1"/>
          <p:nvPr/>
        </p:nvSpPr>
        <p:spPr>
          <a:xfrm>
            <a:off x="457200" y="3749040"/>
            <a:ext cx="1828800" cy="274320"/>
          </a:xfrm>
          <a:prstGeom prst="rect">
            <a:avLst/>
          </a:prstGeom>
          <a:noFill/>
        </p:spPr>
        <p:txBody>
          <a:bodyPr wrap="square">
            <a:spAutoFit/>
          </a:bodyPr>
          <a:lstStyle/>
          <a:p>
            <a:pPr algn="l"/>
            <a:r>
              <a:rPr sz="1050" b="1" i="0">
                <a:solidFill>
                  <a:srgbClr val="00C4CC"/>
                </a:solidFill>
                <a:latin typeface="Calibri"/>
              </a:rPr>
              <a:t>GET /docs</a:t>
            </a:r>
          </a:p>
        </p:txBody>
      </p:sp>
      <p:sp>
        <p:nvSpPr>
          <p:cNvPr id="16" name="TextBox 15"/>
          <p:cNvSpPr txBox="1"/>
          <p:nvPr/>
        </p:nvSpPr>
        <p:spPr>
          <a:xfrm>
            <a:off x="2423160" y="3749040"/>
            <a:ext cx="3291840" cy="502920"/>
          </a:xfrm>
          <a:prstGeom prst="rect">
            <a:avLst/>
          </a:prstGeom>
          <a:noFill/>
        </p:spPr>
        <p:txBody>
          <a:bodyPr wrap="square">
            <a:spAutoFit/>
          </a:bodyPr>
          <a:lstStyle/>
          <a:p>
            <a:pPr algn="l"/>
            <a:r>
              <a:rPr sz="1000" b="0" i="0">
                <a:solidFill>
                  <a:srgbClr val="8B95A7"/>
                </a:solidFill>
                <a:latin typeface="Calibri"/>
              </a:rPr>
              <a:t>Interactive Swagger UI for API exploration &amp; testing.</a:t>
            </a:r>
          </a:p>
        </p:txBody>
      </p:sp>
      <p:sp>
        <p:nvSpPr>
          <p:cNvPr id="17" name="TextBox 16"/>
          <p:cNvSpPr txBox="1"/>
          <p:nvPr/>
        </p:nvSpPr>
        <p:spPr>
          <a:xfrm>
            <a:off x="457200" y="4297680"/>
            <a:ext cx="1828800" cy="274320"/>
          </a:xfrm>
          <a:prstGeom prst="rect">
            <a:avLst/>
          </a:prstGeom>
          <a:noFill/>
        </p:spPr>
        <p:txBody>
          <a:bodyPr wrap="square">
            <a:spAutoFit/>
          </a:bodyPr>
          <a:lstStyle/>
          <a:p>
            <a:pPr algn="l"/>
            <a:r>
              <a:rPr sz="1050" b="1" i="0">
                <a:solidFill>
                  <a:srgbClr val="00C4CC"/>
                </a:solidFill>
                <a:latin typeface="Calibri"/>
              </a:rPr>
              <a:t>Pydantic Schemas</a:t>
            </a:r>
          </a:p>
        </p:txBody>
      </p:sp>
      <p:sp>
        <p:nvSpPr>
          <p:cNvPr id="18" name="TextBox 17"/>
          <p:cNvSpPr txBox="1"/>
          <p:nvPr/>
        </p:nvSpPr>
        <p:spPr>
          <a:xfrm>
            <a:off x="2423160" y="4297680"/>
            <a:ext cx="3291840" cy="502920"/>
          </a:xfrm>
          <a:prstGeom prst="rect">
            <a:avLst/>
          </a:prstGeom>
          <a:noFill/>
        </p:spPr>
        <p:txBody>
          <a:bodyPr wrap="square">
            <a:spAutoFit/>
          </a:bodyPr>
          <a:lstStyle/>
          <a:p>
            <a:pPr algn="l"/>
            <a:r>
              <a:rPr sz="1000" b="0" i="0">
                <a:solidFill>
                  <a:srgbClr val="8B95A7"/>
                </a:solidFill>
                <a:latin typeface="Calibri"/>
              </a:rPr>
              <a:t>PredictionRequest, PredictionResponse, ExplainabilityOutput — strict validation.</a:t>
            </a:r>
          </a:p>
        </p:txBody>
      </p:sp>
      <p:sp>
        <p:nvSpPr>
          <p:cNvPr id="19" name="TextBox 18"/>
          <p:cNvSpPr txBox="1"/>
          <p:nvPr/>
        </p:nvSpPr>
        <p:spPr>
          <a:xfrm>
            <a:off x="457200" y="4846320"/>
            <a:ext cx="1828800" cy="274320"/>
          </a:xfrm>
          <a:prstGeom prst="rect">
            <a:avLst/>
          </a:prstGeom>
          <a:noFill/>
        </p:spPr>
        <p:txBody>
          <a:bodyPr wrap="square">
            <a:spAutoFit/>
          </a:bodyPr>
          <a:lstStyle/>
          <a:p>
            <a:pPr algn="l"/>
            <a:r>
              <a:rPr sz="1050" b="1" i="0">
                <a:solidFill>
                  <a:srgbClr val="00C4CC"/>
                </a:solidFill>
                <a:latin typeface="Calibri"/>
              </a:rPr>
              <a:t>ONNX Export</a:t>
            </a:r>
          </a:p>
        </p:txBody>
      </p:sp>
      <p:sp>
        <p:nvSpPr>
          <p:cNvPr id="20" name="TextBox 19"/>
          <p:cNvSpPr txBox="1"/>
          <p:nvPr/>
        </p:nvSpPr>
        <p:spPr>
          <a:xfrm>
            <a:off x="2423160" y="4846320"/>
            <a:ext cx="3291840" cy="502920"/>
          </a:xfrm>
          <a:prstGeom prst="rect">
            <a:avLst/>
          </a:prstGeom>
          <a:noFill/>
        </p:spPr>
        <p:txBody>
          <a:bodyPr wrap="square">
            <a:spAutoFit/>
          </a:bodyPr>
          <a:lstStyle/>
          <a:p>
            <a:pPr algn="l"/>
            <a:r>
              <a:rPr sz="1000" b="0" i="0">
                <a:solidFill>
                  <a:srgbClr val="8B95A7"/>
                </a:solidFill>
                <a:latin typeface="Calibri"/>
              </a:rPr>
              <a:t>Model exported to ONNX format for cross-platform, accelerated inference.</a:t>
            </a:r>
          </a:p>
        </p:txBody>
      </p:sp>
      <p:sp>
        <p:nvSpPr>
          <p:cNvPr id="21" name="TextBox 20"/>
          <p:cNvSpPr txBox="1"/>
          <p:nvPr/>
        </p:nvSpPr>
        <p:spPr>
          <a:xfrm>
            <a:off x="457200" y="5394960"/>
            <a:ext cx="1828800" cy="274320"/>
          </a:xfrm>
          <a:prstGeom prst="rect">
            <a:avLst/>
          </a:prstGeom>
          <a:noFill/>
        </p:spPr>
        <p:txBody>
          <a:bodyPr wrap="square">
            <a:spAutoFit/>
          </a:bodyPr>
          <a:lstStyle/>
          <a:p>
            <a:pPr algn="l"/>
            <a:r>
              <a:rPr sz="1050" b="1" i="0">
                <a:solidFill>
                  <a:srgbClr val="00C4CC"/>
                </a:solidFill>
                <a:latin typeface="Calibri"/>
              </a:rPr>
              <a:t>CORS Middleware</a:t>
            </a:r>
          </a:p>
        </p:txBody>
      </p:sp>
      <p:sp>
        <p:nvSpPr>
          <p:cNvPr id="22" name="TextBox 21"/>
          <p:cNvSpPr txBox="1"/>
          <p:nvPr/>
        </p:nvSpPr>
        <p:spPr>
          <a:xfrm>
            <a:off x="2423160" y="5394960"/>
            <a:ext cx="3291840" cy="502920"/>
          </a:xfrm>
          <a:prstGeom prst="rect">
            <a:avLst/>
          </a:prstGeom>
          <a:noFill/>
        </p:spPr>
        <p:txBody>
          <a:bodyPr wrap="square">
            <a:spAutoFit/>
          </a:bodyPr>
          <a:lstStyle/>
          <a:p>
            <a:pPr algn="l"/>
            <a:r>
              <a:rPr sz="1000" b="0" i="0">
                <a:solidFill>
                  <a:srgbClr val="8B95A7"/>
                </a:solidFill>
                <a:latin typeface="Calibri"/>
              </a:rPr>
              <a:t>Configurable CORS for React frontend &amp; third-party integrations.</a:t>
            </a:r>
          </a:p>
        </p:txBody>
      </p:sp>
      <p:sp>
        <p:nvSpPr>
          <p:cNvPr id="23" name="TextBox 22"/>
          <p:cNvSpPr txBox="1"/>
          <p:nvPr/>
        </p:nvSpPr>
        <p:spPr>
          <a:xfrm>
            <a:off x="457200" y="5943600"/>
            <a:ext cx="1828800" cy="274320"/>
          </a:xfrm>
          <a:prstGeom prst="rect">
            <a:avLst/>
          </a:prstGeom>
          <a:noFill/>
        </p:spPr>
        <p:txBody>
          <a:bodyPr wrap="square">
            <a:spAutoFit/>
          </a:bodyPr>
          <a:lstStyle/>
          <a:p>
            <a:pPr algn="l"/>
            <a:r>
              <a:rPr sz="1050" b="1" i="0">
                <a:solidFill>
                  <a:srgbClr val="00C4CC"/>
                </a:solidFill>
                <a:latin typeface="Calibri"/>
              </a:rPr>
              <a:t>Error Handling</a:t>
            </a:r>
          </a:p>
        </p:txBody>
      </p:sp>
      <p:sp>
        <p:nvSpPr>
          <p:cNvPr id="24" name="TextBox 23"/>
          <p:cNvSpPr txBox="1"/>
          <p:nvPr/>
        </p:nvSpPr>
        <p:spPr>
          <a:xfrm>
            <a:off x="2423160" y="5943600"/>
            <a:ext cx="3291840" cy="502920"/>
          </a:xfrm>
          <a:prstGeom prst="rect">
            <a:avLst/>
          </a:prstGeom>
          <a:noFill/>
        </p:spPr>
        <p:txBody>
          <a:bodyPr wrap="square">
            <a:spAutoFit/>
          </a:bodyPr>
          <a:lstStyle/>
          <a:p>
            <a:pPr algn="l"/>
            <a:r>
              <a:rPr sz="1000" b="0" i="0">
                <a:solidFill>
                  <a:srgbClr val="8B95A7"/>
                </a:solidFill>
                <a:latin typeface="Calibri"/>
              </a:rPr>
              <a:t>HTTP 400/422/500 with graceful, non-leaking error responses.</a:t>
            </a:r>
          </a:p>
        </p:txBody>
      </p:sp>
      <p:sp>
        <p:nvSpPr>
          <p:cNvPr id="25" name="Rectangle 24"/>
          <p:cNvSpPr/>
          <p:nvPr/>
        </p:nvSpPr>
        <p:spPr>
          <a:xfrm>
            <a:off x="6080760" y="1463040"/>
            <a:ext cx="5806440" cy="51206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80760" y="1463040"/>
            <a:ext cx="5806440" cy="31750"/>
          </a:xfrm>
          <a:prstGeom prst="rect">
            <a:avLst/>
          </a:prstGeom>
          <a:solidFill>
            <a:srgbClr val="61D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1600200"/>
            <a:ext cx="5394960" cy="365760"/>
          </a:xfrm>
          <a:prstGeom prst="rect">
            <a:avLst/>
          </a:prstGeom>
          <a:noFill/>
        </p:spPr>
        <p:txBody>
          <a:bodyPr wrap="square">
            <a:spAutoFit/>
          </a:bodyPr>
          <a:lstStyle/>
          <a:p>
            <a:pPr algn="l"/>
            <a:r>
              <a:rPr sz="1500" b="1" i="0">
                <a:solidFill>
                  <a:srgbClr val="61DBFB"/>
                </a:solidFill>
                <a:latin typeface="Calibri"/>
              </a:rPr>
              <a:t>💻  React + Vite Frontend</a:t>
            </a:r>
          </a:p>
        </p:txBody>
      </p:sp>
      <p:sp>
        <p:nvSpPr>
          <p:cNvPr id="28" name="TextBox 27"/>
          <p:cNvSpPr txBox="1"/>
          <p:nvPr/>
        </p:nvSpPr>
        <p:spPr>
          <a:xfrm>
            <a:off x="6263640" y="2103120"/>
            <a:ext cx="5394960" cy="320040"/>
          </a:xfrm>
          <a:prstGeom prst="rect">
            <a:avLst/>
          </a:prstGeom>
          <a:noFill/>
        </p:spPr>
        <p:txBody>
          <a:bodyPr wrap="square">
            <a:spAutoFit/>
          </a:bodyPr>
          <a:lstStyle/>
          <a:p>
            <a:pPr algn="l"/>
            <a:r>
              <a:rPr sz="1200" b="1" i="0">
                <a:solidFill>
                  <a:srgbClr val="F0F4F8"/>
                </a:solidFill>
                <a:latin typeface="Calibri"/>
              </a:rPr>
              <a:t>Pages:</a:t>
            </a:r>
          </a:p>
        </p:txBody>
      </p:sp>
      <p:sp>
        <p:nvSpPr>
          <p:cNvPr id="29" name="Rectangle 28"/>
          <p:cNvSpPr/>
          <p:nvPr/>
        </p:nvSpPr>
        <p:spPr>
          <a:xfrm>
            <a:off x="6263640" y="2468880"/>
            <a:ext cx="5394960" cy="777240"/>
          </a:xfrm>
          <a:prstGeom prst="rect">
            <a:avLst/>
          </a:prstGeom>
          <a:solidFill>
            <a:srgbClr val="1E27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0" y="2514600"/>
            <a:ext cx="5029200" cy="320040"/>
          </a:xfrm>
          <a:prstGeom prst="rect">
            <a:avLst/>
          </a:prstGeom>
          <a:noFill/>
        </p:spPr>
        <p:txBody>
          <a:bodyPr wrap="square">
            <a:spAutoFit/>
          </a:bodyPr>
          <a:lstStyle/>
          <a:p>
            <a:pPr algn="l"/>
            <a:r>
              <a:rPr sz="1100" b="1" i="0">
                <a:solidFill>
                  <a:srgbClr val="61DBFB"/>
                </a:solidFill>
                <a:latin typeface="Calibri"/>
              </a:rPr>
              <a:t>🏠 Home Page</a:t>
            </a:r>
          </a:p>
        </p:txBody>
      </p:sp>
      <p:sp>
        <p:nvSpPr>
          <p:cNvPr id="31" name="TextBox 30"/>
          <p:cNvSpPr txBox="1"/>
          <p:nvPr/>
        </p:nvSpPr>
        <p:spPr>
          <a:xfrm>
            <a:off x="6400800" y="2834640"/>
            <a:ext cx="5029200" cy="411480"/>
          </a:xfrm>
          <a:prstGeom prst="rect">
            <a:avLst/>
          </a:prstGeom>
          <a:noFill/>
        </p:spPr>
        <p:txBody>
          <a:bodyPr wrap="square">
            <a:spAutoFit/>
          </a:bodyPr>
          <a:lstStyle/>
          <a:p>
            <a:pPr algn="l"/>
            <a:r>
              <a:rPr sz="1000" b="0" i="0">
                <a:solidFill>
                  <a:srgbClr val="8B95A7"/>
                </a:solidFill>
                <a:latin typeface="Calibri"/>
              </a:rPr>
              <a:t>Landing page with hero section, feature highlights, and tech stack overview.</a:t>
            </a:r>
          </a:p>
        </p:txBody>
      </p:sp>
      <p:sp>
        <p:nvSpPr>
          <p:cNvPr id="32" name="Rectangle 31"/>
          <p:cNvSpPr/>
          <p:nvPr/>
        </p:nvSpPr>
        <p:spPr>
          <a:xfrm>
            <a:off x="6263640" y="3337560"/>
            <a:ext cx="5394960" cy="777240"/>
          </a:xfrm>
          <a:prstGeom prst="rect">
            <a:avLst/>
          </a:prstGeom>
          <a:solidFill>
            <a:srgbClr val="1E27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0" y="3383280"/>
            <a:ext cx="5029200" cy="320040"/>
          </a:xfrm>
          <a:prstGeom prst="rect">
            <a:avLst/>
          </a:prstGeom>
          <a:noFill/>
        </p:spPr>
        <p:txBody>
          <a:bodyPr wrap="square">
            <a:spAutoFit/>
          </a:bodyPr>
          <a:lstStyle/>
          <a:p>
            <a:pPr algn="l"/>
            <a:r>
              <a:rPr sz="1100" b="1" i="0">
                <a:solidFill>
                  <a:srgbClr val="61DBFB"/>
                </a:solidFill>
                <a:latin typeface="Calibri"/>
              </a:rPr>
              <a:t>🔬 Analyze Page</a:t>
            </a:r>
          </a:p>
        </p:txBody>
      </p:sp>
      <p:sp>
        <p:nvSpPr>
          <p:cNvPr id="34" name="TextBox 33"/>
          <p:cNvSpPr txBox="1"/>
          <p:nvPr/>
        </p:nvSpPr>
        <p:spPr>
          <a:xfrm>
            <a:off x="6400800" y="3703320"/>
            <a:ext cx="5029200" cy="411480"/>
          </a:xfrm>
          <a:prstGeom prst="rect">
            <a:avLst/>
          </a:prstGeom>
          <a:noFill/>
        </p:spPr>
        <p:txBody>
          <a:bodyPr wrap="square">
            <a:spAutoFit/>
          </a:bodyPr>
          <a:lstStyle/>
          <a:p>
            <a:pPr algn="l"/>
            <a:r>
              <a:rPr sz="1000" b="0" i="0">
                <a:solidFill>
                  <a:srgbClr val="8B95A7"/>
                </a:solidFill>
                <a:latin typeface="Calibri"/>
              </a:rPr>
              <a:t>Drag-and-drop image upload, real-time prediction, XAI heatmap display with opacity slider and layer toggle.</a:t>
            </a:r>
          </a:p>
        </p:txBody>
      </p:sp>
      <p:sp>
        <p:nvSpPr>
          <p:cNvPr id="35" name="Rectangle 34"/>
          <p:cNvSpPr/>
          <p:nvPr/>
        </p:nvSpPr>
        <p:spPr>
          <a:xfrm>
            <a:off x="6263640" y="4206240"/>
            <a:ext cx="5394960" cy="777240"/>
          </a:xfrm>
          <a:prstGeom prst="rect">
            <a:avLst/>
          </a:prstGeom>
          <a:solidFill>
            <a:srgbClr val="1E27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4251960"/>
            <a:ext cx="5029200" cy="320040"/>
          </a:xfrm>
          <a:prstGeom prst="rect">
            <a:avLst/>
          </a:prstGeom>
          <a:noFill/>
        </p:spPr>
        <p:txBody>
          <a:bodyPr wrap="square">
            <a:spAutoFit/>
          </a:bodyPr>
          <a:lstStyle/>
          <a:p>
            <a:pPr algn="l"/>
            <a:r>
              <a:rPr sz="1100" b="1" i="0">
                <a:solidFill>
                  <a:srgbClr val="61DBFB"/>
                </a:solidFill>
                <a:latin typeface="Calibri"/>
              </a:rPr>
              <a:t>📊 Model Page</a:t>
            </a:r>
          </a:p>
        </p:txBody>
      </p:sp>
      <p:sp>
        <p:nvSpPr>
          <p:cNvPr id="37" name="TextBox 36"/>
          <p:cNvSpPr txBox="1"/>
          <p:nvPr/>
        </p:nvSpPr>
        <p:spPr>
          <a:xfrm>
            <a:off x="6400800" y="4572000"/>
            <a:ext cx="5029200" cy="411480"/>
          </a:xfrm>
          <a:prstGeom prst="rect">
            <a:avLst/>
          </a:prstGeom>
          <a:noFill/>
        </p:spPr>
        <p:txBody>
          <a:bodyPr wrap="square">
            <a:spAutoFit/>
          </a:bodyPr>
          <a:lstStyle/>
          <a:p>
            <a:pPr algn="l"/>
            <a:r>
              <a:rPr sz="1000" b="0" i="0">
                <a:solidFill>
                  <a:srgbClr val="8B95A7"/>
                </a:solidFill>
                <a:latin typeface="Calibri"/>
              </a:rPr>
              <a:t>Architecture details, benchmark metrics, and per-class accuracy visualization.</a:t>
            </a:r>
          </a:p>
        </p:txBody>
      </p:sp>
      <p:sp>
        <p:nvSpPr>
          <p:cNvPr id="38" name="TextBox 37"/>
          <p:cNvSpPr txBox="1"/>
          <p:nvPr/>
        </p:nvSpPr>
        <p:spPr>
          <a:xfrm>
            <a:off x="6263640" y="5166360"/>
            <a:ext cx="5394960" cy="320040"/>
          </a:xfrm>
          <a:prstGeom prst="rect">
            <a:avLst/>
          </a:prstGeom>
          <a:noFill/>
        </p:spPr>
        <p:txBody>
          <a:bodyPr wrap="square">
            <a:spAutoFit/>
          </a:bodyPr>
          <a:lstStyle/>
          <a:p>
            <a:pPr algn="l"/>
            <a:r>
              <a:rPr sz="1200" b="1" i="0">
                <a:solidFill>
                  <a:srgbClr val="F0F4F8"/>
                </a:solidFill>
                <a:latin typeface="Calibri"/>
              </a:rPr>
              <a:t>UI Features:</a:t>
            </a:r>
          </a:p>
        </p:txBody>
      </p:sp>
      <p:sp>
        <p:nvSpPr>
          <p:cNvPr id="39" name="TextBox 38"/>
          <p:cNvSpPr txBox="1"/>
          <p:nvPr/>
        </p:nvSpPr>
        <p:spPr>
          <a:xfrm>
            <a:off x="6263640" y="5532120"/>
            <a:ext cx="5394960" cy="320040"/>
          </a:xfrm>
          <a:prstGeom prst="rect">
            <a:avLst/>
          </a:prstGeom>
          <a:noFill/>
        </p:spPr>
        <p:txBody>
          <a:bodyPr wrap="square">
            <a:spAutoFit/>
          </a:bodyPr>
          <a:lstStyle/>
          <a:p>
            <a:pPr algn="l"/>
            <a:r>
              <a:rPr sz="1000" b="0" i="0">
                <a:solidFill>
                  <a:srgbClr val="8B95A7"/>
                </a:solidFill>
                <a:latin typeface="Calibri"/>
              </a:rPr>
              <a:t>🌗 Light &amp; Dark mode with persistent localStorage preference</a:t>
            </a:r>
          </a:p>
        </p:txBody>
      </p:sp>
      <p:sp>
        <p:nvSpPr>
          <p:cNvPr id="40" name="TextBox 39"/>
          <p:cNvSpPr txBox="1"/>
          <p:nvPr/>
        </p:nvSpPr>
        <p:spPr>
          <a:xfrm>
            <a:off x="6263640" y="5879592"/>
            <a:ext cx="5394960" cy="320040"/>
          </a:xfrm>
          <a:prstGeom prst="rect">
            <a:avLst/>
          </a:prstGeom>
          <a:noFill/>
        </p:spPr>
        <p:txBody>
          <a:bodyPr wrap="square">
            <a:spAutoFit/>
          </a:bodyPr>
          <a:lstStyle/>
          <a:p>
            <a:pPr algn="l"/>
            <a:r>
              <a:rPr sz="1000" b="0" i="0">
                <a:solidFill>
                  <a:srgbClr val="8B95A7"/>
                </a:solidFill>
                <a:latin typeface="Calibri"/>
              </a:rPr>
              <a:t>🎚️  Interactive XAI opacity slider &amp; real-time layer switching</a:t>
            </a:r>
          </a:p>
        </p:txBody>
      </p:sp>
      <p:sp>
        <p:nvSpPr>
          <p:cNvPr id="41" name="TextBox 40"/>
          <p:cNvSpPr txBox="1"/>
          <p:nvPr/>
        </p:nvSpPr>
        <p:spPr>
          <a:xfrm>
            <a:off x="6263640" y="6227064"/>
            <a:ext cx="5394960" cy="320040"/>
          </a:xfrm>
          <a:prstGeom prst="rect">
            <a:avLst/>
          </a:prstGeom>
          <a:noFill/>
        </p:spPr>
        <p:txBody>
          <a:bodyPr wrap="square">
            <a:spAutoFit/>
          </a:bodyPr>
          <a:lstStyle/>
          <a:p>
            <a:pPr algn="l"/>
            <a:r>
              <a:rPr sz="1000" b="0" i="0">
                <a:solidFill>
                  <a:srgbClr val="8B95A7"/>
                </a:solidFill>
                <a:latin typeface="Calibri"/>
              </a:rPr>
              <a:t>📐 8pt symmetrical grid design system</a:t>
            </a:r>
          </a:p>
        </p:txBody>
      </p:sp>
      <p:sp>
        <p:nvSpPr>
          <p:cNvPr id="42" name="TextBox 41"/>
          <p:cNvSpPr txBox="1"/>
          <p:nvPr/>
        </p:nvSpPr>
        <p:spPr>
          <a:xfrm>
            <a:off x="6263640" y="6574536"/>
            <a:ext cx="5394960" cy="320040"/>
          </a:xfrm>
          <a:prstGeom prst="rect">
            <a:avLst/>
          </a:prstGeom>
          <a:noFill/>
        </p:spPr>
        <p:txBody>
          <a:bodyPr wrap="square">
            <a:spAutoFit/>
          </a:bodyPr>
          <a:lstStyle/>
          <a:p>
            <a:pPr algn="l"/>
            <a:r>
              <a:rPr sz="1000" b="0" i="0">
                <a:solidFill>
                  <a:srgbClr val="8B95A7"/>
                </a:solidFill>
                <a:latin typeface="Calibri"/>
              </a:rPr>
              <a:t>📱 Responsive layout (mobile + desktop)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F59E0B"/>
                </a:solidFill>
                <a:latin typeface="Calibri"/>
              </a:rPr>
              <a:t>10</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Project Roadmap &amp; Timeline</a:t>
            </a:r>
          </a:p>
        </p:txBody>
      </p:sp>
      <p:sp>
        <p:nvSpPr>
          <p:cNvPr id="5" name="Rectangle 4"/>
          <p:cNvSpPr/>
          <p:nvPr/>
        </p:nvSpPr>
        <p:spPr>
          <a:xfrm>
            <a:off x="274320" y="1161288"/>
            <a:ext cx="438912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508760"/>
            <a:ext cx="3749039" cy="23317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508760"/>
            <a:ext cx="3749039"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1600200"/>
            <a:ext cx="2468880" cy="347472"/>
          </a:xfrm>
          <a:prstGeom prst="rect">
            <a:avLst/>
          </a:prstGeom>
          <a:noFill/>
        </p:spPr>
        <p:txBody>
          <a:bodyPr wrap="square">
            <a:spAutoFit/>
          </a:bodyPr>
          <a:lstStyle/>
          <a:p>
            <a:pPr algn="l"/>
            <a:r>
              <a:rPr sz="1200" b="1" i="0">
                <a:solidFill>
                  <a:srgbClr val="00E67A"/>
                </a:solidFill>
                <a:latin typeface="Calibri"/>
              </a:rPr>
              <a:t>Phase 1 — Foundation</a:t>
            </a:r>
          </a:p>
        </p:txBody>
      </p:sp>
      <p:sp>
        <p:nvSpPr>
          <p:cNvPr id="9" name="TextBox 8"/>
          <p:cNvSpPr txBox="1"/>
          <p:nvPr/>
        </p:nvSpPr>
        <p:spPr>
          <a:xfrm>
            <a:off x="2926080" y="1600200"/>
            <a:ext cx="1005840" cy="347472"/>
          </a:xfrm>
          <a:prstGeom prst="rect">
            <a:avLst/>
          </a:prstGeom>
          <a:noFill/>
        </p:spPr>
        <p:txBody>
          <a:bodyPr wrap="square">
            <a:spAutoFit/>
          </a:bodyPr>
          <a:lstStyle/>
          <a:p>
            <a:pPr algn="r"/>
            <a:r>
              <a:rPr sz="900" b="1" i="0">
                <a:solidFill>
                  <a:srgbClr val="00E67A"/>
                </a:solidFill>
                <a:latin typeface="Calibri"/>
              </a:rPr>
              <a:t>✅ COMPLETE</a:t>
            </a:r>
          </a:p>
        </p:txBody>
      </p:sp>
      <p:sp>
        <p:nvSpPr>
          <p:cNvPr id="10" name="TextBox 9"/>
          <p:cNvSpPr txBox="1"/>
          <p:nvPr/>
        </p:nvSpPr>
        <p:spPr>
          <a:xfrm>
            <a:off x="384048" y="1947672"/>
            <a:ext cx="3657600" cy="256032"/>
          </a:xfrm>
          <a:prstGeom prst="rect">
            <a:avLst/>
          </a:prstGeom>
          <a:noFill/>
        </p:spPr>
        <p:txBody>
          <a:bodyPr wrap="square">
            <a:spAutoFit/>
          </a:bodyPr>
          <a:lstStyle/>
          <a:p>
            <a:pPr algn="l"/>
            <a:r>
              <a:rPr sz="900" b="0" i="1">
                <a:solidFill>
                  <a:srgbClr val="8B95A7"/>
                </a:solidFill>
                <a:latin typeface="Calibri"/>
              </a:rPr>
              <a:t>Weeks 1–3</a:t>
            </a:r>
          </a:p>
        </p:txBody>
      </p:sp>
      <p:sp>
        <p:nvSpPr>
          <p:cNvPr id="11" name="TextBox 10"/>
          <p:cNvSpPr txBox="1"/>
          <p:nvPr/>
        </p:nvSpPr>
        <p:spPr>
          <a:xfrm>
            <a:off x="384048" y="2258568"/>
            <a:ext cx="3547872" cy="347472"/>
          </a:xfrm>
          <a:prstGeom prst="rect">
            <a:avLst/>
          </a:prstGeom>
          <a:noFill/>
        </p:spPr>
        <p:txBody>
          <a:bodyPr wrap="square">
            <a:spAutoFit/>
          </a:bodyPr>
          <a:lstStyle/>
          <a:p>
            <a:pPr algn="l"/>
            <a:r>
              <a:rPr sz="1000" b="0" i="0">
                <a:solidFill>
                  <a:srgbClr val="8B95A7"/>
                </a:solidFill>
                <a:latin typeface="Calibri"/>
              </a:rPr>
              <a:t>• Project scoping &amp; architecture design</a:t>
            </a:r>
          </a:p>
        </p:txBody>
      </p:sp>
      <p:sp>
        <p:nvSpPr>
          <p:cNvPr id="12" name="TextBox 11"/>
          <p:cNvSpPr txBox="1"/>
          <p:nvPr/>
        </p:nvSpPr>
        <p:spPr>
          <a:xfrm>
            <a:off x="384048" y="2642616"/>
            <a:ext cx="3547872" cy="347472"/>
          </a:xfrm>
          <a:prstGeom prst="rect">
            <a:avLst/>
          </a:prstGeom>
          <a:noFill/>
        </p:spPr>
        <p:txBody>
          <a:bodyPr wrap="square">
            <a:spAutoFit/>
          </a:bodyPr>
          <a:lstStyle/>
          <a:p>
            <a:pPr algn="l"/>
            <a:r>
              <a:rPr sz="1000" b="0" i="0">
                <a:solidFill>
                  <a:srgbClr val="8B95A7"/>
                </a:solidFill>
                <a:latin typeface="Calibri"/>
              </a:rPr>
              <a:t>• Dataset acquisition &amp; validation (54,303 images)</a:t>
            </a:r>
          </a:p>
        </p:txBody>
      </p:sp>
      <p:sp>
        <p:nvSpPr>
          <p:cNvPr id="13" name="TextBox 12"/>
          <p:cNvSpPr txBox="1"/>
          <p:nvPr/>
        </p:nvSpPr>
        <p:spPr>
          <a:xfrm>
            <a:off x="384048" y="3026664"/>
            <a:ext cx="3547872" cy="347472"/>
          </a:xfrm>
          <a:prstGeom prst="rect">
            <a:avLst/>
          </a:prstGeom>
          <a:noFill/>
        </p:spPr>
        <p:txBody>
          <a:bodyPr wrap="square">
            <a:spAutoFit/>
          </a:bodyPr>
          <a:lstStyle/>
          <a:p>
            <a:pPr algn="l"/>
            <a:r>
              <a:rPr sz="1000" b="0" i="0">
                <a:solidFill>
                  <a:srgbClr val="8B95A7"/>
                </a:solidFill>
                <a:latin typeface="Calibri"/>
              </a:rPr>
              <a:t>• Modular codebase scaffold (12 modules)</a:t>
            </a:r>
          </a:p>
        </p:txBody>
      </p:sp>
      <p:sp>
        <p:nvSpPr>
          <p:cNvPr id="14" name="TextBox 13"/>
          <p:cNvSpPr txBox="1"/>
          <p:nvPr/>
        </p:nvSpPr>
        <p:spPr>
          <a:xfrm>
            <a:off x="384048" y="3410712"/>
            <a:ext cx="3547872" cy="347472"/>
          </a:xfrm>
          <a:prstGeom prst="rect">
            <a:avLst/>
          </a:prstGeom>
          <a:noFill/>
        </p:spPr>
        <p:txBody>
          <a:bodyPr wrap="square">
            <a:spAutoFit/>
          </a:bodyPr>
          <a:lstStyle/>
          <a:p>
            <a:pPr algn="l"/>
            <a:r>
              <a:rPr sz="1000" b="0" i="0">
                <a:solidFill>
                  <a:srgbClr val="8B95A7"/>
                </a:solidFill>
                <a:latin typeface="Calibri"/>
              </a:rPr>
              <a:t>• Preprocessing &amp; augmentation pipeline</a:t>
            </a:r>
          </a:p>
        </p:txBody>
      </p:sp>
      <p:sp>
        <p:nvSpPr>
          <p:cNvPr id="15" name="Rectangle 14"/>
          <p:cNvSpPr/>
          <p:nvPr/>
        </p:nvSpPr>
        <p:spPr>
          <a:xfrm>
            <a:off x="4251959" y="1508760"/>
            <a:ext cx="3749039" cy="23317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59" y="1508760"/>
            <a:ext cx="3749039"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7" y="1600200"/>
            <a:ext cx="2468880" cy="347472"/>
          </a:xfrm>
          <a:prstGeom prst="rect">
            <a:avLst/>
          </a:prstGeom>
          <a:noFill/>
        </p:spPr>
        <p:txBody>
          <a:bodyPr wrap="square">
            <a:spAutoFit/>
          </a:bodyPr>
          <a:lstStyle/>
          <a:p>
            <a:pPr algn="l"/>
            <a:r>
              <a:rPr sz="1200" b="1" i="0">
                <a:solidFill>
                  <a:srgbClr val="00E67A"/>
                </a:solidFill>
                <a:latin typeface="Calibri"/>
              </a:rPr>
              <a:t>Phase 2 — Core ML</a:t>
            </a:r>
          </a:p>
        </p:txBody>
      </p:sp>
      <p:sp>
        <p:nvSpPr>
          <p:cNvPr id="18" name="TextBox 17"/>
          <p:cNvSpPr txBox="1"/>
          <p:nvPr/>
        </p:nvSpPr>
        <p:spPr>
          <a:xfrm>
            <a:off x="6903719" y="1600200"/>
            <a:ext cx="1005840" cy="347472"/>
          </a:xfrm>
          <a:prstGeom prst="rect">
            <a:avLst/>
          </a:prstGeom>
          <a:noFill/>
        </p:spPr>
        <p:txBody>
          <a:bodyPr wrap="square">
            <a:spAutoFit/>
          </a:bodyPr>
          <a:lstStyle/>
          <a:p>
            <a:pPr algn="r"/>
            <a:r>
              <a:rPr sz="900" b="1" i="0">
                <a:solidFill>
                  <a:srgbClr val="00E67A"/>
                </a:solidFill>
                <a:latin typeface="Calibri"/>
              </a:rPr>
              <a:t>✅ COMPLETE</a:t>
            </a:r>
          </a:p>
        </p:txBody>
      </p:sp>
      <p:sp>
        <p:nvSpPr>
          <p:cNvPr id="19" name="TextBox 18"/>
          <p:cNvSpPr txBox="1"/>
          <p:nvPr/>
        </p:nvSpPr>
        <p:spPr>
          <a:xfrm>
            <a:off x="4361687" y="1947672"/>
            <a:ext cx="3657600" cy="256032"/>
          </a:xfrm>
          <a:prstGeom prst="rect">
            <a:avLst/>
          </a:prstGeom>
          <a:noFill/>
        </p:spPr>
        <p:txBody>
          <a:bodyPr wrap="square">
            <a:spAutoFit/>
          </a:bodyPr>
          <a:lstStyle/>
          <a:p>
            <a:pPr algn="l"/>
            <a:r>
              <a:rPr sz="900" b="0" i="1">
                <a:solidFill>
                  <a:srgbClr val="8B95A7"/>
                </a:solidFill>
                <a:latin typeface="Calibri"/>
              </a:rPr>
              <a:t>Weeks 4–7</a:t>
            </a:r>
          </a:p>
        </p:txBody>
      </p:sp>
      <p:sp>
        <p:nvSpPr>
          <p:cNvPr id="20" name="TextBox 19"/>
          <p:cNvSpPr txBox="1"/>
          <p:nvPr/>
        </p:nvSpPr>
        <p:spPr>
          <a:xfrm>
            <a:off x="4361687" y="2258568"/>
            <a:ext cx="3547872" cy="347472"/>
          </a:xfrm>
          <a:prstGeom prst="rect">
            <a:avLst/>
          </a:prstGeom>
          <a:noFill/>
        </p:spPr>
        <p:txBody>
          <a:bodyPr wrap="square">
            <a:spAutoFit/>
          </a:bodyPr>
          <a:lstStyle/>
          <a:p>
            <a:pPr algn="l"/>
            <a:r>
              <a:rPr sz="1000" b="0" i="0">
                <a:solidFill>
                  <a:srgbClr val="8B95A7"/>
                </a:solidFill>
                <a:latin typeface="Calibri"/>
              </a:rPr>
              <a:t>• EfficientNet-B0 implementation</a:t>
            </a:r>
          </a:p>
        </p:txBody>
      </p:sp>
      <p:sp>
        <p:nvSpPr>
          <p:cNvPr id="21" name="TextBox 20"/>
          <p:cNvSpPr txBox="1"/>
          <p:nvPr/>
        </p:nvSpPr>
        <p:spPr>
          <a:xfrm>
            <a:off x="4361687" y="2642616"/>
            <a:ext cx="3547872" cy="347472"/>
          </a:xfrm>
          <a:prstGeom prst="rect">
            <a:avLst/>
          </a:prstGeom>
          <a:noFill/>
        </p:spPr>
        <p:txBody>
          <a:bodyPr wrap="square">
            <a:spAutoFit/>
          </a:bodyPr>
          <a:lstStyle/>
          <a:p>
            <a:pPr algn="l"/>
            <a:r>
              <a:rPr sz="1000" b="0" i="0">
                <a:solidFill>
                  <a:srgbClr val="8B95A7"/>
                </a:solidFill>
                <a:latin typeface="Calibri"/>
              </a:rPr>
              <a:t>• Transfer learning &amp; fine-tuning pipeline</a:t>
            </a:r>
          </a:p>
        </p:txBody>
      </p:sp>
      <p:sp>
        <p:nvSpPr>
          <p:cNvPr id="22" name="TextBox 21"/>
          <p:cNvSpPr txBox="1"/>
          <p:nvPr/>
        </p:nvSpPr>
        <p:spPr>
          <a:xfrm>
            <a:off x="4361687" y="3026664"/>
            <a:ext cx="3547872" cy="347472"/>
          </a:xfrm>
          <a:prstGeom prst="rect">
            <a:avLst/>
          </a:prstGeom>
          <a:noFill/>
        </p:spPr>
        <p:txBody>
          <a:bodyPr wrap="square">
            <a:spAutoFit/>
          </a:bodyPr>
          <a:lstStyle/>
          <a:p>
            <a:pPr algn="l"/>
            <a:r>
              <a:rPr sz="1000" b="0" i="0">
                <a:solidFill>
                  <a:srgbClr val="8B95A7"/>
                </a:solidFill>
                <a:latin typeface="Calibri"/>
              </a:rPr>
              <a:t>• Training to 99.48% test accuracy</a:t>
            </a:r>
          </a:p>
        </p:txBody>
      </p:sp>
      <p:sp>
        <p:nvSpPr>
          <p:cNvPr id="23" name="TextBox 22"/>
          <p:cNvSpPr txBox="1"/>
          <p:nvPr/>
        </p:nvSpPr>
        <p:spPr>
          <a:xfrm>
            <a:off x="4361687" y="3410712"/>
            <a:ext cx="3547872" cy="347472"/>
          </a:xfrm>
          <a:prstGeom prst="rect">
            <a:avLst/>
          </a:prstGeom>
          <a:noFill/>
        </p:spPr>
        <p:txBody>
          <a:bodyPr wrap="square">
            <a:spAutoFit/>
          </a:bodyPr>
          <a:lstStyle/>
          <a:p>
            <a:pPr algn="l"/>
            <a:r>
              <a:rPr sz="1000" b="0" i="0">
                <a:solidFill>
                  <a:srgbClr val="8B95A7"/>
                </a:solidFill>
                <a:latin typeface="Calibri"/>
              </a:rPr>
              <a:t>• ONNX export &amp; checkpoint management</a:t>
            </a:r>
          </a:p>
        </p:txBody>
      </p:sp>
      <p:sp>
        <p:nvSpPr>
          <p:cNvPr id="24" name="Rectangle 23"/>
          <p:cNvSpPr/>
          <p:nvPr/>
        </p:nvSpPr>
        <p:spPr>
          <a:xfrm>
            <a:off x="8229598" y="4023360"/>
            <a:ext cx="3749039" cy="23317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598" y="4023360"/>
            <a:ext cx="3749039"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39326" y="4114800"/>
            <a:ext cx="2468880" cy="347472"/>
          </a:xfrm>
          <a:prstGeom prst="rect">
            <a:avLst/>
          </a:prstGeom>
          <a:noFill/>
        </p:spPr>
        <p:txBody>
          <a:bodyPr wrap="square">
            <a:spAutoFit/>
          </a:bodyPr>
          <a:lstStyle/>
          <a:p>
            <a:pPr algn="l"/>
            <a:r>
              <a:rPr sz="1200" b="1" i="0">
                <a:solidFill>
                  <a:srgbClr val="00E67A"/>
                </a:solidFill>
                <a:latin typeface="Calibri"/>
              </a:rPr>
              <a:t>Phase 3 — XAI Engine</a:t>
            </a:r>
          </a:p>
        </p:txBody>
      </p:sp>
      <p:sp>
        <p:nvSpPr>
          <p:cNvPr id="27" name="TextBox 26"/>
          <p:cNvSpPr txBox="1"/>
          <p:nvPr/>
        </p:nvSpPr>
        <p:spPr>
          <a:xfrm>
            <a:off x="10881358" y="4114800"/>
            <a:ext cx="1005840" cy="347472"/>
          </a:xfrm>
          <a:prstGeom prst="rect">
            <a:avLst/>
          </a:prstGeom>
          <a:noFill/>
        </p:spPr>
        <p:txBody>
          <a:bodyPr wrap="square">
            <a:spAutoFit/>
          </a:bodyPr>
          <a:lstStyle/>
          <a:p>
            <a:pPr algn="r"/>
            <a:r>
              <a:rPr sz="900" b="1" i="0">
                <a:solidFill>
                  <a:srgbClr val="00E67A"/>
                </a:solidFill>
                <a:latin typeface="Calibri"/>
              </a:rPr>
              <a:t>✅ COMPLETE</a:t>
            </a:r>
          </a:p>
        </p:txBody>
      </p:sp>
      <p:sp>
        <p:nvSpPr>
          <p:cNvPr id="28" name="TextBox 27"/>
          <p:cNvSpPr txBox="1"/>
          <p:nvPr/>
        </p:nvSpPr>
        <p:spPr>
          <a:xfrm>
            <a:off x="8339326" y="4462272"/>
            <a:ext cx="3657600" cy="256032"/>
          </a:xfrm>
          <a:prstGeom prst="rect">
            <a:avLst/>
          </a:prstGeom>
          <a:noFill/>
        </p:spPr>
        <p:txBody>
          <a:bodyPr wrap="square">
            <a:spAutoFit/>
          </a:bodyPr>
          <a:lstStyle/>
          <a:p>
            <a:pPr algn="l"/>
            <a:r>
              <a:rPr sz="900" b="0" i="1">
                <a:solidFill>
                  <a:srgbClr val="8B95A7"/>
                </a:solidFill>
                <a:latin typeface="Calibri"/>
              </a:rPr>
              <a:t>Weeks 8–10</a:t>
            </a:r>
          </a:p>
        </p:txBody>
      </p:sp>
      <p:sp>
        <p:nvSpPr>
          <p:cNvPr id="29" name="TextBox 28"/>
          <p:cNvSpPr txBox="1"/>
          <p:nvPr/>
        </p:nvSpPr>
        <p:spPr>
          <a:xfrm>
            <a:off x="8339326" y="4773168"/>
            <a:ext cx="3547872" cy="347472"/>
          </a:xfrm>
          <a:prstGeom prst="rect">
            <a:avLst/>
          </a:prstGeom>
          <a:noFill/>
        </p:spPr>
        <p:txBody>
          <a:bodyPr wrap="square">
            <a:spAutoFit/>
          </a:bodyPr>
          <a:lstStyle/>
          <a:p>
            <a:pPr algn="l"/>
            <a:r>
              <a:rPr sz="1000" b="0" i="0">
                <a:solidFill>
                  <a:srgbClr val="8B95A7"/>
                </a:solidFill>
                <a:latin typeface="Calibri"/>
              </a:rPr>
              <a:t>• Grad-CAM hooks + heatmap generation</a:t>
            </a:r>
          </a:p>
        </p:txBody>
      </p:sp>
      <p:sp>
        <p:nvSpPr>
          <p:cNvPr id="30" name="TextBox 29"/>
          <p:cNvSpPr txBox="1"/>
          <p:nvPr/>
        </p:nvSpPr>
        <p:spPr>
          <a:xfrm>
            <a:off x="8339326" y="5157216"/>
            <a:ext cx="3547872" cy="347472"/>
          </a:xfrm>
          <a:prstGeom prst="rect">
            <a:avLst/>
          </a:prstGeom>
          <a:noFill/>
        </p:spPr>
        <p:txBody>
          <a:bodyPr wrap="square">
            <a:spAutoFit/>
          </a:bodyPr>
          <a:lstStyle/>
          <a:p>
            <a:pPr algn="l"/>
            <a:r>
              <a:rPr sz="1000" b="0" i="0">
                <a:solidFill>
                  <a:srgbClr val="8B95A7"/>
                </a:solidFill>
                <a:latin typeface="Calibri"/>
              </a:rPr>
              <a:t>• Integrated Gradients (20-step, MPS/CUDA)</a:t>
            </a:r>
          </a:p>
        </p:txBody>
      </p:sp>
      <p:sp>
        <p:nvSpPr>
          <p:cNvPr id="31" name="TextBox 30"/>
          <p:cNvSpPr txBox="1"/>
          <p:nvPr/>
        </p:nvSpPr>
        <p:spPr>
          <a:xfrm>
            <a:off x="8339326" y="5541264"/>
            <a:ext cx="3547872" cy="347472"/>
          </a:xfrm>
          <a:prstGeom prst="rect">
            <a:avLst/>
          </a:prstGeom>
          <a:noFill/>
        </p:spPr>
        <p:txBody>
          <a:bodyPr wrap="square">
            <a:spAutoFit/>
          </a:bodyPr>
          <a:lstStyle/>
          <a:p>
            <a:pPr algn="l"/>
            <a:r>
              <a:rPr sz="1000" b="0" i="0">
                <a:solidFill>
                  <a:srgbClr val="8B95A7"/>
                </a:solidFill>
                <a:latin typeface="Calibri"/>
              </a:rPr>
              <a:t>• SHAP 8×8 occlusion explainer</a:t>
            </a:r>
          </a:p>
        </p:txBody>
      </p:sp>
      <p:sp>
        <p:nvSpPr>
          <p:cNvPr id="32" name="TextBox 31"/>
          <p:cNvSpPr txBox="1"/>
          <p:nvPr/>
        </p:nvSpPr>
        <p:spPr>
          <a:xfrm>
            <a:off x="8339326" y="5925312"/>
            <a:ext cx="3547872" cy="347472"/>
          </a:xfrm>
          <a:prstGeom prst="rect">
            <a:avLst/>
          </a:prstGeom>
          <a:noFill/>
        </p:spPr>
        <p:txBody>
          <a:bodyPr wrap="square">
            <a:spAutoFit/>
          </a:bodyPr>
          <a:lstStyle/>
          <a:p>
            <a:pPr algn="l"/>
            <a:r>
              <a:rPr sz="1000" b="0" i="0">
                <a:solidFill>
                  <a:srgbClr val="8B95A7"/>
                </a:solidFill>
                <a:latin typeface="Calibri"/>
              </a:rPr>
              <a:t>• Visualizer overlay (OpenCV COLORMAP_JET)</a:t>
            </a:r>
          </a:p>
        </p:txBody>
      </p:sp>
      <p:sp>
        <p:nvSpPr>
          <p:cNvPr id="33" name="Rectangle 32"/>
          <p:cNvSpPr/>
          <p:nvPr/>
        </p:nvSpPr>
        <p:spPr>
          <a:xfrm>
            <a:off x="274320" y="4023360"/>
            <a:ext cx="3749039" cy="23317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74320" y="4023360"/>
            <a:ext cx="3749039"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4048" y="4114800"/>
            <a:ext cx="2468880" cy="347472"/>
          </a:xfrm>
          <a:prstGeom prst="rect">
            <a:avLst/>
          </a:prstGeom>
          <a:noFill/>
        </p:spPr>
        <p:txBody>
          <a:bodyPr wrap="square">
            <a:spAutoFit/>
          </a:bodyPr>
          <a:lstStyle/>
          <a:p>
            <a:pPr algn="l"/>
            <a:r>
              <a:rPr sz="1200" b="1" i="0">
                <a:solidFill>
                  <a:srgbClr val="00E67A"/>
                </a:solidFill>
                <a:latin typeface="Calibri"/>
              </a:rPr>
              <a:t>Phase 4 — API + LLM</a:t>
            </a:r>
          </a:p>
        </p:txBody>
      </p:sp>
      <p:sp>
        <p:nvSpPr>
          <p:cNvPr id="36" name="TextBox 35"/>
          <p:cNvSpPr txBox="1"/>
          <p:nvPr/>
        </p:nvSpPr>
        <p:spPr>
          <a:xfrm>
            <a:off x="2926080" y="4114800"/>
            <a:ext cx="1005840" cy="347472"/>
          </a:xfrm>
          <a:prstGeom prst="rect">
            <a:avLst/>
          </a:prstGeom>
          <a:noFill/>
        </p:spPr>
        <p:txBody>
          <a:bodyPr wrap="square">
            <a:spAutoFit/>
          </a:bodyPr>
          <a:lstStyle/>
          <a:p>
            <a:pPr algn="r"/>
            <a:r>
              <a:rPr sz="900" b="1" i="0">
                <a:solidFill>
                  <a:srgbClr val="00E67A"/>
                </a:solidFill>
                <a:latin typeface="Calibri"/>
              </a:rPr>
              <a:t>✅ COMPLETE</a:t>
            </a:r>
          </a:p>
        </p:txBody>
      </p:sp>
      <p:sp>
        <p:nvSpPr>
          <p:cNvPr id="37" name="TextBox 36"/>
          <p:cNvSpPr txBox="1"/>
          <p:nvPr/>
        </p:nvSpPr>
        <p:spPr>
          <a:xfrm>
            <a:off x="384048" y="4462272"/>
            <a:ext cx="3657600" cy="256032"/>
          </a:xfrm>
          <a:prstGeom prst="rect">
            <a:avLst/>
          </a:prstGeom>
          <a:noFill/>
        </p:spPr>
        <p:txBody>
          <a:bodyPr wrap="square">
            <a:spAutoFit/>
          </a:bodyPr>
          <a:lstStyle/>
          <a:p>
            <a:pPr algn="l"/>
            <a:r>
              <a:rPr sz="900" b="0" i="1">
                <a:solidFill>
                  <a:srgbClr val="8B95A7"/>
                </a:solidFill>
                <a:latin typeface="Calibri"/>
              </a:rPr>
              <a:t>Weeks 11–13</a:t>
            </a:r>
          </a:p>
        </p:txBody>
      </p:sp>
      <p:sp>
        <p:nvSpPr>
          <p:cNvPr id="38" name="TextBox 37"/>
          <p:cNvSpPr txBox="1"/>
          <p:nvPr/>
        </p:nvSpPr>
        <p:spPr>
          <a:xfrm>
            <a:off x="384048" y="4773168"/>
            <a:ext cx="3547872" cy="347472"/>
          </a:xfrm>
          <a:prstGeom prst="rect">
            <a:avLst/>
          </a:prstGeom>
          <a:noFill/>
        </p:spPr>
        <p:txBody>
          <a:bodyPr wrap="square">
            <a:spAutoFit/>
          </a:bodyPr>
          <a:lstStyle/>
          <a:p>
            <a:pPr algn="l"/>
            <a:r>
              <a:rPr sz="1000" b="0" i="0">
                <a:solidFill>
                  <a:srgbClr val="8B95A7"/>
                </a:solidFill>
                <a:latin typeface="Calibri"/>
              </a:rPr>
              <a:t>• FastAPI REST backend + Pydantic schemas</a:t>
            </a:r>
          </a:p>
        </p:txBody>
      </p:sp>
      <p:sp>
        <p:nvSpPr>
          <p:cNvPr id="39" name="TextBox 38"/>
          <p:cNvSpPr txBox="1"/>
          <p:nvPr/>
        </p:nvSpPr>
        <p:spPr>
          <a:xfrm>
            <a:off x="384048" y="5157216"/>
            <a:ext cx="3547872" cy="347472"/>
          </a:xfrm>
          <a:prstGeom prst="rect">
            <a:avLst/>
          </a:prstGeom>
          <a:noFill/>
        </p:spPr>
        <p:txBody>
          <a:bodyPr wrap="square">
            <a:spAutoFit/>
          </a:bodyPr>
          <a:lstStyle/>
          <a:p>
            <a:pPr algn="l"/>
            <a:r>
              <a:rPr sz="1000" b="0" i="0">
                <a:solidFill>
                  <a:srgbClr val="8B95A7"/>
                </a:solidFill>
                <a:latin typeface="Calibri"/>
              </a:rPr>
              <a:t>• Groq LLM integration + fallback KB</a:t>
            </a:r>
          </a:p>
        </p:txBody>
      </p:sp>
      <p:sp>
        <p:nvSpPr>
          <p:cNvPr id="40" name="TextBox 39"/>
          <p:cNvSpPr txBox="1"/>
          <p:nvPr/>
        </p:nvSpPr>
        <p:spPr>
          <a:xfrm>
            <a:off x="384048" y="5541264"/>
            <a:ext cx="3547872" cy="347472"/>
          </a:xfrm>
          <a:prstGeom prst="rect">
            <a:avLst/>
          </a:prstGeom>
          <a:noFill/>
        </p:spPr>
        <p:txBody>
          <a:bodyPr wrap="square">
            <a:spAutoFit/>
          </a:bodyPr>
          <a:lstStyle/>
          <a:p>
            <a:pPr algn="l"/>
            <a:r>
              <a:rPr sz="1000" b="0" i="0">
                <a:solidFill>
                  <a:srgbClr val="8B95A7"/>
                </a:solidFill>
                <a:latin typeface="Calibri"/>
              </a:rPr>
              <a:t>• Swagger docs &amp; CORS configuration</a:t>
            </a:r>
          </a:p>
        </p:txBody>
      </p:sp>
      <p:sp>
        <p:nvSpPr>
          <p:cNvPr id="41" name="TextBox 40"/>
          <p:cNvSpPr txBox="1"/>
          <p:nvPr/>
        </p:nvSpPr>
        <p:spPr>
          <a:xfrm>
            <a:off x="384048" y="5925312"/>
            <a:ext cx="3547872" cy="347472"/>
          </a:xfrm>
          <a:prstGeom prst="rect">
            <a:avLst/>
          </a:prstGeom>
          <a:noFill/>
        </p:spPr>
        <p:txBody>
          <a:bodyPr wrap="square">
            <a:spAutoFit/>
          </a:bodyPr>
          <a:lstStyle/>
          <a:p>
            <a:pPr algn="l"/>
            <a:r>
              <a:rPr sz="1000" b="0" i="0">
                <a:solidFill>
                  <a:srgbClr val="8B95A7"/>
                </a:solidFill>
                <a:latin typeface="Calibri"/>
              </a:rPr>
              <a:t>• End-to-end integration testing</a:t>
            </a:r>
          </a:p>
        </p:txBody>
      </p:sp>
      <p:sp>
        <p:nvSpPr>
          <p:cNvPr id="42" name="Rectangle 41"/>
          <p:cNvSpPr/>
          <p:nvPr/>
        </p:nvSpPr>
        <p:spPr>
          <a:xfrm>
            <a:off x="4251959" y="6537960"/>
            <a:ext cx="3749039" cy="23317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251959" y="6537960"/>
            <a:ext cx="3749039"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61687" y="6629400"/>
            <a:ext cx="2468880" cy="347472"/>
          </a:xfrm>
          <a:prstGeom prst="rect">
            <a:avLst/>
          </a:prstGeom>
          <a:noFill/>
        </p:spPr>
        <p:txBody>
          <a:bodyPr wrap="square">
            <a:spAutoFit/>
          </a:bodyPr>
          <a:lstStyle/>
          <a:p>
            <a:pPr algn="l"/>
            <a:r>
              <a:rPr sz="1200" b="1" i="0">
                <a:solidFill>
                  <a:srgbClr val="F59E0B"/>
                </a:solidFill>
                <a:latin typeface="Calibri"/>
              </a:rPr>
              <a:t>Phase 5 — Frontend</a:t>
            </a:r>
          </a:p>
        </p:txBody>
      </p:sp>
      <p:sp>
        <p:nvSpPr>
          <p:cNvPr id="45" name="TextBox 44"/>
          <p:cNvSpPr txBox="1"/>
          <p:nvPr/>
        </p:nvSpPr>
        <p:spPr>
          <a:xfrm>
            <a:off x="6903719" y="6629400"/>
            <a:ext cx="1005840" cy="347472"/>
          </a:xfrm>
          <a:prstGeom prst="rect">
            <a:avLst/>
          </a:prstGeom>
          <a:noFill/>
        </p:spPr>
        <p:txBody>
          <a:bodyPr wrap="square">
            <a:spAutoFit/>
          </a:bodyPr>
          <a:lstStyle/>
          <a:p>
            <a:pPr algn="r"/>
            <a:r>
              <a:rPr sz="900" b="1" i="0">
                <a:solidFill>
                  <a:srgbClr val="F59E0B"/>
                </a:solidFill>
                <a:latin typeface="Calibri"/>
              </a:rPr>
              <a:t>🔄 IN PROGRESS</a:t>
            </a:r>
          </a:p>
        </p:txBody>
      </p:sp>
      <p:sp>
        <p:nvSpPr>
          <p:cNvPr id="46" name="TextBox 45"/>
          <p:cNvSpPr txBox="1"/>
          <p:nvPr/>
        </p:nvSpPr>
        <p:spPr>
          <a:xfrm>
            <a:off x="4361687" y="6976872"/>
            <a:ext cx="3657600" cy="256032"/>
          </a:xfrm>
          <a:prstGeom prst="rect">
            <a:avLst/>
          </a:prstGeom>
          <a:noFill/>
        </p:spPr>
        <p:txBody>
          <a:bodyPr wrap="square">
            <a:spAutoFit/>
          </a:bodyPr>
          <a:lstStyle/>
          <a:p>
            <a:pPr algn="l"/>
            <a:r>
              <a:rPr sz="900" b="0" i="1">
                <a:solidFill>
                  <a:srgbClr val="8B95A7"/>
                </a:solidFill>
                <a:latin typeface="Calibri"/>
              </a:rPr>
              <a:t>Weeks 14–16</a:t>
            </a:r>
          </a:p>
        </p:txBody>
      </p:sp>
      <p:sp>
        <p:nvSpPr>
          <p:cNvPr id="47" name="TextBox 46"/>
          <p:cNvSpPr txBox="1"/>
          <p:nvPr/>
        </p:nvSpPr>
        <p:spPr>
          <a:xfrm>
            <a:off x="4361687" y="7287768"/>
            <a:ext cx="3547872" cy="347472"/>
          </a:xfrm>
          <a:prstGeom prst="rect">
            <a:avLst/>
          </a:prstGeom>
          <a:noFill/>
        </p:spPr>
        <p:txBody>
          <a:bodyPr wrap="square">
            <a:spAutoFit/>
          </a:bodyPr>
          <a:lstStyle/>
          <a:p>
            <a:pPr algn="l"/>
            <a:r>
              <a:rPr sz="1000" b="0" i="0">
                <a:solidFill>
                  <a:srgbClr val="8B95A7"/>
                </a:solidFill>
                <a:latin typeface="Calibri"/>
              </a:rPr>
              <a:t>• React + Vite SaaS UI development</a:t>
            </a:r>
          </a:p>
        </p:txBody>
      </p:sp>
      <p:sp>
        <p:nvSpPr>
          <p:cNvPr id="48" name="TextBox 47"/>
          <p:cNvSpPr txBox="1"/>
          <p:nvPr/>
        </p:nvSpPr>
        <p:spPr>
          <a:xfrm>
            <a:off x="4361687" y="7671816"/>
            <a:ext cx="3547872" cy="347472"/>
          </a:xfrm>
          <a:prstGeom prst="rect">
            <a:avLst/>
          </a:prstGeom>
          <a:noFill/>
        </p:spPr>
        <p:txBody>
          <a:bodyPr wrap="square">
            <a:spAutoFit/>
          </a:bodyPr>
          <a:lstStyle/>
          <a:p>
            <a:pPr algn="l"/>
            <a:r>
              <a:rPr sz="1000" b="0" i="0">
                <a:solidFill>
                  <a:srgbClr val="8B95A7"/>
                </a:solidFill>
                <a:latin typeface="Calibri"/>
              </a:rPr>
              <a:t>• XAI heatmap interactive viewer</a:t>
            </a:r>
          </a:p>
        </p:txBody>
      </p:sp>
      <p:sp>
        <p:nvSpPr>
          <p:cNvPr id="49" name="TextBox 48"/>
          <p:cNvSpPr txBox="1"/>
          <p:nvPr/>
        </p:nvSpPr>
        <p:spPr>
          <a:xfrm>
            <a:off x="4361687" y="8055864"/>
            <a:ext cx="3547872" cy="347472"/>
          </a:xfrm>
          <a:prstGeom prst="rect">
            <a:avLst/>
          </a:prstGeom>
          <a:noFill/>
        </p:spPr>
        <p:txBody>
          <a:bodyPr wrap="square">
            <a:spAutoFit/>
          </a:bodyPr>
          <a:lstStyle/>
          <a:p>
            <a:pPr algn="l"/>
            <a:r>
              <a:rPr sz="1000" b="0" i="0">
                <a:solidFill>
                  <a:srgbClr val="8B95A7"/>
                </a:solidFill>
                <a:latin typeface="Calibri"/>
              </a:rPr>
              <a:t>• Light/dark mode implementation</a:t>
            </a:r>
          </a:p>
        </p:txBody>
      </p:sp>
      <p:sp>
        <p:nvSpPr>
          <p:cNvPr id="50" name="TextBox 49"/>
          <p:cNvSpPr txBox="1"/>
          <p:nvPr/>
        </p:nvSpPr>
        <p:spPr>
          <a:xfrm>
            <a:off x="4361687" y="8439912"/>
            <a:ext cx="3547872" cy="347472"/>
          </a:xfrm>
          <a:prstGeom prst="rect">
            <a:avLst/>
          </a:prstGeom>
          <a:noFill/>
        </p:spPr>
        <p:txBody>
          <a:bodyPr wrap="square">
            <a:spAutoFit/>
          </a:bodyPr>
          <a:lstStyle/>
          <a:p>
            <a:pPr algn="l"/>
            <a:r>
              <a:rPr sz="1000" b="0" i="0">
                <a:solidFill>
                  <a:srgbClr val="8B95A7"/>
                </a:solidFill>
                <a:latin typeface="Calibri"/>
              </a:rPr>
              <a:t>• Responsive design &amp; UX polish</a:t>
            </a:r>
          </a:p>
        </p:txBody>
      </p:sp>
      <p:sp>
        <p:nvSpPr>
          <p:cNvPr id="51" name="Rectangle 50"/>
          <p:cNvSpPr/>
          <p:nvPr/>
        </p:nvSpPr>
        <p:spPr>
          <a:xfrm>
            <a:off x="8229598" y="6537960"/>
            <a:ext cx="3749039" cy="233172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229598" y="6537960"/>
            <a:ext cx="3749039" cy="31750"/>
          </a:xfrm>
          <a:prstGeom prst="rect">
            <a:avLst/>
          </a:prstGeom>
          <a:solidFill>
            <a:srgbClr val="8B95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39326" y="6629400"/>
            <a:ext cx="2468880" cy="347472"/>
          </a:xfrm>
          <a:prstGeom prst="rect">
            <a:avLst/>
          </a:prstGeom>
          <a:noFill/>
        </p:spPr>
        <p:txBody>
          <a:bodyPr wrap="square">
            <a:spAutoFit/>
          </a:bodyPr>
          <a:lstStyle/>
          <a:p>
            <a:pPr algn="l"/>
            <a:r>
              <a:rPr sz="1200" b="1" i="0">
                <a:solidFill>
                  <a:srgbClr val="8B95A7"/>
                </a:solidFill>
                <a:latin typeface="Calibri"/>
              </a:rPr>
              <a:t>Phase 6 — Research Paper</a:t>
            </a:r>
          </a:p>
        </p:txBody>
      </p:sp>
      <p:sp>
        <p:nvSpPr>
          <p:cNvPr id="54" name="TextBox 53"/>
          <p:cNvSpPr txBox="1"/>
          <p:nvPr/>
        </p:nvSpPr>
        <p:spPr>
          <a:xfrm>
            <a:off x="10881358" y="6629400"/>
            <a:ext cx="1005840" cy="347472"/>
          </a:xfrm>
          <a:prstGeom prst="rect">
            <a:avLst/>
          </a:prstGeom>
          <a:noFill/>
        </p:spPr>
        <p:txBody>
          <a:bodyPr wrap="square">
            <a:spAutoFit/>
          </a:bodyPr>
          <a:lstStyle/>
          <a:p>
            <a:pPr algn="r"/>
            <a:r>
              <a:rPr sz="900" b="1" i="0">
                <a:solidFill>
                  <a:srgbClr val="8B95A7"/>
                </a:solidFill>
                <a:latin typeface="Calibri"/>
              </a:rPr>
              <a:t>📋 PLANNED</a:t>
            </a:r>
          </a:p>
        </p:txBody>
      </p:sp>
      <p:sp>
        <p:nvSpPr>
          <p:cNvPr id="55" name="TextBox 54"/>
          <p:cNvSpPr txBox="1"/>
          <p:nvPr/>
        </p:nvSpPr>
        <p:spPr>
          <a:xfrm>
            <a:off x="8339326" y="6976872"/>
            <a:ext cx="3657600" cy="256032"/>
          </a:xfrm>
          <a:prstGeom prst="rect">
            <a:avLst/>
          </a:prstGeom>
          <a:noFill/>
        </p:spPr>
        <p:txBody>
          <a:bodyPr wrap="square">
            <a:spAutoFit/>
          </a:bodyPr>
          <a:lstStyle/>
          <a:p>
            <a:pPr algn="l"/>
            <a:r>
              <a:rPr sz="900" b="0" i="1">
                <a:solidFill>
                  <a:srgbClr val="8B95A7"/>
                </a:solidFill>
                <a:latin typeface="Calibri"/>
              </a:rPr>
              <a:t>Weeks 17–20</a:t>
            </a:r>
          </a:p>
        </p:txBody>
      </p:sp>
      <p:sp>
        <p:nvSpPr>
          <p:cNvPr id="56" name="TextBox 55"/>
          <p:cNvSpPr txBox="1"/>
          <p:nvPr/>
        </p:nvSpPr>
        <p:spPr>
          <a:xfrm>
            <a:off x="8339326" y="7287768"/>
            <a:ext cx="3547872" cy="347472"/>
          </a:xfrm>
          <a:prstGeom prst="rect">
            <a:avLst/>
          </a:prstGeom>
          <a:noFill/>
        </p:spPr>
        <p:txBody>
          <a:bodyPr wrap="square">
            <a:spAutoFit/>
          </a:bodyPr>
          <a:lstStyle/>
          <a:p>
            <a:pPr algn="l"/>
            <a:r>
              <a:rPr sz="1000" b="0" i="0">
                <a:solidFill>
                  <a:srgbClr val="8B95A7"/>
                </a:solidFill>
                <a:latin typeface="Calibri"/>
              </a:rPr>
              <a:t>• Ablation study (Grad-CAM vs IG vs SHAP)</a:t>
            </a:r>
          </a:p>
        </p:txBody>
      </p:sp>
      <p:sp>
        <p:nvSpPr>
          <p:cNvPr id="57" name="TextBox 56"/>
          <p:cNvSpPr txBox="1"/>
          <p:nvPr/>
        </p:nvSpPr>
        <p:spPr>
          <a:xfrm>
            <a:off x="8339326" y="7671816"/>
            <a:ext cx="3547872" cy="347472"/>
          </a:xfrm>
          <a:prstGeom prst="rect">
            <a:avLst/>
          </a:prstGeom>
          <a:noFill/>
        </p:spPr>
        <p:txBody>
          <a:bodyPr wrap="square">
            <a:spAutoFit/>
          </a:bodyPr>
          <a:lstStyle/>
          <a:p>
            <a:pPr algn="l"/>
            <a:r>
              <a:rPr sz="1000" b="0" i="0">
                <a:solidFill>
                  <a:srgbClr val="8B95A7"/>
                </a:solidFill>
                <a:latin typeface="Calibri"/>
              </a:rPr>
              <a:t>• Final evaluation &amp; benchmarking</a:t>
            </a:r>
          </a:p>
        </p:txBody>
      </p:sp>
      <p:sp>
        <p:nvSpPr>
          <p:cNvPr id="58" name="TextBox 57"/>
          <p:cNvSpPr txBox="1"/>
          <p:nvPr/>
        </p:nvSpPr>
        <p:spPr>
          <a:xfrm>
            <a:off x="8339326" y="8055864"/>
            <a:ext cx="3547872" cy="347472"/>
          </a:xfrm>
          <a:prstGeom prst="rect">
            <a:avLst/>
          </a:prstGeom>
          <a:noFill/>
        </p:spPr>
        <p:txBody>
          <a:bodyPr wrap="square">
            <a:spAutoFit/>
          </a:bodyPr>
          <a:lstStyle/>
          <a:p>
            <a:pPr algn="l"/>
            <a:r>
              <a:rPr sz="1000" b="0" i="0">
                <a:solidFill>
                  <a:srgbClr val="8B95A7"/>
                </a:solidFill>
                <a:latin typeface="Calibri"/>
              </a:rPr>
              <a:t>• Research paper writeup</a:t>
            </a:r>
          </a:p>
        </p:txBody>
      </p:sp>
      <p:sp>
        <p:nvSpPr>
          <p:cNvPr id="59" name="TextBox 58"/>
          <p:cNvSpPr txBox="1"/>
          <p:nvPr/>
        </p:nvSpPr>
        <p:spPr>
          <a:xfrm>
            <a:off x="8339326" y="8439912"/>
            <a:ext cx="3547872" cy="347472"/>
          </a:xfrm>
          <a:prstGeom prst="rect">
            <a:avLst/>
          </a:prstGeom>
          <a:noFill/>
        </p:spPr>
        <p:txBody>
          <a:bodyPr wrap="square">
            <a:spAutoFit/>
          </a:bodyPr>
          <a:lstStyle/>
          <a:p>
            <a:pPr algn="l"/>
            <a:r>
              <a:rPr sz="1000" b="0" i="0">
                <a:solidFill>
                  <a:srgbClr val="8B95A7"/>
                </a:solidFill>
                <a:latin typeface="Calibri"/>
              </a:rPr>
              <a:t>• Project documentation &amp; deployment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01168"/>
            <a:ext cx="914400" cy="347472"/>
          </a:xfrm>
          <a:prstGeom prst="rect">
            <a:avLst/>
          </a:prstGeom>
          <a:noFill/>
        </p:spPr>
        <p:txBody>
          <a:bodyPr wrap="square">
            <a:spAutoFit/>
          </a:bodyPr>
          <a:lstStyle/>
          <a:p>
            <a:pPr algn="l"/>
            <a:r>
              <a:rPr sz="900" b="1" i="0">
                <a:solidFill>
                  <a:srgbClr val="00E67A"/>
                </a:solidFill>
                <a:latin typeface="Calibri"/>
              </a:rPr>
              <a:t>11</a:t>
            </a:r>
          </a:p>
        </p:txBody>
      </p:sp>
      <p:sp>
        <p:nvSpPr>
          <p:cNvPr id="4" name="TextBox 3"/>
          <p:cNvSpPr txBox="1"/>
          <p:nvPr/>
        </p:nvSpPr>
        <p:spPr>
          <a:xfrm>
            <a:off x="274320" y="502920"/>
            <a:ext cx="11612880" cy="594360"/>
          </a:xfrm>
          <a:prstGeom prst="rect">
            <a:avLst/>
          </a:prstGeom>
          <a:noFill/>
        </p:spPr>
        <p:txBody>
          <a:bodyPr wrap="square">
            <a:spAutoFit/>
          </a:bodyPr>
          <a:lstStyle/>
          <a:p>
            <a:pPr algn="l"/>
            <a:r>
              <a:rPr sz="3200" b="1" i="0">
                <a:solidFill>
                  <a:srgbClr val="F0F4F8"/>
                </a:solidFill>
                <a:latin typeface="Calibri"/>
              </a:rPr>
              <a:t>Conclusion &amp; Next Steps</a:t>
            </a:r>
          </a:p>
        </p:txBody>
      </p:sp>
      <p:sp>
        <p:nvSpPr>
          <p:cNvPr id="5" name="Rectangle 4"/>
          <p:cNvSpPr/>
          <p:nvPr/>
        </p:nvSpPr>
        <p:spPr>
          <a:xfrm>
            <a:off x="274320" y="1161288"/>
            <a:ext cx="438912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5577840" cy="51206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463040"/>
            <a:ext cx="5577840"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600200"/>
            <a:ext cx="5212080" cy="365760"/>
          </a:xfrm>
          <a:prstGeom prst="rect">
            <a:avLst/>
          </a:prstGeom>
          <a:noFill/>
        </p:spPr>
        <p:txBody>
          <a:bodyPr wrap="square">
            <a:spAutoFit/>
          </a:bodyPr>
          <a:lstStyle/>
          <a:p>
            <a:pPr algn="l"/>
            <a:r>
              <a:rPr sz="1400" b="1" i="0">
                <a:solidFill>
                  <a:srgbClr val="00E67A"/>
                </a:solidFill>
                <a:latin typeface="Calibri"/>
              </a:rPr>
              <a:t>🏆  Achievements to Date</a:t>
            </a:r>
          </a:p>
        </p:txBody>
      </p:sp>
      <p:sp>
        <p:nvSpPr>
          <p:cNvPr id="9" name="TextBox 8"/>
          <p:cNvSpPr txBox="1"/>
          <p:nvPr/>
        </p:nvSpPr>
        <p:spPr>
          <a:xfrm>
            <a:off x="457200" y="2103120"/>
            <a:ext cx="1920240" cy="274320"/>
          </a:xfrm>
          <a:prstGeom prst="rect">
            <a:avLst/>
          </a:prstGeom>
          <a:noFill/>
        </p:spPr>
        <p:txBody>
          <a:bodyPr wrap="square">
            <a:spAutoFit/>
          </a:bodyPr>
          <a:lstStyle/>
          <a:p>
            <a:pPr algn="l"/>
            <a:r>
              <a:rPr sz="1100" b="1" i="0">
                <a:solidFill>
                  <a:srgbClr val="00C4CC"/>
                </a:solidFill>
                <a:latin typeface="Calibri"/>
              </a:rPr>
              <a:t>✅  99.48% accuracy:</a:t>
            </a:r>
          </a:p>
        </p:txBody>
      </p:sp>
      <p:sp>
        <p:nvSpPr>
          <p:cNvPr id="10" name="TextBox 9"/>
          <p:cNvSpPr txBox="1"/>
          <p:nvPr/>
        </p:nvSpPr>
        <p:spPr>
          <a:xfrm>
            <a:off x="2514600" y="2103120"/>
            <a:ext cx="3200400" cy="502920"/>
          </a:xfrm>
          <a:prstGeom prst="rect">
            <a:avLst/>
          </a:prstGeom>
          <a:noFill/>
        </p:spPr>
        <p:txBody>
          <a:bodyPr wrap="square">
            <a:spAutoFit/>
          </a:bodyPr>
          <a:lstStyle/>
          <a:p>
            <a:pPr algn="l"/>
            <a:r>
              <a:rPr sz="1100" b="0" i="0">
                <a:solidFill>
                  <a:srgbClr val="8B95A7"/>
                </a:solidFill>
                <a:latin typeface="Calibri"/>
              </a:rPr>
              <a:t>across 15 plant disease classes on held-out test set</a:t>
            </a:r>
          </a:p>
        </p:txBody>
      </p:sp>
      <p:sp>
        <p:nvSpPr>
          <p:cNvPr id="11" name="TextBox 10"/>
          <p:cNvSpPr txBox="1"/>
          <p:nvPr/>
        </p:nvSpPr>
        <p:spPr>
          <a:xfrm>
            <a:off x="457200" y="2651760"/>
            <a:ext cx="1920240" cy="274320"/>
          </a:xfrm>
          <a:prstGeom prst="rect">
            <a:avLst/>
          </a:prstGeom>
          <a:noFill/>
        </p:spPr>
        <p:txBody>
          <a:bodyPr wrap="square">
            <a:spAutoFit/>
          </a:bodyPr>
          <a:lstStyle/>
          <a:p>
            <a:pPr algn="l"/>
            <a:r>
              <a:rPr sz="1100" b="1" i="0">
                <a:solidFill>
                  <a:srgbClr val="00C4CC"/>
                </a:solidFill>
                <a:latin typeface="Calibri"/>
              </a:rPr>
              <a:t>✅  Triple XAI engine:</a:t>
            </a:r>
          </a:p>
        </p:txBody>
      </p:sp>
      <p:sp>
        <p:nvSpPr>
          <p:cNvPr id="12" name="TextBox 11"/>
          <p:cNvSpPr txBox="1"/>
          <p:nvPr/>
        </p:nvSpPr>
        <p:spPr>
          <a:xfrm>
            <a:off x="2514600" y="2651760"/>
            <a:ext cx="3200400" cy="502920"/>
          </a:xfrm>
          <a:prstGeom prst="rect">
            <a:avLst/>
          </a:prstGeom>
          <a:noFill/>
        </p:spPr>
        <p:txBody>
          <a:bodyPr wrap="square">
            <a:spAutoFit/>
          </a:bodyPr>
          <a:lstStyle/>
          <a:p>
            <a:pPr algn="l"/>
            <a:r>
              <a:rPr sz="1100" b="0" i="0">
                <a:solidFill>
                  <a:srgbClr val="8B95A7"/>
                </a:solidFill>
                <a:latin typeface="Calibri"/>
              </a:rPr>
              <a:t>Grad-CAM + Integrated Gradients + SHAP fully implemented</a:t>
            </a:r>
          </a:p>
        </p:txBody>
      </p:sp>
      <p:sp>
        <p:nvSpPr>
          <p:cNvPr id="13" name="TextBox 12"/>
          <p:cNvSpPr txBox="1"/>
          <p:nvPr/>
        </p:nvSpPr>
        <p:spPr>
          <a:xfrm>
            <a:off x="457200" y="3200400"/>
            <a:ext cx="1920240" cy="274320"/>
          </a:xfrm>
          <a:prstGeom prst="rect">
            <a:avLst/>
          </a:prstGeom>
          <a:noFill/>
        </p:spPr>
        <p:txBody>
          <a:bodyPr wrap="square">
            <a:spAutoFit/>
          </a:bodyPr>
          <a:lstStyle/>
          <a:p>
            <a:pPr algn="l"/>
            <a:r>
              <a:rPr sz="1100" b="1" i="0">
                <a:solidFill>
                  <a:srgbClr val="00C4CC"/>
                </a:solidFill>
                <a:latin typeface="Calibri"/>
              </a:rPr>
              <a:t>✅  LLM integration:</a:t>
            </a:r>
          </a:p>
        </p:txBody>
      </p:sp>
      <p:sp>
        <p:nvSpPr>
          <p:cNvPr id="14" name="TextBox 13"/>
          <p:cNvSpPr txBox="1"/>
          <p:nvPr/>
        </p:nvSpPr>
        <p:spPr>
          <a:xfrm>
            <a:off x="2514600" y="3200400"/>
            <a:ext cx="3200400" cy="502920"/>
          </a:xfrm>
          <a:prstGeom prst="rect">
            <a:avLst/>
          </a:prstGeom>
          <a:noFill/>
        </p:spPr>
        <p:txBody>
          <a:bodyPr wrap="square">
            <a:spAutoFit/>
          </a:bodyPr>
          <a:lstStyle/>
          <a:p>
            <a:pPr algn="l"/>
            <a:r>
              <a:rPr sz="1100" b="0" i="0">
                <a:solidFill>
                  <a:srgbClr val="8B95A7"/>
                </a:solidFill>
                <a:latin typeface="Calibri"/>
              </a:rPr>
              <a:t>Groq llama-3.3-70b for natural language pathology reports</a:t>
            </a:r>
          </a:p>
        </p:txBody>
      </p:sp>
      <p:sp>
        <p:nvSpPr>
          <p:cNvPr id="15" name="TextBox 14"/>
          <p:cNvSpPr txBox="1"/>
          <p:nvPr/>
        </p:nvSpPr>
        <p:spPr>
          <a:xfrm>
            <a:off x="457200" y="3749040"/>
            <a:ext cx="1920240" cy="274320"/>
          </a:xfrm>
          <a:prstGeom prst="rect">
            <a:avLst/>
          </a:prstGeom>
          <a:noFill/>
        </p:spPr>
        <p:txBody>
          <a:bodyPr wrap="square">
            <a:spAutoFit/>
          </a:bodyPr>
          <a:lstStyle/>
          <a:p>
            <a:pPr algn="l"/>
            <a:r>
              <a:rPr sz="1100" b="1" i="0">
                <a:solidFill>
                  <a:srgbClr val="00C4CC"/>
                </a:solidFill>
                <a:latin typeface="Calibri"/>
              </a:rPr>
              <a:t>✅  Production API:</a:t>
            </a:r>
          </a:p>
        </p:txBody>
      </p:sp>
      <p:sp>
        <p:nvSpPr>
          <p:cNvPr id="16" name="TextBox 15"/>
          <p:cNvSpPr txBox="1"/>
          <p:nvPr/>
        </p:nvSpPr>
        <p:spPr>
          <a:xfrm>
            <a:off x="2514600" y="3749040"/>
            <a:ext cx="3200400" cy="502920"/>
          </a:xfrm>
          <a:prstGeom prst="rect">
            <a:avLst/>
          </a:prstGeom>
          <a:noFill/>
        </p:spPr>
        <p:txBody>
          <a:bodyPr wrap="square">
            <a:spAutoFit/>
          </a:bodyPr>
          <a:lstStyle/>
          <a:p>
            <a:pPr algn="l"/>
            <a:r>
              <a:rPr sz="1100" b="0" i="0">
                <a:solidFill>
                  <a:srgbClr val="8B95A7"/>
                </a:solidFill>
                <a:latin typeface="Calibri"/>
              </a:rPr>
              <a:t>FastAPI with ONNX export and &lt;45ms inference latency</a:t>
            </a:r>
          </a:p>
        </p:txBody>
      </p:sp>
      <p:sp>
        <p:nvSpPr>
          <p:cNvPr id="17" name="TextBox 16"/>
          <p:cNvSpPr txBox="1"/>
          <p:nvPr/>
        </p:nvSpPr>
        <p:spPr>
          <a:xfrm>
            <a:off x="457200" y="4297680"/>
            <a:ext cx="1920240" cy="274320"/>
          </a:xfrm>
          <a:prstGeom prst="rect">
            <a:avLst/>
          </a:prstGeom>
          <a:noFill/>
        </p:spPr>
        <p:txBody>
          <a:bodyPr wrap="square">
            <a:spAutoFit/>
          </a:bodyPr>
          <a:lstStyle/>
          <a:p>
            <a:pPr algn="l"/>
            <a:r>
              <a:rPr sz="1100" b="1" i="0">
                <a:solidFill>
                  <a:srgbClr val="00C4CC"/>
                </a:solidFill>
                <a:latin typeface="Calibri"/>
              </a:rPr>
              <a:t>✅  Modular codebase:</a:t>
            </a:r>
          </a:p>
        </p:txBody>
      </p:sp>
      <p:sp>
        <p:nvSpPr>
          <p:cNvPr id="18" name="TextBox 17"/>
          <p:cNvSpPr txBox="1"/>
          <p:nvPr/>
        </p:nvSpPr>
        <p:spPr>
          <a:xfrm>
            <a:off x="2514600" y="4297680"/>
            <a:ext cx="3200400" cy="502920"/>
          </a:xfrm>
          <a:prstGeom prst="rect">
            <a:avLst/>
          </a:prstGeom>
          <a:noFill/>
        </p:spPr>
        <p:txBody>
          <a:bodyPr wrap="square">
            <a:spAutoFit/>
          </a:bodyPr>
          <a:lstStyle/>
          <a:p>
            <a:pPr algn="l"/>
            <a:r>
              <a:rPr sz="1100" b="0" i="0">
                <a:solidFill>
                  <a:srgbClr val="8B95A7"/>
                </a:solidFill>
                <a:latin typeface="Calibri"/>
              </a:rPr>
              <a:t>12 independent modules following ML engineering best practices</a:t>
            </a:r>
          </a:p>
        </p:txBody>
      </p:sp>
      <p:sp>
        <p:nvSpPr>
          <p:cNvPr id="19" name="TextBox 18"/>
          <p:cNvSpPr txBox="1"/>
          <p:nvPr/>
        </p:nvSpPr>
        <p:spPr>
          <a:xfrm>
            <a:off x="457200" y="4846320"/>
            <a:ext cx="1920240" cy="274320"/>
          </a:xfrm>
          <a:prstGeom prst="rect">
            <a:avLst/>
          </a:prstGeom>
          <a:noFill/>
        </p:spPr>
        <p:txBody>
          <a:bodyPr wrap="square">
            <a:spAutoFit/>
          </a:bodyPr>
          <a:lstStyle/>
          <a:p>
            <a:pPr algn="l"/>
            <a:r>
              <a:rPr sz="1100" b="1" i="0">
                <a:solidFill>
                  <a:srgbClr val="00C4CC"/>
                </a:solidFill>
                <a:latin typeface="Calibri"/>
              </a:rPr>
              <a:t>✅  54,303 images:</a:t>
            </a:r>
          </a:p>
        </p:txBody>
      </p:sp>
      <p:sp>
        <p:nvSpPr>
          <p:cNvPr id="20" name="TextBox 19"/>
          <p:cNvSpPr txBox="1"/>
          <p:nvPr/>
        </p:nvSpPr>
        <p:spPr>
          <a:xfrm>
            <a:off x="2514600" y="4846320"/>
            <a:ext cx="3200400" cy="502920"/>
          </a:xfrm>
          <a:prstGeom prst="rect">
            <a:avLst/>
          </a:prstGeom>
          <a:noFill/>
        </p:spPr>
        <p:txBody>
          <a:bodyPr wrap="square">
            <a:spAutoFit/>
          </a:bodyPr>
          <a:lstStyle/>
          <a:p>
            <a:pPr algn="l"/>
            <a:r>
              <a:rPr sz="1100" b="0" i="0">
                <a:solidFill>
                  <a:srgbClr val="8B95A7"/>
                </a:solidFill>
                <a:latin typeface="Calibri"/>
              </a:rPr>
              <a:t>curated dataset across Tomato, Potato &amp; Pepper crops</a:t>
            </a:r>
          </a:p>
        </p:txBody>
      </p:sp>
      <p:sp>
        <p:nvSpPr>
          <p:cNvPr id="21" name="TextBox 20"/>
          <p:cNvSpPr txBox="1"/>
          <p:nvPr/>
        </p:nvSpPr>
        <p:spPr>
          <a:xfrm>
            <a:off x="457200" y="5394960"/>
            <a:ext cx="1920240" cy="274320"/>
          </a:xfrm>
          <a:prstGeom prst="rect">
            <a:avLst/>
          </a:prstGeom>
          <a:noFill/>
        </p:spPr>
        <p:txBody>
          <a:bodyPr wrap="square">
            <a:spAutoFit/>
          </a:bodyPr>
          <a:lstStyle/>
          <a:p>
            <a:pPr algn="l"/>
            <a:r>
              <a:rPr sz="1100" b="1" i="0">
                <a:solidFill>
                  <a:srgbClr val="00C4CC"/>
                </a:solidFill>
                <a:latin typeface="Calibri"/>
              </a:rPr>
              <a:t>✅  Research-grade eval:</a:t>
            </a:r>
          </a:p>
        </p:txBody>
      </p:sp>
      <p:sp>
        <p:nvSpPr>
          <p:cNvPr id="22" name="TextBox 21"/>
          <p:cNvSpPr txBox="1"/>
          <p:nvPr/>
        </p:nvSpPr>
        <p:spPr>
          <a:xfrm>
            <a:off x="2514600" y="5394960"/>
            <a:ext cx="3200400" cy="502920"/>
          </a:xfrm>
          <a:prstGeom prst="rect">
            <a:avLst/>
          </a:prstGeom>
          <a:noFill/>
        </p:spPr>
        <p:txBody>
          <a:bodyPr wrap="square">
            <a:spAutoFit/>
          </a:bodyPr>
          <a:lstStyle/>
          <a:p>
            <a:pPr algn="l"/>
            <a:r>
              <a:rPr sz="1100" b="0" i="0">
                <a:solidFill>
                  <a:srgbClr val="8B95A7"/>
                </a:solidFill>
                <a:latin typeface="Calibri"/>
              </a:rPr>
              <a:t>Accuracy, precision, recall, F1, confusion matrix</a:t>
            </a:r>
          </a:p>
        </p:txBody>
      </p:sp>
      <p:sp>
        <p:nvSpPr>
          <p:cNvPr id="23" name="TextBox 22"/>
          <p:cNvSpPr txBox="1"/>
          <p:nvPr/>
        </p:nvSpPr>
        <p:spPr>
          <a:xfrm>
            <a:off x="457200" y="5943600"/>
            <a:ext cx="1920240" cy="274320"/>
          </a:xfrm>
          <a:prstGeom prst="rect">
            <a:avLst/>
          </a:prstGeom>
          <a:noFill/>
        </p:spPr>
        <p:txBody>
          <a:bodyPr wrap="square">
            <a:spAutoFit/>
          </a:bodyPr>
          <a:lstStyle/>
          <a:p>
            <a:pPr algn="l"/>
            <a:r>
              <a:rPr sz="1100" b="1" i="0">
                <a:solidFill>
                  <a:srgbClr val="00C4CC"/>
                </a:solidFill>
                <a:latin typeface="Calibri"/>
              </a:rPr>
              <a:t>✅  ONNX export:</a:t>
            </a:r>
          </a:p>
        </p:txBody>
      </p:sp>
      <p:sp>
        <p:nvSpPr>
          <p:cNvPr id="24" name="TextBox 23"/>
          <p:cNvSpPr txBox="1"/>
          <p:nvPr/>
        </p:nvSpPr>
        <p:spPr>
          <a:xfrm>
            <a:off x="2514600" y="5943600"/>
            <a:ext cx="3200400" cy="502920"/>
          </a:xfrm>
          <a:prstGeom prst="rect">
            <a:avLst/>
          </a:prstGeom>
          <a:noFill/>
        </p:spPr>
        <p:txBody>
          <a:bodyPr wrap="square">
            <a:spAutoFit/>
          </a:bodyPr>
          <a:lstStyle/>
          <a:p>
            <a:pPr algn="l"/>
            <a:r>
              <a:rPr sz="1100" b="0" i="0">
                <a:solidFill>
                  <a:srgbClr val="8B95A7"/>
                </a:solidFill>
                <a:latin typeface="Calibri"/>
              </a:rPr>
              <a:t>Cross-platform deployment-ready model artifact</a:t>
            </a:r>
          </a:p>
        </p:txBody>
      </p:sp>
      <p:sp>
        <p:nvSpPr>
          <p:cNvPr id="25" name="Rectangle 24"/>
          <p:cNvSpPr/>
          <p:nvPr/>
        </p:nvSpPr>
        <p:spPr>
          <a:xfrm>
            <a:off x="6080760" y="1463040"/>
            <a:ext cx="5806440" cy="5120640"/>
          </a:xfrm>
          <a:prstGeom prst="rect">
            <a:avLst/>
          </a:prstGeom>
          <a:solidFill>
            <a:srgbClr val="161B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80760" y="1463040"/>
            <a:ext cx="5806440" cy="3175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63640" y="1600200"/>
            <a:ext cx="5394960" cy="365760"/>
          </a:xfrm>
          <a:prstGeom prst="rect">
            <a:avLst/>
          </a:prstGeom>
          <a:noFill/>
        </p:spPr>
        <p:txBody>
          <a:bodyPr wrap="square">
            <a:spAutoFit/>
          </a:bodyPr>
          <a:lstStyle/>
          <a:p>
            <a:pPr algn="l"/>
            <a:r>
              <a:rPr sz="1400" b="1" i="0">
                <a:solidFill>
                  <a:srgbClr val="F59E0B"/>
                </a:solidFill>
                <a:latin typeface="Calibri"/>
              </a:rPr>
              <a:t>🗺️  Next Steps</a:t>
            </a:r>
          </a:p>
        </p:txBody>
      </p:sp>
      <p:sp>
        <p:nvSpPr>
          <p:cNvPr id="28" name="TextBox 27"/>
          <p:cNvSpPr txBox="1"/>
          <p:nvPr/>
        </p:nvSpPr>
        <p:spPr>
          <a:xfrm>
            <a:off x="6263640" y="2103120"/>
            <a:ext cx="5394960" cy="301752"/>
          </a:xfrm>
          <a:prstGeom prst="rect">
            <a:avLst/>
          </a:prstGeom>
          <a:noFill/>
        </p:spPr>
        <p:txBody>
          <a:bodyPr wrap="square">
            <a:spAutoFit/>
          </a:bodyPr>
          <a:lstStyle/>
          <a:p>
            <a:pPr algn="l"/>
            <a:r>
              <a:rPr sz="1100" b="1" i="0">
                <a:solidFill>
                  <a:srgbClr val="F59E0B"/>
                </a:solidFill>
                <a:latin typeface="Calibri"/>
              </a:rPr>
              <a:t>▶  Frontend Polish</a:t>
            </a:r>
          </a:p>
        </p:txBody>
      </p:sp>
      <p:sp>
        <p:nvSpPr>
          <p:cNvPr id="29" name="TextBox 28"/>
          <p:cNvSpPr txBox="1"/>
          <p:nvPr/>
        </p:nvSpPr>
        <p:spPr>
          <a:xfrm>
            <a:off x="6263640" y="2404872"/>
            <a:ext cx="5394960" cy="411480"/>
          </a:xfrm>
          <a:prstGeom prst="rect">
            <a:avLst/>
          </a:prstGeom>
          <a:noFill/>
        </p:spPr>
        <p:txBody>
          <a:bodyPr wrap="square">
            <a:spAutoFit/>
          </a:bodyPr>
          <a:lstStyle/>
          <a:p>
            <a:pPr algn="l"/>
            <a:r>
              <a:rPr sz="1050" b="0" i="0">
                <a:solidFill>
                  <a:srgbClr val="8B95A7"/>
                </a:solidFill>
                <a:latin typeface="Calibri"/>
              </a:rPr>
              <a:t>Complete React + Vite SaaS UI with all interactive XAI features.</a:t>
            </a:r>
          </a:p>
        </p:txBody>
      </p:sp>
      <p:sp>
        <p:nvSpPr>
          <p:cNvPr id="30" name="TextBox 29"/>
          <p:cNvSpPr txBox="1"/>
          <p:nvPr/>
        </p:nvSpPr>
        <p:spPr>
          <a:xfrm>
            <a:off x="6263640" y="2852928"/>
            <a:ext cx="5394960" cy="301752"/>
          </a:xfrm>
          <a:prstGeom prst="rect">
            <a:avLst/>
          </a:prstGeom>
          <a:noFill/>
        </p:spPr>
        <p:txBody>
          <a:bodyPr wrap="square">
            <a:spAutoFit/>
          </a:bodyPr>
          <a:lstStyle/>
          <a:p>
            <a:pPr algn="l"/>
            <a:r>
              <a:rPr sz="1100" b="1" i="0">
                <a:solidFill>
                  <a:srgbClr val="F59E0B"/>
                </a:solidFill>
                <a:latin typeface="Calibri"/>
              </a:rPr>
              <a:t>▶  Ablation Study</a:t>
            </a:r>
          </a:p>
        </p:txBody>
      </p:sp>
      <p:sp>
        <p:nvSpPr>
          <p:cNvPr id="31" name="TextBox 30"/>
          <p:cNvSpPr txBox="1"/>
          <p:nvPr/>
        </p:nvSpPr>
        <p:spPr>
          <a:xfrm>
            <a:off x="6263640" y="3154680"/>
            <a:ext cx="5394960" cy="411480"/>
          </a:xfrm>
          <a:prstGeom prst="rect">
            <a:avLst/>
          </a:prstGeom>
          <a:noFill/>
        </p:spPr>
        <p:txBody>
          <a:bodyPr wrap="square">
            <a:spAutoFit/>
          </a:bodyPr>
          <a:lstStyle/>
          <a:p>
            <a:pPr algn="l"/>
            <a:r>
              <a:rPr sz="1050" b="0" i="0">
                <a:solidFill>
                  <a:srgbClr val="8B95A7"/>
                </a:solidFill>
                <a:latin typeface="Calibri"/>
              </a:rPr>
              <a:t>Compare Grad-CAM vs IG vs SHAP explanation quality systematically.</a:t>
            </a:r>
          </a:p>
        </p:txBody>
      </p:sp>
      <p:sp>
        <p:nvSpPr>
          <p:cNvPr id="32" name="TextBox 31"/>
          <p:cNvSpPr txBox="1"/>
          <p:nvPr/>
        </p:nvSpPr>
        <p:spPr>
          <a:xfrm>
            <a:off x="6263640" y="3602736"/>
            <a:ext cx="5394960" cy="301752"/>
          </a:xfrm>
          <a:prstGeom prst="rect">
            <a:avLst/>
          </a:prstGeom>
          <a:noFill/>
        </p:spPr>
        <p:txBody>
          <a:bodyPr wrap="square">
            <a:spAutoFit/>
          </a:bodyPr>
          <a:lstStyle/>
          <a:p>
            <a:pPr algn="l"/>
            <a:r>
              <a:rPr sz="1100" b="1" i="0">
                <a:solidFill>
                  <a:srgbClr val="F59E0B"/>
                </a:solidFill>
                <a:latin typeface="Calibri"/>
              </a:rPr>
              <a:t>▶  Benchmark Study</a:t>
            </a:r>
          </a:p>
        </p:txBody>
      </p:sp>
      <p:sp>
        <p:nvSpPr>
          <p:cNvPr id="33" name="TextBox 32"/>
          <p:cNvSpPr txBox="1"/>
          <p:nvPr/>
        </p:nvSpPr>
        <p:spPr>
          <a:xfrm>
            <a:off x="6263640" y="3904488"/>
            <a:ext cx="5394960" cy="411480"/>
          </a:xfrm>
          <a:prstGeom prst="rect">
            <a:avLst/>
          </a:prstGeom>
          <a:noFill/>
        </p:spPr>
        <p:txBody>
          <a:bodyPr wrap="square">
            <a:spAutoFit/>
          </a:bodyPr>
          <a:lstStyle/>
          <a:p>
            <a:pPr algn="l"/>
            <a:r>
              <a:rPr sz="1050" b="0" i="0">
                <a:solidFill>
                  <a:srgbClr val="8B95A7"/>
                </a:solidFill>
                <a:latin typeface="Calibri"/>
              </a:rPr>
              <a:t>Compare against PlantVillage CNN baselines and transformer models.</a:t>
            </a:r>
          </a:p>
        </p:txBody>
      </p:sp>
      <p:sp>
        <p:nvSpPr>
          <p:cNvPr id="34" name="TextBox 33"/>
          <p:cNvSpPr txBox="1"/>
          <p:nvPr/>
        </p:nvSpPr>
        <p:spPr>
          <a:xfrm>
            <a:off x="6263640" y="4352544"/>
            <a:ext cx="5394960" cy="301752"/>
          </a:xfrm>
          <a:prstGeom prst="rect">
            <a:avLst/>
          </a:prstGeom>
          <a:noFill/>
        </p:spPr>
        <p:txBody>
          <a:bodyPr wrap="square">
            <a:spAutoFit/>
          </a:bodyPr>
          <a:lstStyle/>
          <a:p>
            <a:pPr algn="l"/>
            <a:r>
              <a:rPr sz="1100" b="1" i="0">
                <a:solidFill>
                  <a:srgbClr val="F59E0B"/>
                </a:solidFill>
                <a:latin typeface="Calibri"/>
              </a:rPr>
              <a:t>▶  Research Paper</a:t>
            </a:r>
          </a:p>
        </p:txBody>
      </p:sp>
      <p:sp>
        <p:nvSpPr>
          <p:cNvPr id="35" name="TextBox 34"/>
          <p:cNvSpPr txBox="1"/>
          <p:nvPr/>
        </p:nvSpPr>
        <p:spPr>
          <a:xfrm>
            <a:off x="6263640" y="4654296"/>
            <a:ext cx="5394960" cy="411480"/>
          </a:xfrm>
          <a:prstGeom prst="rect">
            <a:avLst/>
          </a:prstGeom>
          <a:noFill/>
        </p:spPr>
        <p:txBody>
          <a:bodyPr wrap="square">
            <a:spAutoFit/>
          </a:bodyPr>
          <a:lstStyle/>
          <a:p>
            <a:pPr algn="l"/>
            <a:r>
              <a:rPr sz="1050" b="0" i="0">
                <a:solidFill>
                  <a:srgbClr val="8B95A7"/>
                </a:solidFill>
                <a:latin typeface="Calibri"/>
              </a:rPr>
              <a:t>IEEE/Springer format paper on architecture, XAI methodology &amp; results.</a:t>
            </a:r>
          </a:p>
        </p:txBody>
      </p:sp>
      <p:sp>
        <p:nvSpPr>
          <p:cNvPr id="36" name="TextBox 35"/>
          <p:cNvSpPr txBox="1"/>
          <p:nvPr/>
        </p:nvSpPr>
        <p:spPr>
          <a:xfrm>
            <a:off x="6263640" y="5102352"/>
            <a:ext cx="5394960" cy="301752"/>
          </a:xfrm>
          <a:prstGeom prst="rect">
            <a:avLst/>
          </a:prstGeom>
          <a:noFill/>
        </p:spPr>
        <p:txBody>
          <a:bodyPr wrap="square">
            <a:spAutoFit/>
          </a:bodyPr>
          <a:lstStyle/>
          <a:p>
            <a:pPr algn="l"/>
            <a:r>
              <a:rPr sz="1100" b="1" i="0">
                <a:solidFill>
                  <a:srgbClr val="F59E0B"/>
                </a:solidFill>
                <a:latin typeface="Calibri"/>
              </a:rPr>
              <a:t>▶  Mobile Deployment</a:t>
            </a:r>
          </a:p>
        </p:txBody>
      </p:sp>
      <p:sp>
        <p:nvSpPr>
          <p:cNvPr id="37" name="TextBox 36"/>
          <p:cNvSpPr txBox="1"/>
          <p:nvPr/>
        </p:nvSpPr>
        <p:spPr>
          <a:xfrm>
            <a:off x="6263640" y="5404104"/>
            <a:ext cx="5394960" cy="411480"/>
          </a:xfrm>
          <a:prstGeom prst="rect">
            <a:avLst/>
          </a:prstGeom>
          <a:noFill/>
        </p:spPr>
        <p:txBody>
          <a:bodyPr wrap="square">
            <a:spAutoFit/>
          </a:bodyPr>
          <a:lstStyle/>
          <a:p>
            <a:pPr algn="l"/>
            <a:r>
              <a:rPr sz="1050" b="0" i="0">
                <a:solidFill>
                  <a:srgbClr val="8B95A7"/>
                </a:solidFill>
                <a:latin typeface="Calibri"/>
              </a:rPr>
              <a:t>TFLite / ONNX Runtime Mobile for offline field deployment.</a:t>
            </a:r>
          </a:p>
        </p:txBody>
      </p:sp>
      <p:sp>
        <p:nvSpPr>
          <p:cNvPr id="38" name="TextBox 37"/>
          <p:cNvSpPr txBox="1"/>
          <p:nvPr/>
        </p:nvSpPr>
        <p:spPr>
          <a:xfrm>
            <a:off x="6263640" y="5852160"/>
            <a:ext cx="5394960" cy="301752"/>
          </a:xfrm>
          <a:prstGeom prst="rect">
            <a:avLst/>
          </a:prstGeom>
          <a:noFill/>
        </p:spPr>
        <p:txBody>
          <a:bodyPr wrap="square">
            <a:spAutoFit/>
          </a:bodyPr>
          <a:lstStyle/>
          <a:p>
            <a:pPr algn="l"/>
            <a:r>
              <a:rPr sz="1100" b="1" i="0">
                <a:solidFill>
                  <a:srgbClr val="F59E0B"/>
                </a:solidFill>
                <a:latin typeface="Calibri"/>
              </a:rPr>
              <a:t>▶  Dataset Expansion</a:t>
            </a:r>
          </a:p>
        </p:txBody>
      </p:sp>
      <p:sp>
        <p:nvSpPr>
          <p:cNvPr id="39" name="TextBox 38"/>
          <p:cNvSpPr txBox="1"/>
          <p:nvPr/>
        </p:nvSpPr>
        <p:spPr>
          <a:xfrm>
            <a:off x="6263640" y="6153912"/>
            <a:ext cx="5394960" cy="411480"/>
          </a:xfrm>
          <a:prstGeom prst="rect">
            <a:avLst/>
          </a:prstGeom>
          <a:noFill/>
        </p:spPr>
        <p:txBody>
          <a:bodyPr wrap="square">
            <a:spAutoFit/>
          </a:bodyPr>
          <a:lstStyle/>
          <a:p>
            <a:pPr algn="l"/>
            <a:r>
              <a:rPr sz="1050" b="0" i="0">
                <a:solidFill>
                  <a:srgbClr val="8B95A7"/>
                </a:solidFill>
                <a:latin typeface="Calibri"/>
              </a:rPr>
              <a:t>Extend to 38-class PlantVillage + wheat, rice, maize crops.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79224" y="0"/>
            <a:ext cx="109728" cy="685800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9144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66560"/>
            <a:ext cx="12188952" cy="9144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0" y="1280160"/>
            <a:ext cx="2286000" cy="1371600"/>
          </a:xfrm>
          <a:prstGeom prst="rect">
            <a:avLst/>
          </a:prstGeom>
          <a:noFill/>
        </p:spPr>
        <p:txBody>
          <a:bodyPr wrap="square">
            <a:spAutoFit/>
          </a:bodyPr>
          <a:lstStyle/>
          <a:p>
            <a:pPr algn="ctr"/>
            <a:r>
              <a:rPr sz="7200" b="0" i="0">
                <a:solidFill>
                  <a:srgbClr val="F0F4F8"/>
                </a:solidFill>
                <a:latin typeface="Calibri"/>
              </a:rPr>
              <a:t>🌿</a:t>
            </a:r>
          </a:p>
        </p:txBody>
      </p:sp>
      <p:sp>
        <p:nvSpPr>
          <p:cNvPr id="7" name="TextBox 6"/>
          <p:cNvSpPr txBox="1"/>
          <p:nvPr/>
        </p:nvSpPr>
        <p:spPr>
          <a:xfrm>
            <a:off x="1828800" y="2468880"/>
            <a:ext cx="8531352" cy="1005840"/>
          </a:xfrm>
          <a:prstGeom prst="rect">
            <a:avLst/>
          </a:prstGeom>
          <a:noFill/>
        </p:spPr>
        <p:txBody>
          <a:bodyPr wrap="square">
            <a:spAutoFit/>
          </a:bodyPr>
          <a:lstStyle/>
          <a:p>
            <a:pPr algn="ctr"/>
            <a:r>
              <a:rPr sz="6000" b="1" i="0">
                <a:solidFill>
                  <a:srgbClr val="00E67A"/>
                </a:solidFill>
                <a:latin typeface="Calibri"/>
              </a:rPr>
              <a:t>Thank You</a:t>
            </a:r>
          </a:p>
        </p:txBody>
      </p:sp>
      <p:sp>
        <p:nvSpPr>
          <p:cNvPr id="8" name="TextBox 7"/>
          <p:cNvSpPr txBox="1"/>
          <p:nvPr/>
        </p:nvSpPr>
        <p:spPr>
          <a:xfrm>
            <a:off x="1828800" y="3474720"/>
            <a:ext cx="8531352" cy="548640"/>
          </a:xfrm>
          <a:prstGeom prst="rect">
            <a:avLst/>
          </a:prstGeom>
          <a:noFill/>
        </p:spPr>
        <p:txBody>
          <a:bodyPr wrap="square">
            <a:spAutoFit/>
          </a:bodyPr>
          <a:lstStyle/>
          <a:p>
            <a:pPr algn="ctr"/>
            <a:r>
              <a:rPr sz="1800" b="0" i="0">
                <a:solidFill>
                  <a:srgbClr val="F0F4F8"/>
                </a:solidFill>
                <a:latin typeface="Calibri"/>
              </a:rPr>
              <a:t>PhytoShield AI — Explainable AI Plant Disease Detection System</a:t>
            </a:r>
          </a:p>
        </p:txBody>
      </p:sp>
      <p:sp>
        <p:nvSpPr>
          <p:cNvPr id="9" name="Rectangle 8"/>
          <p:cNvSpPr/>
          <p:nvPr/>
        </p:nvSpPr>
        <p:spPr>
          <a:xfrm>
            <a:off x="3657600" y="4160520"/>
            <a:ext cx="4873752" cy="31750"/>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4343400"/>
            <a:ext cx="8531352" cy="457200"/>
          </a:xfrm>
          <a:prstGeom prst="rect">
            <a:avLst/>
          </a:prstGeom>
          <a:noFill/>
        </p:spPr>
        <p:txBody>
          <a:bodyPr wrap="square">
            <a:spAutoFit/>
          </a:bodyPr>
          <a:lstStyle/>
          <a:p>
            <a:pPr algn="ctr"/>
            <a:r>
              <a:rPr sz="1600" b="0" i="1">
                <a:solidFill>
                  <a:srgbClr val="8B95A7"/>
                </a:solidFill>
                <a:latin typeface="Calibri"/>
              </a:rPr>
              <a:t>Questions &amp; Discussion Welcome</a:t>
            </a:r>
          </a:p>
        </p:txBody>
      </p:sp>
      <p:sp>
        <p:nvSpPr>
          <p:cNvPr id="11" name="TextBox 10"/>
          <p:cNvSpPr txBox="1"/>
          <p:nvPr/>
        </p:nvSpPr>
        <p:spPr>
          <a:xfrm>
            <a:off x="1828800" y="6217920"/>
            <a:ext cx="8531352" cy="365760"/>
          </a:xfrm>
          <a:prstGeom prst="rect">
            <a:avLst/>
          </a:prstGeom>
          <a:noFill/>
        </p:spPr>
        <p:txBody>
          <a:bodyPr wrap="square">
            <a:spAutoFit/>
          </a:bodyPr>
          <a:lstStyle/>
          <a:p>
            <a:pPr algn="ctr"/>
            <a:r>
              <a:rPr sz="1200" b="0" i="0">
                <a:solidFill>
                  <a:srgbClr val="8B95A7"/>
                </a:solidFill>
                <a:latin typeface="Calibri"/>
              </a:rPr>
              <a:t>Parth Sharma  |  Final Year Engineering Project  |  2026</a:t>
            </a:r>
          </a:p>
        </p:txBody>
      </p:sp>
      <p:sp>
        <p:nvSpPr>
          <p:cNvPr id="12" name="Rectangle 11"/>
          <p:cNvSpPr/>
          <p:nvPr/>
        </p:nvSpPr>
        <p:spPr>
          <a:xfrm>
            <a:off x="1842516" y="5394960"/>
            <a:ext cx="1737360" cy="347472"/>
          </a:xfrm>
          <a:prstGeom prst="rect">
            <a:avLst/>
          </a:prstGeom>
          <a:solidFill>
            <a:srgbClr val="00E6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42516" y="5394960"/>
            <a:ext cx="1737360" cy="347472"/>
          </a:xfrm>
          <a:prstGeom prst="rect">
            <a:avLst/>
          </a:prstGeom>
          <a:noFill/>
        </p:spPr>
        <p:txBody>
          <a:bodyPr wrap="square">
            <a:spAutoFit/>
          </a:bodyPr>
          <a:lstStyle/>
          <a:p>
            <a:pPr algn="ctr"/>
            <a:r>
              <a:rPr sz="1000" b="1" i="0">
                <a:solidFill>
                  <a:srgbClr val="FFFFFF"/>
                </a:solidFill>
                <a:latin typeface="Calibri"/>
              </a:rPr>
              <a:t>EfficientNet-B0</a:t>
            </a:r>
          </a:p>
        </p:txBody>
      </p:sp>
      <p:sp>
        <p:nvSpPr>
          <p:cNvPr id="14" name="Rectangle 13"/>
          <p:cNvSpPr/>
          <p:nvPr/>
        </p:nvSpPr>
        <p:spPr>
          <a:xfrm>
            <a:off x="3717036" y="5394960"/>
            <a:ext cx="2011680" cy="34747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17036" y="5394960"/>
            <a:ext cx="2011680" cy="347472"/>
          </a:xfrm>
          <a:prstGeom prst="rect">
            <a:avLst/>
          </a:prstGeom>
          <a:noFill/>
        </p:spPr>
        <p:txBody>
          <a:bodyPr wrap="square">
            <a:spAutoFit/>
          </a:bodyPr>
          <a:lstStyle/>
          <a:p>
            <a:pPr algn="ctr"/>
            <a:r>
              <a:rPr sz="1000" b="1" i="0">
                <a:solidFill>
                  <a:srgbClr val="FFFFFF"/>
                </a:solidFill>
                <a:latin typeface="Calibri"/>
              </a:rPr>
              <a:t>Grad-CAM + IG + SHAP</a:t>
            </a:r>
          </a:p>
        </p:txBody>
      </p:sp>
      <p:sp>
        <p:nvSpPr>
          <p:cNvPr id="16" name="Rectangle 15"/>
          <p:cNvSpPr/>
          <p:nvPr/>
        </p:nvSpPr>
        <p:spPr>
          <a:xfrm>
            <a:off x="5865876" y="5394960"/>
            <a:ext cx="1371600" cy="347472"/>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65876" y="5394960"/>
            <a:ext cx="1371600" cy="347472"/>
          </a:xfrm>
          <a:prstGeom prst="rect">
            <a:avLst/>
          </a:prstGeom>
          <a:noFill/>
        </p:spPr>
        <p:txBody>
          <a:bodyPr wrap="square">
            <a:spAutoFit/>
          </a:bodyPr>
          <a:lstStyle/>
          <a:p>
            <a:pPr algn="ctr"/>
            <a:r>
              <a:rPr sz="1000" b="1" i="0">
                <a:solidFill>
                  <a:srgbClr val="FFFFFF"/>
                </a:solidFill>
                <a:latin typeface="Calibri"/>
              </a:rPr>
              <a:t>Groq LLM</a:t>
            </a:r>
          </a:p>
        </p:txBody>
      </p:sp>
      <p:sp>
        <p:nvSpPr>
          <p:cNvPr id="18" name="Rectangle 17"/>
          <p:cNvSpPr/>
          <p:nvPr/>
        </p:nvSpPr>
        <p:spPr>
          <a:xfrm>
            <a:off x="7374636" y="5394960"/>
            <a:ext cx="1371600" cy="347472"/>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74636" y="5394960"/>
            <a:ext cx="1371600" cy="347472"/>
          </a:xfrm>
          <a:prstGeom prst="rect">
            <a:avLst/>
          </a:prstGeom>
          <a:noFill/>
        </p:spPr>
        <p:txBody>
          <a:bodyPr wrap="square">
            <a:spAutoFit/>
          </a:bodyPr>
          <a:lstStyle/>
          <a:p>
            <a:pPr algn="ctr"/>
            <a:r>
              <a:rPr sz="1000" b="1" i="0">
                <a:solidFill>
                  <a:srgbClr val="FFFFFF"/>
                </a:solidFill>
                <a:latin typeface="Calibri"/>
              </a:rPr>
              <a:t>FastAPI</a:t>
            </a:r>
          </a:p>
        </p:txBody>
      </p:sp>
      <p:sp>
        <p:nvSpPr>
          <p:cNvPr id="20" name="Rectangle 19"/>
          <p:cNvSpPr/>
          <p:nvPr/>
        </p:nvSpPr>
        <p:spPr>
          <a:xfrm>
            <a:off x="8883396" y="5394960"/>
            <a:ext cx="1463040" cy="347472"/>
          </a:xfrm>
          <a:prstGeom prst="rect">
            <a:avLst/>
          </a:prstGeom>
          <a:solidFill>
            <a:srgbClr val="61DB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83396" y="5394960"/>
            <a:ext cx="1463040" cy="347472"/>
          </a:xfrm>
          <a:prstGeom prst="rect">
            <a:avLst/>
          </a:prstGeom>
          <a:noFill/>
        </p:spPr>
        <p:txBody>
          <a:bodyPr wrap="square">
            <a:spAutoFit/>
          </a:bodyPr>
          <a:lstStyle/>
          <a:p>
            <a:pPr algn="ctr"/>
            <a:r>
              <a:rPr sz="1000" b="1" i="0">
                <a:solidFill>
                  <a:srgbClr val="FFFFFF"/>
                </a:solidFill>
                <a:latin typeface="Calibri"/>
              </a:rPr>
              <a:t>React + Vite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